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20s] Welcome attendees as they join. State the title and affiliation once the room has settled, and note that slides will be shared afterward along with the code repository, so no one needs to transcribe anything during the live demonstrations.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30s] Walk through the five blocks at a glance without reading every word on screen. Flag up front that the same model gets built incrementally across the build-and-sweep block, so attendees are not tracking four unrelated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5s] Section break. One sentence: we start with the mismatch between the theories this room writes and the designs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90s] Name this tension directly, using language attendees already use in their own papers: emergence, bottom-up processes, path dependence. Point out that almost none of that language survives contact with a cross-sectional design, and that this gap, not a general enthusiasm for computation, is the reason to spend ninety minutes on ABM.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60s] Move through the mapping quickly, letting the last row land as the session's organizing claim stated plainly for the first time on screen. Everything for the next seventy minutes elaborates this one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45s] This is the foundational citation for the whole session's logic and was on the pre-reading, so treat it as a callback rather than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60s] This paper is written by people this audience already reads, in the audience's own journal, making the same argument the session has just made. Let that land as corroboration rather than repetition.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45s] This is the same group's applied follow-through on the 2013 paradigm paper, and it sets up Grand et al. (2016) in the anatomy block, which is the model this program produced. Verify the one-sentence summary against the abstract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5s] Section break. The red agent is the unit of analysis; everything else on the slide is what a model has to specify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60s] State plainly that none of these six is exotic. Every one of them is a decision attendees make, at least implicitly, whenever they write a specific theoretical claim rather than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75s] Walk the sentence apart live. This example is drawn loosely from process-oriented theories of team knowledge emergence such as Grand and colleagues' work, cited on the next slide, where the theoretical claim already implies most of a model's components before anyone writes a line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45s] Point back to the previous slide's worked example; this is the kind of theory that example was standing in for, made concrete and computational.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50s] Read this as the six-part anatomy in a published teams model: members are the agents, expertise and interest are attributes, opinion sharing and evaluation are the rules, and the leadership network is the environment. It also previews Stage 4, where network structure becomes a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60s] Bridge line into the live build: the fastest way to find out whether a favorite theory actually holds together is to try to write it down precisely enough for a machine to run it, which is exactly what happens for the next forty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5s] Section break before the live build. Switch screens to NetLogo after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30s] Switch to the pre-built stage1.nlogo file. Do not type this live; reveal it already open and press setup, then go. Narrate the rule once in one sentence before pressing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45s] This outcome is the same every run, which is the point: it establishes the baseline before Stage 2 introduces the threshold that makes the outcome genuinely uncertain and history-dependent.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40s] Run the high-threshold version first as a callback to Stage 1, then the low-threshold version from the same seed. The side-by-side contrast is the entire teaching point of this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30s] Keep this slide up while the second run plays out on the shared NetLogo window, so attendees can hold both conditions in mind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60s] Every line is one agent's opinion over time. Point out the flat, permanent lines on the left once fragmentation happens; there is no mechanism in this model for a cluster to later re-merge, which is itself a modeling assumption worth naming.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50s] This slide is the pivot of the whole session: everything before it built the model, everything after it treats the model's output the way attendees already treat any other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40s] Show this configuration dialog live for a few seconds on the actual BehaviorSpace window, but do not run it: 300 runs is too slow for a video call, and the output is already on the next slide as a pre-generated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50s] This is a real run of the threshold-sweep experiment above, not an illustration. Note where the curve is steepest, around threshold 0.05 to 0.15, and connect that back to the two demonstration values just shown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55s] State the square-root relationship once in plain language, then immediately point back at the previous slide's error bars as the concrete referent, so the equation is not left floating in the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45s] This is the sweep-and-replicate logic applied to a different, individual-level substantive area, useful for any attendee whose interest is motivation rather than teams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40s] Two changes from Stage 2, both straight from the teams literature: influence now depends on demographic similarity as well as opinion similarity, and sufficiently dissimilar teammates push each other apart instead of being ignored. Opinions here are three issues, not one. The negative-influence step is the same move Smaldino's Unit 3 uses to get from clustering to polarization.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60s] Same sixteen members and the same rule in all three panels; only the alignment of demographics and the timing of contact change. Red and gray are the two subgroups. Point at the middle panel as the faultline prediction made mechanical, then at the right panel as the counterintuitive timing result from Flache and Mäs: let subteams settle internally first and the later merger no longer polarizes.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45s] This is the model Stage 3 simplifies. For anyone studying diversity or faultlines, it is the clearest example in the teams literature of an ABM generating a design recommendation, about sequencing contact, that a cross-sectional study could not have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35s] This is the riskiest live segment. Have the two pre-recorded clips ready and cut to them if the layout algorithm or the shared screen lags; narrate over the recording rather than waiting on a live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40s] Keep this general rather than citing specifics of the prior SNA seminar, which this session was not present for; the point stands regardless of exactly what that seminar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55s] Color encodes final opinion on a continuous scale from gray to red; darker islands in the ring lattice are visible local consensus, and the shortcuts on the right are what pull otherwise-separate regions of the ring into eventual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45s] This is Stage 4's lesson at the scale of organizations: structure is not neutral plumbing. It also connects forward to the NK-landscape application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5s] Section break. The demos are over; this block is about what reviewers will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45s] A model can be perfectly verified and still invalid, and the reverse is rarer but possible too. Keep the two questions visibly separate rather than letting them blur into one general notion of a model being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45s] The bounded-confidence model built today is the abstract case throughout: it was never calibrated to a specific dataset, and that is a legitimate, common choice, not a shortcut, as long as it is stated plainly in the write-up.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40s] Name today's model's own unchecked assumption honestly: the fixed convergence rate mu was never swept in the demonstrations, which is exactly the kind of thing sensitivity analysis exists to catch before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45s] When reviewing an ABM manuscript as a referee, this protocol is a legitimate checklist to ask for explicitly if a submission's methods section is vague about any of its three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55s] State the objection in one sentence before opening it to the room as the third discussion prompt later: a sufficiently flexible model can reproduce nearly any pattern, so fit to a target pattern alone is not evidence the mechanism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20s] Signal the register shift here: the methods content is finished, and this block is a brief survey of current applied work, not a research talk. Move quickly through the next four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30s] Keep this to the one sentence on screen; do not present results, since this is a survey block, not a findings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30s] One sentence, then move on; this project is the most methodologically distinct from today's running example and is worth naming as evidence that the anatomy taught today generalizes beyond opinion dynamics.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30s] This is the project furthest from a standard NetLogo demo, useful for signaling that the field's toolkit extends well past the bounded-confidence family shown live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30s] Close the loop explicitly back to the Stage 4 demo from earlier in the session; this project is the most direct continuation of what the room just watched built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30s] Point attendees who want to keep going without a methods course to Smaldino's free module first; its Unit 3 rebuilds today's Stages 1 to 3 in more depth, with exercises. For the teams-specific line, Kozlowski et al. (2016) and Grand et al. (2016) are the next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1080s] These were circulated with the pre-reading a week out, so open by asking whether anyone has come with a specific theory in mind for prompt one rather than reading the prompts cold. Protect this block's full eighteen minutes; if time is short, it was trimmed upstream, not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15s] Confirm the repository link will be live and emailed to the INGroup list within a day or two, since attendees install nothing during the session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0s] Leave the references on screen briefly at the very end and note they will also be in the emailed slide deck, since no one should be transcribing a reference list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0s] Second half of the reference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0E"/>
        </a:solidFill>
      </p:bgPr>
    </p:bg>
    <p:spTree>
      <p:nvGrpSpPr>
        <p:cNvPr id="1" name=""/>
        <p:cNvGrpSpPr/>
        <p:nvPr/>
      </p:nvGrpSpPr>
      <p:grpSpPr>
        <a:xfrm>
          <a:off x="0" y="0"/>
          <a:ext cx="0" cy="0"/>
          <a:chOff x="0" y="0"/>
          <a:chExt cx="0" cy="0"/>
        </a:xfrm>
      </p:grpSpPr>
      <p:pic>
        <p:nvPicPr>
          <p:cNvPr id="2" name="Image 0" descr="assets/art_cover.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82296" cy="6858000"/>
          </a:xfrm>
          <a:prstGeom prst="rect">
            <a:avLst/>
          </a:prstGeom>
          <a:solidFill>
            <a:srgbClr val="B60000"/>
          </a:solidFill>
          <a:ln/>
        </p:spPr>
      </p:sp>
      <p:sp>
        <p:nvSpPr>
          <p:cNvPr id="4" name="Text 1"/>
          <p:cNvSpPr txBox="1"/>
          <p:nvPr/>
        </p:nvSpPr>
        <p:spPr>
          <a:xfrm>
            <a:off x="822960" y="1828800"/>
            <a:ext cx="10515600" cy="457200"/>
          </a:xfrm>
          <a:prstGeom prst="rect">
            <a:avLst/>
          </a:prstGeom>
          <a:noFill/>
          <a:ln/>
        </p:spPr>
        <p:txBody>
          <a:bodyPr wrap="square" lIns="0" tIns="0" rIns="0" bIns="0" rtlCol="0" anchor="ctr"/>
          <a:lstStyle/>
          <a:p>
            <a:pPr indent="0" marL="0">
              <a:buNone/>
            </a:pPr>
            <a:r>
              <a:rPr lang="en-US" sz="1500" b="1" spc="200" kern="0" dirty="0">
                <a:solidFill>
                  <a:srgbClr val="E1E1E1"/>
                </a:solidFill>
                <a:latin typeface="Calibri" pitchFamily="34" charset="0"/>
                <a:ea typeface="Calibri" pitchFamily="34" charset="-122"/>
                <a:cs typeface="Calibri" pitchFamily="34" charset="-120"/>
              </a:rPr>
              <a:t>INGROUP METHOD SEMINAR · OCTOBER 2026</a:t>
            </a:r>
            <a:endParaRPr lang="en-US" sz="1500" dirty="0"/>
          </a:p>
        </p:txBody>
      </p:sp>
      <p:sp>
        <p:nvSpPr>
          <p:cNvPr id="5" name="Text 2"/>
          <p:cNvSpPr txBox="1"/>
          <p:nvPr/>
        </p:nvSpPr>
        <p:spPr>
          <a:xfrm>
            <a:off x="822960" y="2331720"/>
            <a:ext cx="10515600" cy="2103120"/>
          </a:xfrm>
          <a:prstGeom prst="rect">
            <a:avLst/>
          </a:prstGeom>
          <a:noFill/>
          <a:ln/>
        </p:spPr>
        <p:txBody>
          <a:bodyPr wrap="square" lIns="0" tIns="0" rIns="0" bIns="0" rtlCol="0" anchor="ctr"/>
          <a:lstStyle/>
          <a:p>
            <a:pPr indent="0" marL="0">
              <a:lnSpc>
                <a:spcPct val="105000"/>
              </a:lnSpc>
              <a:buNone/>
            </a:pPr>
            <a:r>
              <a:rPr lang="en-US" sz="4600" b="1" dirty="0">
                <a:solidFill>
                  <a:srgbClr val="F2F2F2"/>
                </a:solidFill>
                <a:latin typeface="Calibri" pitchFamily="34" charset="0"/>
                <a:ea typeface="Calibri" pitchFamily="34" charset="-122"/>
                <a:cs typeface="Calibri" pitchFamily="34" charset="-120"/>
              </a:rPr>
              <a:t>Agent-Based Modeling for</a:t>
            </a:r>
            <a:endParaRPr lang="en-US" sz="4600" dirty="0"/>
          </a:p>
          <a:p>
            <a:pPr indent="0" marL="0">
              <a:lnSpc>
                <a:spcPct val="105000"/>
              </a:lnSpc>
              <a:buNone/>
            </a:pPr>
            <a:r>
              <a:rPr lang="en-US" sz="4600" b="1" dirty="0">
                <a:solidFill>
                  <a:srgbClr val="F2F2F2"/>
                </a:solidFill>
                <a:latin typeface="Calibri" pitchFamily="34" charset="0"/>
                <a:ea typeface="Calibri" pitchFamily="34" charset="-122"/>
                <a:cs typeface="Calibri" pitchFamily="34" charset="-120"/>
              </a:rPr>
              <a:t>Group and Team Research</a:t>
            </a:r>
            <a:endParaRPr lang="en-US" sz="4600" dirty="0"/>
          </a:p>
        </p:txBody>
      </p:sp>
      <p:sp>
        <p:nvSpPr>
          <p:cNvPr id="6" name="Text 3"/>
          <p:cNvSpPr txBox="1"/>
          <p:nvPr/>
        </p:nvSpPr>
        <p:spPr>
          <a:xfrm>
            <a:off x="822960" y="4709160"/>
            <a:ext cx="10515600" cy="457200"/>
          </a:xfrm>
          <a:prstGeom prst="rect">
            <a:avLst/>
          </a:prstGeom>
          <a:noFill/>
          <a:ln/>
        </p:spPr>
        <p:txBody>
          <a:bodyPr wrap="square" lIns="0" tIns="0" rIns="0" bIns="0" rtlCol="0" anchor="ctr"/>
          <a:lstStyle/>
          <a:p>
            <a:pPr indent="0" marL="0">
              <a:buNone/>
            </a:pPr>
            <a:r>
              <a:rPr lang="en-US" sz="2000" b="1" dirty="0">
                <a:solidFill>
                  <a:srgbClr val="F2F2F2"/>
                </a:solidFill>
                <a:latin typeface="Calibri" pitchFamily="34" charset="0"/>
                <a:ea typeface="Calibri" pitchFamily="34" charset="-122"/>
                <a:cs typeface="Calibri" pitchFamily="34" charset="-120"/>
              </a:rPr>
              <a:t>Justin M. Jones, Ph.D.</a:t>
            </a:r>
            <a:endParaRPr lang="en-US" sz="2000" dirty="0"/>
          </a:p>
        </p:txBody>
      </p:sp>
      <p:sp>
        <p:nvSpPr>
          <p:cNvPr id="7" name="Text 4"/>
          <p:cNvSpPr txBox="1"/>
          <p:nvPr/>
        </p:nvSpPr>
        <p:spPr>
          <a:xfrm>
            <a:off x="822960" y="5166360"/>
            <a:ext cx="10515600" cy="640080"/>
          </a:xfrm>
          <a:prstGeom prst="rect">
            <a:avLst/>
          </a:prstGeom>
          <a:noFill/>
          <a:ln/>
        </p:spPr>
        <p:txBody>
          <a:bodyPr wrap="square" lIns="0" tIns="0" rIns="0" bIns="0" rtlCol="0" anchor="ctr"/>
          <a:lstStyle/>
          <a:p>
            <a:pPr indent="0" marL="0">
              <a:lnSpc>
                <a:spcPct val="120000"/>
              </a:lnSpc>
              <a:buNone/>
            </a:pPr>
            <a:r>
              <a:rPr lang="en-US" sz="1500" dirty="0">
                <a:solidFill>
                  <a:srgbClr val="E1E1E1"/>
                </a:solidFill>
                <a:latin typeface="Calibri" pitchFamily="34" charset="0"/>
                <a:ea typeface="Calibri" pitchFamily="34" charset="-122"/>
                <a:cs typeface="Calibri" pitchFamily="34" charset="-120"/>
              </a:rPr>
              <a:t>National Counterterrorism Innovation, Technology, and Education Center (NCITE)</a:t>
            </a:r>
            <a:endParaRPr lang="en-US" sz="1500" dirty="0"/>
          </a:p>
          <a:p>
            <a:pPr indent="0" marL="0">
              <a:lnSpc>
                <a:spcPct val="120000"/>
              </a:lnSpc>
              <a:buNone/>
            </a:pPr>
            <a:r>
              <a:rPr lang="en-US" sz="1500" dirty="0">
                <a:solidFill>
                  <a:srgbClr val="E1E1E1"/>
                </a:solidFill>
                <a:latin typeface="Calibri" pitchFamily="34" charset="0"/>
                <a:ea typeface="Calibri" pitchFamily="34" charset="-122"/>
                <a:cs typeface="Calibri" pitchFamily="34" charset="-120"/>
              </a:rPr>
              <a:t>University of Nebraska at Omaha</a:t>
            </a:r>
            <a:endParaRPr lang="en-US" sz="1500" dirty="0"/>
          </a:p>
        </p:txBody>
      </p:sp>
      <p:sp>
        <p:nvSpPr>
          <p:cNvPr id="8" name="Shape 5"/>
          <p:cNvSpPr/>
          <p:nvPr/>
        </p:nvSpPr>
        <p:spPr>
          <a:xfrm>
            <a:off x="822960" y="5989320"/>
            <a:ext cx="5120640" cy="0"/>
          </a:xfrm>
          <a:prstGeom prst="line">
            <a:avLst/>
          </a:prstGeom>
          <a:noFill/>
          <a:ln w="12700">
            <a:solidFill>
              <a:srgbClr val="333333"/>
            </a:solidFill>
            <a:prstDash val="solid"/>
          </a:ln>
        </p:spPr>
      </p:sp>
      <p:pic>
        <p:nvPicPr>
          <p:cNvPr id="9" name="Image 1" descr="assets/ncite_logo_white.png">    </p:cNvPr>
          <p:cNvPicPr>
            <a:picLocks noChangeAspect="1"/>
          </p:cNvPicPr>
          <p:nvPr/>
        </p:nvPicPr>
        <p:blipFill>
          <a:blip r:embed="rId2"/>
          <a:stretch>
            <a:fillRect/>
          </a:stretch>
        </p:blipFill>
        <p:spPr>
          <a:xfrm>
            <a:off x="822960" y="6172200"/>
            <a:ext cx="29268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ROADMAP</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Ninety minutes, four moves, one model</a:t>
            </a:r>
            <a:endParaRPr lang="en-US" sz="3400" dirty="0"/>
          </a:p>
        </p:txBody>
      </p:sp>
      <p:sp>
        <p:nvSpPr>
          <p:cNvPr id="5" name="Shape 3"/>
          <p:cNvSpPr/>
          <p:nvPr/>
        </p:nvSpPr>
        <p:spPr>
          <a:xfrm>
            <a:off x="1682496" y="2011680"/>
            <a:ext cx="8778240" cy="0"/>
          </a:xfrm>
          <a:prstGeom prst="line">
            <a:avLst/>
          </a:prstGeom>
          <a:noFill/>
          <a:ln w="19050">
            <a:solidFill>
              <a:srgbClr val="333333"/>
            </a:solidFill>
            <a:prstDash val="solid"/>
          </a:ln>
        </p:spPr>
      </p:sp>
      <p:sp>
        <p:nvSpPr>
          <p:cNvPr id="6" name="Shape 4"/>
          <p:cNvSpPr/>
          <p:nvPr/>
        </p:nvSpPr>
        <p:spPr>
          <a:xfrm>
            <a:off x="1563624" y="1892808"/>
            <a:ext cx="237744" cy="237744"/>
          </a:xfrm>
          <a:prstGeom prst="ellipse">
            <a:avLst/>
          </a:prstGeom>
          <a:solidFill>
            <a:srgbClr val="B60000"/>
          </a:solidFill>
          <a:ln w="25400">
            <a:solidFill>
              <a:srgbClr val="F2F2F2"/>
            </a:solidFill>
            <a:prstDash val="solid"/>
          </a:ln>
        </p:spPr>
      </p:sp>
      <p:sp>
        <p:nvSpPr>
          <p:cNvPr id="7" name="Shape 5"/>
          <p:cNvSpPr/>
          <p:nvPr/>
        </p:nvSpPr>
        <p:spPr>
          <a:xfrm>
            <a:off x="640080" y="2331720"/>
            <a:ext cx="2084832" cy="3291840"/>
          </a:xfrm>
          <a:prstGeom prst="rect">
            <a:avLst/>
          </a:prstGeom>
          <a:solidFill>
            <a:srgbClr val="E1E1E1"/>
          </a:solidFill>
          <a:ln/>
        </p:spPr>
      </p:sp>
      <p:sp>
        <p:nvSpPr>
          <p:cNvPr id="8" name="Text 6"/>
          <p:cNvSpPr txBox="1"/>
          <p:nvPr/>
        </p:nvSpPr>
        <p:spPr>
          <a:xfrm>
            <a:off x="804672" y="2532888"/>
            <a:ext cx="1755648" cy="365760"/>
          </a:xfrm>
          <a:prstGeom prst="rect">
            <a:avLst/>
          </a:prstGeom>
          <a:noFill/>
          <a:ln/>
        </p:spPr>
        <p:txBody>
          <a:bodyPr wrap="square" lIns="0" tIns="0" rIns="0" bIns="0" rtlCol="0" anchor="ctr"/>
          <a:lstStyle/>
          <a:p>
            <a:pPr indent="0" marL="0">
              <a:buNone/>
            </a:pPr>
            <a:r>
              <a:rPr lang="en-US" sz="1300" b="1" dirty="0">
                <a:solidFill>
                  <a:srgbClr val="B60000"/>
                </a:solidFill>
                <a:latin typeface="Calibri" pitchFamily="34" charset="0"/>
                <a:ea typeface="Calibri" pitchFamily="34" charset="-122"/>
                <a:cs typeface="Calibri" pitchFamily="34" charset="-120"/>
              </a:rPr>
              <a:t>9:00</a:t>
            </a:r>
            <a:endParaRPr lang="en-US" sz="1300" dirty="0"/>
          </a:p>
        </p:txBody>
      </p:sp>
      <p:sp>
        <p:nvSpPr>
          <p:cNvPr id="9" name="Text 7"/>
          <p:cNvSpPr txBox="1"/>
          <p:nvPr/>
        </p:nvSpPr>
        <p:spPr>
          <a:xfrm>
            <a:off x="804672" y="2898648"/>
            <a:ext cx="1755648" cy="640080"/>
          </a:xfrm>
          <a:prstGeom prst="rect">
            <a:avLst/>
          </a:prstGeom>
          <a:noFill/>
          <a:ln/>
        </p:spPr>
        <p:txBody>
          <a:bodyPr wrap="square" lIns="0" tIns="0" rIns="0" bIns="0" rtlCol="0" anchor="ctr"/>
          <a:lstStyle/>
          <a:p>
            <a:pPr indent="0" marL="0">
              <a:buNone/>
            </a:pPr>
            <a:r>
              <a:rPr lang="en-US" sz="1900" b="1" dirty="0">
                <a:solidFill>
                  <a:srgbClr val="0E0E0E"/>
                </a:solidFill>
                <a:latin typeface="Calibri" pitchFamily="34" charset="0"/>
                <a:ea typeface="Calibri" pitchFamily="34" charset="-122"/>
                <a:cs typeface="Calibri" pitchFamily="34" charset="-120"/>
              </a:rPr>
              <a:t>Reframe</a:t>
            </a:r>
            <a:endParaRPr lang="en-US" sz="1900" dirty="0"/>
          </a:p>
        </p:txBody>
      </p:sp>
      <p:sp>
        <p:nvSpPr>
          <p:cNvPr id="10" name="Text 8"/>
          <p:cNvSpPr txBox="1"/>
          <p:nvPr/>
        </p:nvSpPr>
        <p:spPr>
          <a:xfrm>
            <a:off x="804672" y="3566160"/>
            <a:ext cx="1755648" cy="1920240"/>
          </a:xfrm>
          <a:prstGeom prst="rect">
            <a:avLst/>
          </a:prstGeom>
          <a:noFill/>
          <a:ln/>
        </p:spPr>
        <p:txBody>
          <a:bodyPr wrap="square" lIns="0" tIns="0" rIns="0" bIns="0" rtlCol="0" anchor="ctr"/>
          <a:lstStyle/>
          <a:p>
            <a:pPr indent="0" marL="0">
              <a:lnSpc>
                <a:spcPct val="125000"/>
              </a:lnSpc>
              <a:buNone/>
            </a:pPr>
            <a:r>
              <a:rPr lang="en-US" sz="1250" dirty="0">
                <a:solidFill>
                  <a:srgbClr val="333333"/>
                </a:solidFill>
                <a:latin typeface="Calibri" pitchFamily="34" charset="0"/>
                <a:ea typeface="Calibri" pitchFamily="34" charset="-122"/>
                <a:cs typeface="Calibri" pitchFamily="34" charset="-120"/>
              </a:rPr>
              <a:t>ABM as a data generating process; the theory-method mismatch it addresses</a:t>
            </a:r>
            <a:endParaRPr lang="en-US" sz="1250" dirty="0"/>
          </a:p>
        </p:txBody>
      </p:sp>
      <p:sp>
        <p:nvSpPr>
          <p:cNvPr id="11" name="Shape 9"/>
          <p:cNvSpPr/>
          <p:nvPr/>
        </p:nvSpPr>
        <p:spPr>
          <a:xfrm>
            <a:off x="3758184" y="1892808"/>
            <a:ext cx="237744" cy="237744"/>
          </a:xfrm>
          <a:prstGeom prst="ellipse">
            <a:avLst/>
          </a:prstGeom>
          <a:solidFill>
            <a:srgbClr val="0E0E0E"/>
          </a:solidFill>
          <a:ln w="25400">
            <a:solidFill>
              <a:srgbClr val="F2F2F2"/>
            </a:solidFill>
            <a:prstDash val="solid"/>
          </a:ln>
        </p:spPr>
      </p:sp>
      <p:sp>
        <p:nvSpPr>
          <p:cNvPr id="12" name="Shape 10"/>
          <p:cNvSpPr/>
          <p:nvPr/>
        </p:nvSpPr>
        <p:spPr>
          <a:xfrm>
            <a:off x="2834640" y="2331720"/>
            <a:ext cx="2084832" cy="3291840"/>
          </a:xfrm>
          <a:prstGeom prst="rect">
            <a:avLst/>
          </a:prstGeom>
          <a:solidFill>
            <a:srgbClr val="E1E1E1"/>
          </a:solidFill>
          <a:ln/>
        </p:spPr>
      </p:sp>
      <p:sp>
        <p:nvSpPr>
          <p:cNvPr id="13" name="Text 11"/>
          <p:cNvSpPr txBox="1"/>
          <p:nvPr/>
        </p:nvSpPr>
        <p:spPr>
          <a:xfrm>
            <a:off x="2999232" y="2532888"/>
            <a:ext cx="1755648" cy="365760"/>
          </a:xfrm>
          <a:prstGeom prst="rect">
            <a:avLst/>
          </a:prstGeom>
          <a:noFill/>
          <a:ln/>
        </p:spPr>
        <p:txBody>
          <a:bodyPr wrap="square" lIns="0" tIns="0" rIns="0" bIns="0" rtlCol="0" anchor="ctr"/>
          <a:lstStyle/>
          <a:p>
            <a:pPr indent="0" marL="0">
              <a:buNone/>
            </a:pPr>
            <a:r>
              <a:rPr lang="en-US" sz="1300" b="1" dirty="0">
                <a:solidFill>
                  <a:srgbClr val="B60000"/>
                </a:solidFill>
                <a:latin typeface="Calibri" pitchFamily="34" charset="0"/>
                <a:ea typeface="Calibri" pitchFamily="34" charset="-122"/>
                <a:cs typeface="Calibri" pitchFamily="34" charset="-120"/>
              </a:rPr>
              <a:t>9:12</a:t>
            </a:r>
            <a:endParaRPr lang="en-US" sz="1300" dirty="0"/>
          </a:p>
        </p:txBody>
      </p:sp>
      <p:sp>
        <p:nvSpPr>
          <p:cNvPr id="14" name="Text 12"/>
          <p:cNvSpPr txBox="1"/>
          <p:nvPr/>
        </p:nvSpPr>
        <p:spPr>
          <a:xfrm>
            <a:off x="2999232" y="2898648"/>
            <a:ext cx="1755648" cy="640080"/>
          </a:xfrm>
          <a:prstGeom prst="rect">
            <a:avLst/>
          </a:prstGeom>
          <a:noFill/>
          <a:ln/>
        </p:spPr>
        <p:txBody>
          <a:bodyPr wrap="square" lIns="0" tIns="0" rIns="0" bIns="0" rtlCol="0" anchor="ctr"/>
          <a:lstStyle/>
          <a:p>
            <a:pPr indent="0" marL="0">
              <a:buNone/>
            </a:pPr>
            <a:r>
              <a:rPr lang="en-US" sz="1900" b="1" dirty="0">
                <a:solidFill>
                  <a:srgbClr val="0E0E0E"/>
                </a:solidFill>
                <a:latin typeface="Calibri" pitchFamily="34" charset="0"/>
                <a:ea typeface="Calibri" pitchFamily="34" charset="-122"/>
                <a:cs typeface="Calibri" pitchFamily="34" charset="-120"/>
              </a:rPr>
              <a:t>Anatomy</a:t>
            </a:r>
            <a:endParaRPr lang="en-US" sz="1900" dirty="0"/>
          </a:p>
        </p:txBody>
      </p:sp>
      <p:sp>
        <p:nvSpPr>
          <p:cNvPr id="15" name="Text 13"/>
          <p:cNvSpPr txBox="1"/>
          <p:nvPr/>
        </p:nvSpPr>
        <p:spPr>
          <a:xfrm>
            <a:off x="2999232" y="3566160"/>
            <a:ext cx="1755648" cy="1920240"/>
          </a:xfrm>
          <a:prstGeom prst="rect">
            <a:avLst/>
          </a:prstGeom>
          <a:noFill/>
          <a:ln/>
        </p:spPr>
        <p:txBody>
          <a:bodyPr wrap="square" lIns="0" tIns="0" rIns="0" bIns="0" rtlCol="0" anchor="ctr"/>
          <a:lstStyle/>
          <a:p>
            <a:pPr indent="0" marL="0">
              <a:lnSpc>
                <a:spcPct val="125000"/>
              </a:lnSpc>
              <a:buNone/>
            </a:pPr>
            <a:r>
              <a:rPr lang="en-US" sz="1250" dirty="0">
                <a:solidFill>
                  <a:srgbClr val="333333"/>
                </a:solidFill>
                <a:latin typeface="Calibri" pitchFamily="34" charset="0"/>
                <a:ea typeface="Calibri" pitchFamily="34" charset="-122"/>
                <a:cs typeface="Calibri" pitchFamily="34" charset="-120"/>
              </a:rPr>
              <a:t>Agents, rules, environment, time, and stochasticity as formalized verbal theory</a:t>
            </a:r>
            <a:endParaRPr lang="en-US" sz="1250" dirty="0"/>
          </a:p>
        </p:txBody>
      </p:sp>
      <p:sp>
        <p:nvSpPr>
          <p:cNvPr id="16" name="Shape 14"/>
          <p:cNvSpPr/>
          <p:nvPr/>
        </p:nvSpPr>
        <p:spPr>
          <a:xfrm>
            <a:off x="5952744" y="1892808"/>
            <a:ext cx="237744" cy="237744"/>
          </a:xfrm>
          <a:prstGeom prst="ellipse">
            <a:avLst/>
          </a:prstGeom>
          <a:solidFill>
            <a:srgbClr val="0E0E0E"/>
          </a:solidFill>
          <a:ln w="25400">
            <a:solidFill>
              <a:srgbClr val="F2F2F2"/>
            </a:solidFill>
            <a:prstDash val="solid"/>
          </a:ln>
        </p:spPr>
      </p:sp>
      <p:sp>
        <p:nvSpPr>
          <p:cNvPr id="17" name="Shape 15"/>
          <p:cNvSpPr/>
          <p:nvPr/>
        </p:nvSpPr>
        <p:spPr>
          <a:xfrm>
            <a:off x="5029200" y="2331720"/>
            <a:ext cx="2084832" cy="3291840"/>
          </a:xfrm>
          <a:prstGeom prst="rect">
            <a:avLst/>
          </a:prstGeom>
          <a:solidFill>
            <a:srgbClr val="E1E1E1"/>
          </a:solidFill>
          <a:ln/>
        </p:spPr>
      </p:sp>
      <p:sp>
        <p:nvSpPr>
          <p:cNvPr id="18" name="Text 16"/>
          <p:cNvSpPr txBox="1"/>
          <p:nvPr/>
        </p:nvSpPr>
        <p:spPr>
          <a:xfrm>
            <a:off x="5193792" y="2532888"/>
            <a:ext cx="1755648" cy="365760"/>
          </a:xfrm>
          <a:prstGeom prst="rect">
            <a:avLst/>
          </a:prstGeom>
          <a:noFill/>
          <a:ln/>
        </p:spPr>
        <p:txBody>
          <a:bodyPr wrap="square" lIns="0" tIns="0" rIns="0" bIns="0" rtlCol="0" anchor="ctr"/>
          <a:lstStyle/>
          <a:p>
            <a:pPr indent="0" marL="0">
              <a:buNone/>
            </a:pPr>
            <a:r>
              <a:rPr lang="en-US" sz="1300" b="1" dirty="0">
                <a:solidFill>
                  <a:srgbClr val="B60000"/>
                </a:solidFill>
                <a:latin typeface="Calibri" pitchFamily="34" charset="0"/>
                <a:ea typeface="Calibri" pitchFamily="34" charset="-122"/>
                <a:cs typeface="Calibri" pitchFamily="34" charset="-120"/>
              </a:rPr>
              <a:t>9:20</a:t>
            </a:r>
            <a:endParaRPr lang="en-US" sz="1300" dirty="0"/>
          </a:p>
        </p:txBody>
      </p:sp>
      <p:sp>
        <p:nvSpPr>
          <p:cNvPr id="19" name="Text 17"/>
          <p:cNvSpPr txBox="1"/>
          <p:nvPr/>
        </p:nvSpPr>
        <p:spPr>
          <a:xfrm>
            <a:off x="5193792" y="2898648"/>
            <a:ext cx="1755648" cy="640080"/>
          </a:xfrm>
          <a:prstGeom prst="rect">
            <a:avLst/>
          </a:prstGeom>
          <a:noFill/>
          <a:ln/>
        </p:spPr>
        <p:txBody>
          <a:bodyPr wrap="square" lIns="0" tIns="0" rIns="0" bIns="0" rtlCol="0" anchor="ctr"/>
          <a:lstStyle/>
          <a:p>
            <a:pPr indent="0" marL="0">
              <a:buNone/>
            </a:pPr>
            <a:r>
              <a:rPr lang="en-US" sz="1900" b="1" dirty="0">
                <a:solidFill>
                  <a:srgbClr val="0E0E0E"/>
                </a:solidFill>
                <a:latin typeface="Calibri" pitchFamily="34" charset="0"/>
                <a:ea typeface="Calibri" pitchFamily="34" charset="-122"/>
                <a:cs typeface="Calibri" pitchFamily="34" charset="-120"/>
              </a:rPr>
              <a:t>Build &amp; sweep</a:t>
            </a:r>
            <a:endParaRPr lang="en-US" sz="1900" dirty="0"/>
          </a:p>
        </p:txBody>
      </p:sp>
      <p:sp>
        <p:nvSpPr>
          <p:cNvPr id="20" name="Text 18"/>
          <p:cNvSpPr txBox="1"/>
          <p:nvPr/>
        </p:nvSpPr>
        <p:spPr>
          <a:xfrm>
            <a:off x="5193792" y="3566160"/>
            <a:ext cx="1755648" cy="1920240"/>
          </a:xfrm>
          <a:prstGeom prst="rect">
            <a:avLst/>
          </a:prstGeom>
          <a:noFill/>
          <a:ln/>
        </p:spPr>
        <p:txBody>
          <a:bodyPr wrap="square" lIns="0" tIns="0" rIns="0" bIns="0" rtlCol="0" anchor="ctr"/>
          <a:lstStyle/>
          <a:p>
            <a:pPr indent="0" marL="0">
              <a:lnSpc>
                <a:spcPct val="125000"/>
              </a:lnSpc>
              <a:buNone/>
            </a:pPr>
            <a:r>
              <a:rPr lang="en-US" sz="1250" dirty="0">
                <a:solidFill>
                  <a:srgbClr val="333333"/>
                </a:solidFill>
                <a:latin typeface="Calibri" pitchFamily="34" charset="0"/>
                <a:ea typeface="Calibri" pitchFamily="34" charset="-122"/>
                <a:cs typeface="Calibri" pitchFamily="34" charset="-120"/>
              </a:rPr>
              <a:t>One model, four stages, live; a parameter sweep as a factorial design</a:t>
            </a:r>
            <a:endParaRPr lang="en-US" sz="1250" dirty="0"/>
          </a:p>
        </p:txBody>
      </p:sp>
      <p:sp>
        <p:nvSpPr>
          <p:cNvPr id="21" name="Shape 19"/>
          <p:cNvSpPr/>
          <p:nvPr/>
        </p:nvSpPr>
        <p:spPr>
          <a:xfrm>
            <a:off x="8147304" y="1892808"/>
            <a:ext cx="237744" cy="237744"/>
          </a:xfrm>
          <a:prstGeom prst="ellipse">
            <a:avLst/>
          </a:prstGeom>
          <a:solidFill>
            <a:srgbClr val="0E0E0E"/>
          </a:solidFill>
          <a:ln w="25400">
            <a:solidFill>
              <a:srgbClr val="F2F2F2"/>
            </a:solidFill>
            <a:prstDash val="solid"/>
          </a:ln>
        </p:spPr>
      </p:sp>
      <p:sp>
        <p:nvSpPr>
          <p:cNvPr id="22" name="Shape 20"/>
          <p:cNvSpPr/>
          <p:nvPr/>
        </p:nvSpPr>
        <p:spPr>
          <a:xfrm>
            <a:off x="7223760" y="2331720"/>
            <a:ext cx="2084832" cy="3291840"/>
          </a:xfrm>
          <a:prstGeom prst="rect">
            <a:avLst/>
          </a:prstGeom>
          <a:solidFill>
            <a:srgbClr val="E1E1E1"/>
          </a:solidFill>
          <a:ln/>
        </p:spPr>
      </p:sp>
      <p:sp>
        <p:nvSpPr>
          <p:cNvPr id="23" name="Text 21"/>
          <p:cNvSpPr txBox="1"/>
          <p:nvPr/>
        </p:nvSpPr>
        <p:spPr>
          <a:xfrm>
            <a:off x="7388352" y="2532888"/>
            <a:ext cx="1755648" cy="365760"/>
          </a:xfrm>
          <a:prstGeom prst="rect">
            <a:avLst/>
          </a:prstGeom>
          <a:noFill/>
          <a:ln/>
        </p:spPr>
        <p:txBody>
          <a:bodyPr wrap="square" lIns="0" tIns="0" rIns="0" bIns="0" rtlCol="0" anchor="ctr"/>
          <a:lstStyle/>
          <a:p>
            <a:pPr indent="0" marL="0">
              <a:buNone/>
            </a:pPr>
            <a:r>
              <a:rPr lang="en-US" sz="1300" b="1" dirty="0">
                <a:solidFill>
                  <a:srgbClr val="B60000"/>
                </a:solidFill>
                <a:latin typeface="Calibri" pitchFamily="34" charset="0"/>
                <a:ea typeface="Calibri" pitchFamily="34" charset="-122"/>
                <a:cs typeface="Calibri" pitchFamily="34" charset="-120"/>
              </a:rPr>
              <a:t>10:00</a:t>
            </a:r>
            <a:endParaRPr lang="en-US" sz="1300" dirty="0"/>
          </a:p>
        </p:txBody>
      </p:sp>
      <p:sp>
        <p:nvSpPr>
          <p:cNvPr id="24" name="Text 22"/>
          <p:cNvSpPr txBox="1"/>
          <p:nvPr/>
        </p:nvSpPr>
        <p:spPr>
          <a:xfrm>
            <a:off x="7388352" y="2898648"/>
            <a:ext cx="1755648" cy="640080"/>
          </a:xfrm>
          <a:prstGeom prst="rect">
            <a:avLst/>
          </a:prstGeom>
          <a:noFill/>
          <a:ln/>
        </p:spPr>
        <p:txBody>
          <a:bodyPr wrap="square" lIns="0" tIns="0" rIns="0" bIns="0" rtlCol="0" anchor="ctr"/>
          <a:lstStyle/>
          <a:p>
            <a:pPr indent="0" marL="0">
              <a:buNone/>
            </a:pPr>
            <a:r>
              <a:rPr lang="en-US" sz="1900" b="1" dirty="0">
                <a:solidFill>
                  <a:srgbClr val="0E0E0E"/>
                </a:solidFill>
                <a:latin typeface="Calibri" pitchFamily="34" charset="0"/>
                <a:ea typeface="Calibri" pitchFamily="34" charset="-122"/>
                <a:cs typeface="Calibri" pitchFamily="34" charset="-120"/>
              </a:rPr>
              <a:t>Standards &amp; limits</a:t>
            </a:r>
            <a:endParaRPr lang="en-US" sz="1900" dirty="0"/>
          </a:p>
        </p:txBody>
      </p:sp>
      <p:sp>
        <p:nvSpPr>
          <p:cNvPr id="25" name="Text 23"/>
          <p:cNvSpPr txBox="1"/>
          <p:nvPr/>
        </p:nvSpPr>
        <p:spPr>
          <a:xfrm>
            <a:off x="7388352" y="3566160"/>
            <a:ext cx="1755648" cy="1920240"/>
          </a:xfrm>
          <a:prstGeom prst="rect">
            <a:avLst/>
          </a:prstGeom>
          <a:noFill/>
          <a:ln/>
        </p:spPr>
        <p:txBody>
          <a:bodyPr wrap="square" lIns="0" tIns="0" rIns="0" bIns="0" rtlCol="0" anchor="ctr"/>
          <a:lstStyle/>
          <a:p>
            <a:pPr indent="0" marL="0">
              <a:lnSpc>
                <a:spcPct val="125000"/>
              </a:lnSpc>
              <a:buNone/>
            </a:pPr>
            <a:r>
              <a:rPr lang="en-US" sz="1250" dirty="0">
                <a:solidFill>
                  <a:srgbClr val="333333"/>
                </a:solidFill>
                <a:latin typeface="Calibri" pitchFamily="34" charset="0"/>
                <a:ea typeface="Calibri" pitchFamily="34" charset="-122"/>
                <a:cs typeface="Calibri" pitchFamily="34" charset="-120"/>
              </a:rPr>
              <a:t>Verification, validation, ODD, and the honest critique of simulation</a:t>
            </a:r>
            <a:endParaRPr lang="en-US" sz="1250" dirty="0"/>
          </a:p>
        </p:txBody>
      </p:sp>
      <p:sp>
        <p:nvSpPr>
          <p:cNvPr id="26" name="Shape 24"/>
          <p:cNvSpPr/>
          <p:nvPr/>
        </p:nvSpPr>
        <p:spPr>
          <a:xfrm>
            <a:off x="10341864" y="1892808"/>
            <a:ext cx="237744" cy="237744"/>
          </a:xfrm>
          <a:prstGeom prst="ellipse">
            <a:avLst/>
          </a:prstGeom>
          <a:solidFill>
            <a:srgbClr val="0E0E0E"/>
          </a:solidFill>
          <a:ln w="25400">
            <a:solidFill>
              <a:srgbClr val="F2F2F2"/>
            </a:solidFill>
            <a:prstDash val="solid"/>
          </a:ln>
        </p:spPr>
      </p:sp>
      <p:sp>
        <p:nvSpPr>
          <p:cNvPr id="27" name="Shape 25"/>
          <p:cNvSpPr/>
          <p:nvPr/>
        </p:nvSpPr>
        <p:spPr>
          <a:xfrm>
            <a:off x="9418320" y="2331720"/>
            <a:ext cx="2084832" cy="3291840"/>
          </a:xfrm>
          <a:prstGeom prst="rect">
            <a:avLst/>
          </a:prstGeom>
          <a:solidFill>
            <a:srgbClr val="E1E1E1"/>
          </a:solidFill>
          <a:ln/>
        </p:spPr>
      </p:sp>
      <p:sp>
        <p:nvSpPr>
          <p:cNvPr id="28" name="Text 26"/>
          <p:cNvSpPr txBox="1"/>
          <p:nvPr/>
        </p:nvSpPr>
        <p:spPr>
          <a:xfrm>
            <a:off x="9582912" y="2532888"/>
            <a:ext cx="1755648" cy="365760"/>
          </a:xfrm>
          <a:prstGeom prst="rect">
            <a:avLst/>
          </a:prstGeom>
          <a:noFill/>
          <a:ln/>
        </p:spPr>
        <p:txBody>
          <a:bodyPr wrap="square" lIns="0" tIns="0" rIns="0" bIns="0" rtlCol="0" anchor="ctr"/>
          <a:lstStyle/>
          <a:p>
            <a:pPr indent="0" marL="0">
              <a:buNone/>
            </a:pPr>
            <a:r>
              <a:rPr lang="en-US" sz="1300" b="1" dirty="0">
                <a:solidFill>
                  <a:srgbClr val="B60000"/>
                </a:solidFill>
                <a:latin typeface="Calibri" pitchFamily="34" charset="0"/>
                <a:ea typeface="Calibri" pitchFamily="34" charset="-122"/>
                <a:cs typeface="Calibri" pitchFamily="34" charset="-120"/>
              </a:rPr>
              <a:t>10:12</a:t>
            </a:r>
            <a:endParaRPr lang="en-US" sz="1300" dirty="0"/>
          </a:p>
        </p:txBody>
      </p:sp>
      <p:sp>
        <p:nvSpPr>
          <p:cNvPr id="29" name="Text 27"/>
          <p:cNvSpPr txBox="1"/>
          <p:nvPr/>
        </p:nvSpPr>
        <p:spPr>
          <a:xfrm>
            <a:off x="9582912" y="2898648"/>
            <a:ext cx="1755648" cy="640080"/>
          </a:xfrm>
          <a:prstGeom prst="rect">
            <a:avLst/>
          </a:prstGeom>
          <a:noFill/>
          <a:ln/>
        </p:spPr>
        <p:txBody>
          <a:bodyPr wrap="square" lIns="0" tIns="0" rIns="0" bIns="0" rtlCol="0" anchor="ctr"/>
          <a:lstStyle/>
          <a:p>
            <a:pPr indent="0" marL="0">
              <a:buNone/>
            </a:pPr>
            <a:r>
              <a:rPr lang="en-US" sz="1900" b="1" dirty="0">
                <a:solidFill>
                  <a:srgbClr val="0E0E0E"/>
                </a:solidFill>
                <a:latin typeface="Calibri" pitchFamily="34" charset="0"/>
                <a:ea typeface="Calibri" pitchFamily="34" charset="-122"/>
                <a:cs typeface="Calibri" pitchFamily="34" charset="-120"/>
              </a:rPr>
              <a:t>Discussion</a:t>
            </a:r>
            <a:endParaRPr lang="en-US" sz="1900" dirty="0"/>
          </a:p>
        </p:txBody>
      </p:sp>
      <p:sp>
        <p:nvSpPr>
          <p:cNvPr id="30" name="Text 28"/>
          <p:cNvSpPr txBox="1"/>
          <p:nvPr/>
        </p:nvSpPr>
        <p:spPr>
          <a:xfrm>
            <a:off x="9582912" y="3566160"/>
            <a:ext cx="1755648" cy="1920240"/>
          </a:xfrm>
          <a:prstGeom prst="rect">
            <a:avLst/>
          </a:prstGeom>
          <a:noFill/>
          <a:ln/>
        </p:spPr>
        <p:txBody>
          <a:bodyPr wrap="square" lIns="0" tIns="0" rIns="0" bIns="0" rtlCol="0" anchor="ctr"/>
          <a:lstStyle/>
          <a:p>
            <a:pPr indent="0" marL="0">
              <a:lnSpc>
                <a:spcPct val="125000"/>
              </a:lnSpc>
              <a:buNone/>
            </a:pPr>
            <a:r>
              <a:rPr lang="en-US" sz="1250" dirty="0">
                <a:solidFill>
                  <a:srgbClr val="333333"/>
                </a:solidFill>
                <a:latin typeface="Calibri" pitchFamily="34" charset="0"/>
                <a:ea typeface="Calibri" pitchFamily="34" charset="-122"/>
                <a:cs typeface="Calibri" pitchFamily="34" charset="-120"/>
              </a:rPr>
              <a:t>Eighteen minutes on your own designs, seeded by three questions sent in advance</a:t>
            </a:r>
            <a:endParaRPr lang="en-US" sz="1250" dirty="0"/>
          </a:p>
        </p:txBody>
      </p:sp>
      <p:sp>
        <p:nvSpPr>
          <p:cNvPr id="31" name="Text 29"/>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02</a:t>
            </a:r>
            <a:endParaRPr lang="en-US" sz="1000" dirty="0"/>
          </a:p>
        </p:txBody>
      </p:sp>
      <p:pic>
        <p:nvPicPr>
          <p:cNvPr id="32"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0E"/>
        </a:solidFill>
      </p:bgPr>
    </p:bg>
    <p:spTree>
      <p:nvGrpSpPr>
        <p:cNvPr id="1" name=""/>
        <p:cNvGrpSpPr/>
        <p:nvPr/>
      </p:nvGrpSpPr>
      <p:grpSpPr>
        <a:xfrm>
          <a:off x="0" y="0"/>
          <a:ext cx="0" cy="0"/>
          <a:chOff x="0" y="0"/>
          <a:chExt cx="0" cy="0"/>
        </a:xfrm>
      </p:grpSpPr>
      <p:pic>
        <p:nvPicPr>
          <p:cNvPr id="2" name="Image 0" descr="assets/art_refram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82296" cy="6858000"/>
          </a:xfrm>
          <a:prstGeom prst="rect">
            <a:avLst/>
          </a:prstGeom>
          <a:solidFill>
            <a:srgbClr val="B60000"/>
          </a:solidFill>
          <a:ln/>
        </p:spPr>
      </p:sp>
      <p:sp>
        <p:nvSpPr>
          <p:cNvPr id="4" name="Text 1"/>
          <p:cNvSpPr txBox="1"/>
          <p:nvPr/>
        </p:nvSpPr>
        <p:spPr>
          <a:xfrm>
            <a:off x="731520" y="685800"/>
            <a:ext cx="4572000" cy="1737360"/>
          </a:xfrm>
          <a:prstGeom prst="rect">
            <a:avLst/>
          </a:prstGeom>
          <a:noFill/>
          <a:ln/>
        </p:spPr>
        <p:txBody>
          <a:bodyPr wrap="square" lIns="0" tIns="0" rIns="0" bIns="0" rtlCol="0" anchor="ctr"/>
          <a:lstStyle/>
          <a:p>
            <a:pPr indent="0" marL="0">
              <a:buNone/>
            </a:pPr>
            <a:r>
              <a:rPr lang="en-US" sz="13200" b="1" dirty="0">
                <a:solidFill>
                  <a:srgbClr val="333333"/>
                </a:solidFill>
                <a:latin typeface="Calibri" pitchFamily="34" charset="0"/>
                <a:ea typeface="Calibri" pitchFamily="34" charset="-122"/>
                <a:cs typeface="Calibri" pitchFamily="34" charset="-120"/>
              </a:rPr>
              <a:t>01</a:t>
            </a:r>
            <a:endParaRPr lang="en-US" sz="13200" dirty="0"/>
          </a:p>
        </p:txBody>
      </p:sp>
      <p:sp>
        <p:nvSpPr>
          <p:cNvPr id="5" name="Text 2"/>
          <p:cNvSpPr txBox="1"/>
          <p:nvPr/>
        </p:nvSpPr>
        <p:spPr>
          <a:xfrm>
            <a:off x="822960" y="2697480"/>
            <a:ext cx="5943600" cy="365760"/>
          </a:xfrm>
          <a:prstGeom prst="rect">
            <a:avLst/>
          </a:prstGeom>
          <a:noFill/>
          <a:ln/>
        </p:spPr>
        <p:txBody>
          <a:bodyPr wrap="square" lIns="0" tIns="0" rIns="0" bIns="0" rtlCol="0" anchor="ctr"/>
          <a:lstStyle/>
          <a:p>
            <a:pPr indent="0" marL="0">
              <a:buNone/>
            </a:pPr>
            <a:r>
              <a:rPr lang="en-US" sz="1400" b="1" spc="300" kern="0" dirty="0">
                <a:solidFill>
                  <a:srgbClr val="E1E1E1"/>
                </a:solidFill>
                <a:latin typeface="Calibri" pitchFamily="34" charset="0"/>
                <a:ea typeface="Calibri" pitchFamily="34" charset="-122"/>
                <a:cs typeface="Calibri" pitchFamily="34" charset="-120"/>
              </a:rPr>
              <a:t>PART 01 · REFRAME</a:t>
            </a:r>
            <a:endParaRPr lang="en-US" sz="1400" dirty="0"/>
          </a:p>
        </p:txBody>
      </p:sp>
      <p:sp>
        <p:nvSpPr>
          <p:cNvPr id="6" name="Text 3"/>
          <p:cNvSpPr txBox="1"/>
          <p:nvPr/>
        </p:nvSpPr>
        <p:spPr>
          <a:xfrm>
            <a:off x="822960" y="3108960"/>
            <a:ext cx="5669280" cy="1463040"/>
          </a:xfrm>
          <a:prstGeom prst="rect">
            <a:avLst/>
          </a:prstGeom>
          <a:noFill/>
          <a:ln/>
        </p:spPr>
        <p:txBody>
          <a:bodyPr wrap="square" lIns="0" tIns="0" rIns="0" bIns="0" rtlCol="0" anchor="t"/>
          <a:lstStyle/>
          <a:p>
            <a:pPr indent="0" marL="0">
              <a:lnSpc>
                <a:spcPct val="100000"/>
              </a:lnSpc>
              <a:buNone/>
            </a:pPr>
            <a:r>
              <a:rPr lang="en-US" sz="4200" b="1" dirty="0">
                <a:solidFill>
                  <a:srgbClr val="F2F2F2"/>
                </a:solidFill>
                <a:latin typeface="Calibri" pitchFamily="34" charset="0"/>
                <a:ea typeface="Calibri" pitchFamily="34" charset="-122"/>
                <a:cs typeface="Calibri" pitchFamily="34" charset="-120"/>
              </a:rPr>
              <a:t>ABM as a data generating process</a:t>
            </a:r>
            <a:endParaRPr lang="en-US" sz="4200" dirty="0"/>
          </a:p>
        </p:txBody>
      </p:sp>
      <p:sp>
        <p:nvSpPr>
          <p:cNvPr id="7" name="Shape 4"/>
          <p:cNvSpPr/>
          <p:nvPr/>
        </p:nvSpPr>
        <p:spPr>
          <a:xfrm>
            <a:off x="822960" y="4709160"/>
            <a:ext cx="1005840" cy="54864"/>
          </a:xfrm>
          <a:prstGeom prst="rect">
            <a:avLst/>
          </a:prstGeom>
          <a:solidFill>
            <a:srgbClr val="B60000"/>
          </a:solidFill>
          <a:ln/>
        </p:spPr>
      </p:sp>
      <p:sp>
        <p:nvSpPr>
          <p:cNvPr id="8" name="Text 5"/>
          <p:cNvSpPr txBox="1"/>
          <p:nvPr/>
        </p:nvSpPr>
        <p:spPr>
          <a:xfrm>
            <a:off x="822960" y="4937760"/>
            <a:ext cx="5852160" cy="1005840"/>
          </a:xfrm>
          <a:prstGeom prst="rect">
            <a:avLst/>
          </a:prstGeom>
          <a:noFill/>
          <a:ln/>
        </p:spPr>
        <p:txBody>
          <a:bodyPr wrap="square" lIns="0" tIns="0" rIns="0" bIns="0" rtlCol="0" anchor="t"/>
          <a:lstStyle/>
          <a:p>
            <a:pPr indent="0" marL="0">
              <a:lnSpc>
                <a:spcPct val="125000"/>
              </a:lnSpc>
              <a:buNone/>
            </a:pPr>
            <a:r>
              <a:rPr lang="en-US" sz="1700" dirty="0">
                <a:solidFill>
                  <a:srgbClr val="E1E1E1"/>
                </a:solidFill>
                <a:latin typeface="Calibri" pitchFamily="34" charset="0"/>
                <a:ea typeface="Calibri" pitchFamily="34" charset="-122"/>
                <a:cs typeface="Calibri" pitchFamily="34" charset="-120"/>
              </a:rPr>
              <a:t>Why group and team theories describe processes that single-shot designs cannot observe.</a:t>
            </a:r>
            <a:endParaRPr lang="en-US" sz="1700" dirty="0"/>
          </a:p>
        </p:txBody>
      </p:sp>
      <p:sp>
        <p:nvSpPr>
          <p:cNvPr id="9" name="Text 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E1E1E1"/>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E1E1E1"/>
                </a:solidFill>
                <a:latin typeface="Courier New" pitchFamily="34" charset="0"/>
                <a:ea typeface="Courier New" pitchFamily="34" charset="-122"/>
                <a:cs typeface="Courier New" pitchFamily="34" charset="-120"/>
              </a:rPr>
              <a:t>tick 03</a:t>
            </a:r>
            <a:endParaRPr lang="en-US" sz="1000" dirty="0"/>
          </a:p>
        </p:txBody>
      </p:sp>
      <p:pic>
        <p:nvPicPr>
          <p:cNvPr id="10" name="Image 1" descr="assets/ncite_logo_white.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REFRAME · 1 OF 5</a:t>
            </a:r>
            <a:endParaRPr lang="en-US" sz="1300" dirty="0"/>
          </a:p>
        </p:txBody>
      </p:sp>
      <p:sp>
        <p:nvSpPr>
          <p:cNvPr id="4" name="Text 2"/>
          <p:cNvSpPr txBox="1"/>
          <p:nvPr/>
        </p:nvSpPr>
        <p:spPr>
          <a:xfrm>
            <a:off x="640080" y="914400"/>
            <a:ext cx="10881360" cy="1554480"/>
          </a:xfrm>
          <a:prstGeom prst="rect">
            <a:avLst/>
          </a:prstGeom>
          <a:noFill/>
          <a:ln/>
        </p:spPr>
        <p:txBody>
          <a:bodyPr wrap="square" lIns="0" tIns="0" rIns="0" bIns="0" rtlCol="0" anchor="t"/>
          <a:lstStyle/>
          <a:p>
            <a:pPr indent="0" marL="0">
              <a:buNone/>
            </a:pPr>
            <a:r>
              <a:rPr lang="en-US" sz="3200" b="1" dirty="0">
                <a:solidFill>
                  <a:srgbClr val="0E0E0E"/>
                </a:solidFill>
                <a:latin typeface="Calibri" pitchFamily="34" charset="0"/>
                <a:ea typeface="Calibri" pitchFamily="34" charset="-122"/>
                <a:cs typeface="Calibri" pitchFamily="34" charset="-120"/>
              </a:rPr>
              <a:t>Your theories describe emergence.</a:t>
            </a:r>
            <a:endParaRPr lang="en-US" sz="3200" dirty="0"/>
          </a:p>
          <a:p>
            <a:pPr indent="0" marL="0">
              <a:buNone/>
            </a:pPr>
            <a:r>
              <a:rPr lang="en-US" sz="3200" b="1" dirty="0">
                <a:solidFill>
                  <a:srgbClr val="0E0E0E"/>
                </a:solidFill>
                <a:latin typeface="Calibri" pitchFamily="34" charset="0"/>
                <a:ea typeface="Calibri" pitchFamily="34" charset="-122"/>
                <a:cs typeface="Calibri" pitchFamily="34" charset="-120"/>
              </a:rPr>
              <a:t>Your designs can't observe it happening.</a:t>
            </a:r>
            <a:endParaRPr lang="en-US" sz="3200" dirty="0"/>
          </a:p>
        </p:txBody>
      </p:sp>
      <p:sp>
        <p:nvSpPr>
          <p:cNvPr id="5" name="Text 3"/>
          <p:cNvSpPr txBox="1"/>
          <p:nvPr/>
        </p:nvSpPr>
        <p:spPr>
          <a:xfrm>
            <a:off x="640080" y="2834640"/>
            <a:ext cx="10424160" cy="822960"/>
          </a:xfrm>
          <a:prstGeom prst="rect">
            <a:avLst/>
          </a:prstGeom>
          <a:noFill/>
          <a:ln/>
        </p:spPr>
        <p:txBody>
          <a:bodyPr wrap="square" lIns="0" tIns="0" rIns="0" bIns="0" rtlCol="0" anchor="ctr"/>
          <a:lstStyle/>
          <a:p>
            <a:pPr indent="0" marL="0">
              <a:lnSpc>
                <a:spcPct val="130000"/>
              </a:lnSpc>
              <a:buNone/>
            </a:pPr>
            <a:r>
              <a:rPr lang="en-US" sz="1900" b="1" dirty="0">
                <a:solidFill>
                  <a:srgbClr val="0E0E0E"/>
                </a:solidFill>
                <a:latin typeface="Calibri" pitchFamily="34" charset="0"/>
                <a:ea typeface="Calibri" pitchFamily="34" charset="-122"/>
                <a:cs typeface="Calibri" pitchFamily="34" charset="-120"/>
              </a:rPr>
              <a:t>Group and team theory: </a:t>
            </a:r>
            <a:pPr indent="0" marL="0">
              <a:lnSpc>
                <a:spcPct val="130000"/>
              </a:lnSpc>
              <a:buNone/>
            </a:pPr>
            <a:r>
              <a:rPr lang="en-US" sz="1900" dirty="0">
                <a:solidFill>
                  <a:srgbClr val="333333"/>
                </a:solidFill>
                <a:latin typeface="Calibri" pitchFamily="34" charset="0"/>
                <a:ea typeface="Calibri" pitchFamily="34" charset="-122"/>
                <a:cs typeface="Calibri" pitchFamily="34" charset="-120"/>
              </a:rPr>
              <a:t>bottom-up, path-dependent, order-sensitive constructs that arise from interaction over time.</a:t>
            </a:r>
            <a:endParaRPr lang="en-US" sz="1900" dirty="0"/>
          </a:p>
        </p:txBody>
      </p:sp>
      <p:sp>
        <p:nvSpPr>
          <p:cNvPr id="6" name="Text 4"/>
          <p:cNvSpPr txBox="1"/>
          <p:nvPr/>
        </p:nvSpPr>
        <p:spPr>
          <a:xfrm>
            <a:off x="640080" y="3749040"/>
            <a:ext cx="10424160" cy="822960"/>
          </a:xfrm>
          <a:prstGeom prst="rect">
            <a:avLst/>
          </a:prstGeom>
          <a:noFill/>
          <a:ln/>
        </p:spPr>
        <p:txBody>
          <a:bodyPr wrap="square" lIns="0" tIns="0" rIns="0" bIns="0" rtlCol="0" anchor="ctr"/>
          <a:lstStyle/>
          <a:p>
            <a:pPr indent="0" marL="0">
              <a:lnSpc>
                <a:spcPct val="130000"/>
              </a:lnSpc>
              <a:buNone/>
            </a:pPr>
            <a:r>
              <a:rPr lang="en-US" sz="1900" b="1" dirty="0">
                <a:solidFill>
                  <a:srgbClr val="0E0E0E"/>
                </a:solidFill>
                <a:latin typeface="Calibri" pitchFamily="34" charset="0"/>
                <a:ea typeface="Calibri" pitchFamily="34" charset="-122"/>
                <a:cs typeface="Calibri" pitchFamily="34" charset="-120"/>
              </a:rPr>
              <a:t>Cross-sectional survey, single-shot experiment: </a:t>
            </a:r>
            <a:pPr indent="0" marL="0">
              <a:lnSpc>
                <a:spcPct val="130000"/>
              </a:lnSpc>
              <a:buNone/>
            </a:pPr>
            <a:r>
              <a:rPr lang="en-US" sz="1900" dirty="0">
                <a:solidFill>
                  <a:srgbClr val="333333"/>
                </a:solidFill>
                <a:latin typeface="Calibri" pitchFamily="34" charset="0"/>
                <a:ea typeface="Calibri" pitchFamily="34" charset="-122"/>
                <a:cs typeface="Calibri" pitchFamily="34" charset="-120"/>
              </a:rPr>
              <a:t>static, order-blind snapshots that can only observe emergence's residue.</a:t>
            </a:r>
            <a:endParaRPr lang="en-US" sz="1900" dirty="0"/>
          </a:p>
        </p:txBody>
      </p:sp>
      <p:sp>
        <p:nvSpPr>
          <p:cNvPr id="7" name="Shape 5"/>
          <p:cNvSpPr/>
          <p:nvPr/>
        </p:nvSpPr>
        <p:spPr>
          <a:xfrm>
            <a:off x="640080" y="3520440"/>
            <a:ext cx="10424160" cy="0"/>
          </a:xfrm>
          <a:prstGeom prst="line">
            <a:avLst/>
          </a:prstGeom>
          <a:noFill/>
          <a:ln w="12700">
            <a:solidFill>
              <a:srgbClr val="E1E1E1"/>
            </a:solidFill>
            <a:prstDash val="solid"/>
          </a:ln>
        </p:spPr>
      </p:sp>
      <p:sp>
        <p:nvSpPr>
          <p:cNvPr id="8" name="Text 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04</a:t>
            </a:r>
            <a:endParaRPr lang="en-US" sz="1000" dirty="0"/>
          </a:p>
        </p:txBody>
      </p:sp>
      <p:pic>
        <p:nvPicPr>
          <p:cNvPr id="9"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REFRAME · 2 OF 5</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What you already know, applied downstream</a:t>
            </a:r>
            <a:endParaRPr lang="en-US" sz="3400" dirty="0"/>
          </a:p>
        </p:txBody>
      </p:sp>
      <p:sp>
        <p:nvSpPr>
          <p:cNvPr id="5" name="Shape 3"/>
          <p:cNvSpPr/>
          <p:nvPr/>
        </p:nvSpPr>
        <p:spPr>
          <a:xfrm>
            <a:off x="640080" y="2286000"/>
            <a:ext cx="10881360" cy="868680"/>
          </a:xfrm>
          <a:prstGeom prst="rect">
            <a:avLst/>
          </a:prstGeom>
          <a:solidFill>
            <a:srgbClr val="E1E1E1"/>
          </a:solidFill>
          <a:ln/>
        </p:spPr>
      </p:sp>
      <p:sp>
        <p:nvSpPr>
          <p:cNvPr id="6" name="Text 4"/>
          <p:cNvSpPr txBox="1"/>
          <p:nvPr/>
        </p:nvSpPr>
        <p:spPr>
          <a:xfrm>
            <a:off x="914400" y="2423160"/>
            <a:ext cx="4846320" cy="594360"/>
          </a:xfrm>
          <a:prstGeom prst="rect">
            <a:avLst/>
          </a:prstGeom>
          <a:noFill/>
          <a:ln/>
        </p:spPr>
        <p:txBody>
          <a:bodyPr wrap="square" lIns="0" tIns="0" rIns="0" bIns="0" rtlCol="0" anchor="ctr"/>
          <a:lstStyle/>
          <a:p>
            <a:pPr indent="0" marL="0">
              <a:buNone/>
            </a:pPr>
            <a:r>
              <a:rPr lang="en-US" sz="1800" b="1" dirty="0">
                <a:solidFill>
                  <a:srgbClr val="0E0E0E"/>
                </a:solidFill>
                <a:latin typeface="Calibri" pitchFamily="34" charset="0"/>
                <a:ea typeface="Calibri" pitchFamily="34" charset="-122"/>
                <a:cs typeface="Calibri" pitchFamily="34" charset="-120"/>
              </a:rPr>
              <a:t>A parameter sweep</a:t>
            </a:r>
            <a:endParaRPr lang="en-US" sz="1800" dirty="0"/>
          </a:p>
        </p:txBody>
      </p:sp>
      <p:sp>
        <p:nvSpPr>
          <p:cNvPr id="7" name="Text 5"/>
          <p:cNvSpPr txBox="1"/>
          <p:nvPr/>
        </p:nvSpPr>
        <p:spPr>
          <a:xfrm>
            <a:off x="5943600" y="2423160"/>
            <a:ext cx="5303520" cy="594360"/>
          </a:xfrm>
          <a:prstGeom prst="rect">
            <a:avLst/>
          </a:prstGeom>
          <a:noFill/>
          <a:ln/>
        </p:spPr>
        <p:txBody>
          <a:bodyPr wrap="square" lIns="0" tIns="0" rIns="0" bIns="0" rtlCol="0" anchor="ctr"/>
          <a:lstStyle/>
          <a:p>
            <a:pPr indent="0" marL="0">
              <a:buNone/>
            </a:pPr>
            <a:r>
              <a:rPr lang="en-US" sz="1800" dirty="0">
                <a:solidFill>
                  <a:srgbClr val="333333"/>
                </a:solidFill>
                <a:latin typeface="Calibri" pitchFamily="34" charset="0"/>
                <a:ea typeface="Calibri" pitchFamily="34" charset="-122"/>
                <a:cs typeface="Calibri" pitchFamily="34" charset="-120"/>
              </a:rPr>
              <a:t>is a factorial design</a:t>
            </a:r>
            <a:endParaRPr lang="en-US" sz="1800" dirty="0"/>
          </a:p>
        </p:txBody>
      </p:sp>
      <p:sp>
        <p:nvSpPr>
          <p:cNvPr id="8" name="Shape 6"/>
          <p:cNvSpPr/>
          <p:nvPr/>
        </p:nvSpPr>
        <p:spPr>
          <a:xfrm>
            <a:off x="640080" y="3291840"/>
            <a:ext cx="10881360" cy="868680"/>
          </a:xfrm>
          <a:prstGeom prst="rect">
            <a:avLst/>
          </a:prstGeom>
          <a:solidFill>
            <a:srgbClr val="E1E1E1"/>
          </a:solidFill>
          <a:ln/>
        </p:spPr>
      </p:sp>
      <p:sp>
        <p:nvSpPr>
          <p:cNvPr id="9" name="Text 7"/>
          <p:cNvSpPr txBox="1"/>
          <p:nvPr/>
        </p:nvSpPr>
        <p:spPr>
          <a:xfrm>
            <a:off x="914400" y="3429000"/>
            <a:ext cx="4846320" cy="594360"/>
          </a:xfrm>
          <a:prstGeom prst="rect">
            <a:avLst/>
          </a:prstGeom>
          <a:noFill/>
          <a:ln/>
        </p:spPr>
        <p:txBody>
          <a:bodyPr wrap="square" lIns="0" tIns="0" rIns="0" bIns="0" rtlCol="0" anchor="ctr"/>
          <a:lstStyle/>
          <a:p>
            <a:pPr indent="0" marL="0">
              <a:buNone/>
            </a:pPr>
            <a:r>
              <a:rPr lang="en-US" sz="1800" b="1" dirty="0">
                <a:solidFill>
                  <a:srgbClr val="0E0E0E"/>
                </a:solidFill>
                <a:latin typeface="Calibri" pitchFamily="34" charset="0"/>
                <a:ea typeface="Calibri" pitchFamily="34" charset="-122"/>
                <a:cs typeface="Calibri" pitchFamily="34" charset="-120"/>
              </a:rPr>
              <a:t>A bank of replications</a:t>
            </a:r>
            <a:endParaRPr lang="en-US" sz="1800" dirty="0"/>
          </a:p>
        </p:txBody>
      </p:sp>
      <p:sp>
        <p:nvSpPr>
          <p:cNvPr id="10" name="Text 8"/>
          <p:cNvSpPr txBox="1"/>
          <p:nvPr/>
        </p:nvSpPr>
        <p:spPr>
          <a:xfrm>
            <a:off x="5943600" y="3429000"/>
            <a:ext cx="5303520" cy="594360"/>
          </a:xfrm>
          <a:prstGeom prst="rect">
            <a:avLst/>
          </a:prstGeom>
          <a:noFill/>
          <a:ln/>
        </p:spPr>
        <p:txBody>
          <a:bodyPr wrap="square" lIns="0" tIns="0" rIns="0" bIns="0" rtlCol="0" anchor="ctr"/>
          <a:lstStyle/>
          <a:p>
            <a:pPr indent="0" marL="0">
              <a:buNone/>
            </a:pPr>
            <a:r>
              <a:rPr lang="en-US" sz="1800" dirty="0">
                <a:solidFill>
                  <a:srgbClr val="333333"/>
                </a:solidFill>
                <a:latin typeface="Calibri" pitchFamily="34" charset="0"/>
                <a:ea typeface="Calibri" pitchFamily="34" charset="-122"/>
                <a:cs typeface="Calibri" pitchFamily="34" charset="-120"/>
              </a:rPr>
              <a:t>is a set of Monte Carlo draws</a:t>
            </a:r>
            <a:endParaRPr lang="en-US" sz="1800" dirty="0"/>
          </a:p>
        </p:txBody>
      </p:sp>
      <p:sp>
        <p:nvSpPr>
          <p:cNvPr id="11" name="Shape 9"/>
          <p:cNvSpPr/>
          <p:nvPr/>
        </p:nvSpPr>
        <p:spPr>
          <a:xfrm>
            <a:off x="640080" y="4297680"/>
            <a:ext cx="10881360" cy="868680"/>
          </a:xfrm>
          <a:prstGeom prst="rect">
            <a:avLst/>
          </a:prstGeom>
          <a:solidFill>
            <a:srgbClr val="E1E1E1"/>
          </a:solidFill>
          <a:ln/>
        </p:spPr>
      </p:sp>
      <p:sp>
        <p:nvSpPr>
          <p:cNvPr id="12" name="Text 10"/>
          <p:cNvSpPr txBox="1"/>
          <p:nvPr/>
        </p:nvSpPr>
        <p:spPr>
          <a:xfrm>
            <a:off x="914400" y="4434840"/>
            <a:ext cx="4846320" cy="594360"/>
          </a:xfrm>
          <a:prstGeom prst="rect">
            <a:avLst/>
          </a:prstGeom>
          <a:noFill/>
          <a:ln/>
        </p:spPr>
        <p:txBody>
          <a:bodyPr wrap="square" lIns="0" tIns="0" rIns="0" bIns="0" rtlCol="0" anchor="ctr"/>
          <a:lstStyle/>
          <a:p>
            <a:pPr indent="0" marL="0">
              <a:buNone/>
            </a:pPr>
            <a:r>
              <a:rPr lang="en-US" sz="1800" b="1" dirty="0">
                <a:solidFill>
                  <a:srgbClr val="0E0E0E"/>
                </a:solidFill>
                <a:latin typeface="Calibri" pitchFamily="34" charset="0"/>
                <a:ea typeface="Calibri" pitchFamily="34" charset="-122"/>
                <a:cs typeface="Calibri" pitchFamily="34" charset="-120"/>
              </a:rPr>
              <a:t>Simulated output</a:t>
            </a:r>
            <a:endParaRPr lang="en-US" sz="1800" dirty="0"/>
          </a:p>
        </p:txBody>
      </p:sp>
      <p:sp>
        <p:nvSpPr>
          <p:cNvPr id="13" name="Text 11"/>
          <p:cNvSpPr txBox="1"/>
          <p:nvPr/>
        </p:nvSpPr>
        <p:spPr>
          <a:xfrm>
            <a:off x="5943600" y="4434840"/>
            <a:ext cx="5303520" cy="594360"/>
          </a:xfrm>
          <a:prstGeom prst="rect">
            <a:avLst/>
          </a:prstGeom>
          <a:noFill/>
          <a:ln/>
        </p:spPr>
        <p:txBody>
          <a:bodyPr wrap="square" lIns="0" tIns="0" rIns="0" bIns="0" rtlCol="0" anchor="ctr"/>
          <a:lstStyle/>
          <a:p>
            <a:pPr indent="0" marL="0">
              <a:buNone/>
            </a:pPr>
            <a:r>
              <a:rPr lang="en-US" sz="1800" dirty="0">
                <a:solidFill>
                  <a:srgbClr val="333333"/>
                </a:solidFill>
                <a:latin typeface="Calibri" pitchFamily="34" charset="0"/>
                <a:ea typeface="Calibri" pitchFamily="34" charset="-122"/>
                <a:cs typeface="Calibri" pitchFamily="34" charset="-120"/>
              </a:rPr>
              <a:t>is analyzed like survey or experimental data</a:t>
            </a:r>
            <a:endParaRPr lang="en-US" sz="1800" dirty="0"/>
          </a:p>
        </p:txBody>
      </p:sp>
      <p:sp>
        <p:nvSpPr>
          <p:cNvPr id="14" name="Shape 12"/>
          <p:cNvSpPr/>
          <p:nvPr/>
        </p:nvSpPr>
        <p:spPr>
          <a:xfrm>
            <a:off x="640080" y="5303520"/>
            <a:ext cx="10881360" cy="868680"/>
          </a:xfrm>
          <a:prstGeom prst="rect">
            <a:avLst/>
          </a:prstGeom>
          <a:solidFill>
            <a:srgbClr val="0E0E0E"/>
          </a:solidFill>
          <a:ln/>
        </p:spPr>
      </p:sp>
      <p:sp>
        <p:nvSpPr>
          <p:cNvPr id="15" name="Text 13"/>
          <p:cNvSpPr txBox="1"/>
          <p:nvPr/>
        </p:nvSpPr>
        <p:spPr>
          <a:xfrm>
            <a:off x="914400" y="5440680"/>
            <a:ext cx="4846320" cy="594360"/>
          </a:xfrm>
          <a:prstGeom prst="rect">
            <a:avLst/>
          </a:prstGeom>
          <a:noFill/>
          <a:ln/>
        </p:spPr>
        <p:txBody>
          <a:bodyPr wrap="square" lIns="0" tIns="0" rIns="0" bIns="0" rtlCol="0" anchor="ctr"/>
          <a:lstStyle/>
          <a:p>
            <a:pPr indent="0" marL="0">
              <a:buNone/>
            </a:pPr>
            <a:r>
              <a:rPr lang="en-US" sz="1800" b="1" dirty="0">
                <a:solidFill>
                  <a:srgbClr val="F2F2F2"/>
                </a:solidFill>
                <a:latin typeface="Calibri" pitchFamily="34" charset="0"/>
                <a:ea typeface="Calibri" pitchFamily="34" charset="-122"/>
                <a:cs typeface="Calibri" pitchFamily="34" charset="-120"/>
              </a:rPr>
              <a:t>An agent-based model</a:t>
            </a:r>
            <a:endParaRPr lang="en-US" sz="1800" dirty="0"/>
          </a:p>
        </p:txBody>
      </p:sp>
      <p:sp>
        <p:nvSpPr>
          <p:cNvPr id="16" name="Text 14"/>
          <p:cNvSpPr txBox="1"/>
          <p:nvPr/>
        </p:nvSpPr>
        <p:spPr>
          <a:xfrm>
            <a:off x="5943600" y="5440680"/>
            <a:ext cx="5303520" cy="594360"/>
          </a:xfrm>
          <a:prstGeom prst="rect">
            <a:avLst/>
          </a:prstGeom>
          <a:noFill/>
          <a:ln/>
        </p:spPr>
        <p:txBody>
          <a:bodyPr wrap="square" lIns="0" tIns="0" rIns="0" bIns="0" rtlCol="0" anchor="ctr"/>
          <a:lstStyle/>
          <a:p>
            <a:pPr indent="0" marL="0">
              <a:buNone/>
            </a:pPr>
            <a:r>
              <a:rPr lang="en-US" sz="1800" dirty="0">
                <a:solidFill>
                  <a:srgbClr val="E1E1E1"/>
                </a:solidFill>
                <a:latin typeface="Calibri" pitchFamily="34" charset="0"/>
                <a:ea typeface="Calibri" pitchFamily="34" charset="-122"/>
                <a:cs typeface="Calibri" pitchFamily="34" charset="-120"/>
              </a:rPr>
              <a:t>is a data generating process</a:t>
            </a:r>
            <a:endParaRPr lang="en-US" sz="1800" dirty="0"/>
          </a:p>
        </p:txBody>
      </p:sp>
      <p:sp>
        <p:nvSpPr>
          <p:cNvPr id="17" name="Text 15"/>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05</a:t>
            </a:r>
            <a:endParaRPr lang="en-US" sz="1000" dirty="0"/>
          </a:p>
        </p:txBody>
      </p:sp>
      <p:pic>
        <p:nvPicPr>
          <p:cNvPr id="18"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REFRAME · 3 OF 5 · EXEMPLAR</a:t>
            </a:r>
            <a:endParaRPr lang="en-US" sz="1300" dirty="0"/>
          </a:p>
        </p:txBody>
      </p:sp>
      <p:sp>
        <p:nvSpPr>
          <p:cNvPr id="4" name="Text 2"/>
          <p:cNvSpPr txBox="1"/>
          <p:nvPr/>
        </p:nvSpPr>
        <p:spPr>
          <a:xfrm>
            <a:off x="640080" y="914400"/>
            <a:ext cx="95097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Epstein (1999)</a:t>
            </a:r>
            <a:endParaRPr lang="en-US" sz="3400" dirty="0"/>
          </a:p>
        </p:txBody>
      </p:sp>
      <p:pic>
        <p:nvPicPr>
          <p:cNvPr id="5" name="Image 0" descr="assets/glyph_network.png">    </p:cNvPr>
          <p:cNvPicPr>
            <a:picLocks noChangeAspect="1"/>
          </p:cNvPicPr>
          <p:nvPr/>
        </p:nvPicPr>
        <p:blipFill>
          <a:blip r:embed="rId1"/>
          <a:stretch>
            <a:fillRect/>
          </a:stretch>
        </p:blipFill>
        <p:spPr>
          <a:xfrm>
            <a:off x="10698480" y="411480"/>
            <a:ext cx="822960" cy="822960"/>
          </a:xfrm>
          <a:prstGeom prst="rect">
            <a:avLst/>
          </a:prstGeom>
        </p:spPr>
      </p:pic>
      <p:sp>
        <p:nvSpPr>
          <p:cNvPr id="6" name="Text 3"/>
          <p:cNvSpPr txBox="1"/>
          <p:nvPr/>
        </p:nvSpPr>
        <p:spPr>
          <a:xfrm>
            <a:off x="640080" y="1645920"/>
            <a:ext cx="10058400" cy="868680"/>
          </a:xfrm>
          <a:prstGeom prst="rect">
            <a:avLst/>
          </a:prstGeom>
          <a:noFill/>
          <a:ln/>
        </p:spPr>
        <p:txBody>
          <a:bodyPr wrap="square" lIns="0" tIns="0" rIns="0" bIns="0" rtlCol="0" anchor="t"/>
          <a:lstStyle/>
          <a:p>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Epstein, J. M. (1999). Agent-based computational models and generative social science. </a:t>
            </a:r>
            <a:pPr indent="0" marL="0">
              <a:lnSpc>
                <a:spcPct val="115000"/>
              </a:lnSpc>
              <a:buNone/>
            </a:pPr>
            <a:r>
              <a:rPr lang="en-US" sz="1450" i="1" dirty="0">
                <a:solidFill>
                  <a:srgbClr val="333333"/>
                </a:solidFill>
                <a:latin typeface="Times New Roman" pitchFamily="34" charset="0"/>
                <a:ea typeface="Times New Roman" pitchFamily="34" charset="-122"/>
                <a:cs typeface="Times New Roman" pitchFamily="34" charset="-120"/>
              </a:rPr>
              <a:t>Complexity, 4</a:t>
            </a:r>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(5), 41-60.</a:t>
            </a:r>
            <a:endParaRPr lang="en-US" sz="1450" dirty="0"/>
          </a:p>
        </p:txBody>
      </p:sp>
      <p:sp>
        <p:nvSpPr>
          <p:cNvPr id="7" name="Shape 4"/>
          <p:cNvSpPr/>
          <p:nvPr/>
        </p:nvSpPr>
        <p:spPr>
          <a:xfrm>
            <a:off x="640080" y="2788920"/>
            <a:ext cx="10881360" cy="3154680"/>
          </a:xfrm>
          <a:prstGeom prst="rect">
            <a:avLst/>
          </a:prstGeom>
          <a:solidFill>
            <a:srgbClr val="E1E1E1"/>
          </a:solidFill>
          <a:ln/>
        </p:spPr>
      </p:sp>
      <p:sp>
        <p:nvSpPr>
          <p:cNvPr id="8" name="Shape 5"/>
          <p:cNvSpPr/>
          <p:nvPr/>
        </p:nvSpPr>
        <p:spPr>
          <a:xfrm>
            <a:off x="640080" y="2788920"/>
            <a:ext cx="82296" cy="3154680"/>
          </a:xfrm>
          <a:prstGeom prst="rect">
            <a:avLst/>
          </a:prstGeom>
          <a:solidFill>
            <a:srgbClr val="B60000"/>
          </a:solidFill>
          <a:ln/>
        </p:spPr>
      </p:sp>
      <p:sp>
        <p:nvSpPr>
          <p:cNvPr id="9" name="Text 6"/>
          <p:cNvSpPr txBox="1"/>
          <p:nvPr/>
        </p:nvSpPr>
        <p:spPr>
          <a:xfrm>
            <a:off x="1005840" y="3063240"/>
            <a:ext cx="9144000" cy="320040"/>
          </a:xfrm>
          <a:prstGeom prst="rect">
            <a:avLst/>
          </a:prstGeom>
          <a:noFill/>
          <a:ln/>
        </p:spPr>
        <p:txBody>
          <a:bodyPr wrap="square" lIns="0" tIns="0" rIns="0" bIns="0" rtlCol="0" anchor="ctr"/>
          <a:lstStyle/>
          <a:p>
            <a:pPr indent="0" marL="0">
              <a:buNone/>
            </a:pPr>
            <a:r>
              <a:rPr lang="en-US" sz="1200" b="1" spc="200" kern="0" dirty="0">
                <a:solidFill>
                  <a:srgbClr val="B60000"/>
                </a:solidFill>
                <a:latin typeface="Calibri" pitchFamily="34" charset="0"/>
                <a:ea typeface="Calibri" pitchFamily="34" charset="-122"/>
                <a:cs typeface="Calibri" pitchFamily="34" charset="-120"/>
              </a:rPr>
              <a:t>WHAT THIS STUDY SHOWED</a:t>
            </a:r>
            <a:endParaRPr lang="en-US" sz="1200" dirty="0"/>
          </a:p>
        </p:txBody>
      </p:sp>
      <p:sp>
        <p:nvSpPr>
          <p:cNvPr id="10" name="Text 7"/>
          <p:cNvSpPr txBox="1"/>
          <p:nvPr/>
        </p:nvSpPr>
        <p:spPr>
          <a:xfrm>
            <a:off x="1005840" y="3474720"/>
            <a:ext cx="10149840" cy="2286000"/>
          </a:xfrm>
          <a:prstGeom prst="rect">
            <a:avLst/>
          </a:prstGeom>
          <a:noFill/>
          <a:ln/>
        </p:spPr>
        <p:txBody>
          <a:bodyPr wrap="square" lIns="0" tIns="0" rIns="0" bIns="0" rtlCol="0" anchor="t"/>
          <a:lstStyle/>
          <a:p>
            <a:pPr indent="0" marL="0">
              <a:lnSpc>
                <a:spcPct val="130000"/>
              </a:lnSpc>
              <a:buNone/>
            </a:pPr>
            <a:r>
              <a:rPr lang="en-US" sz="2100" dirty="0">
                <a:solidFill>
                  <a:srgbClr val="0E0E0E"/>
                </a:solidFill>
                <a:latin typeface="Calibri" pitchFamily="34" charset="0"/>
                <a:ea typeface="Calibri" pitchFamily="34" charset="-122"/>
                <a:cs typeface="Calibri" pitchFamily="34" charset="-120"/>
              </a:rPr>
              <a:t>Demonstrated that macro-level social regularities can be generated from simple, stated micro-rules, which neither pure induction from data nor pure deduction from axioms can show in the same way: the model has to actually produce the pattern, not just be consistent with it.</a:t>
            </a:r>
            <a:endParaRPr lang="en-US" sz="2100" dirty="0"/>
          </a:p>
        </p:txBody>
      </p:sp>
      <p:sp>
        <p:nvSpPr>
          <p:cNvPr id="11"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06</a:t>
            </a:r>
            <a:endParaRPr lang="en-US" sz="1000" dirty="0"/>
          </a:p>
        </p:txBody>
      </p:sp>
      <p:pic>
        <p:nvPicPr>
          <p:cNvPr id="12"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REFRAME · 4 OF 5 · EXEMPLAR</a:t>
            </a:r>
            <a:endParaRPr lang="en-US" sz="1300" dirty="0"/>
          </a:p>
        </p:txBody>
      </p:sp>
      <p:sp>
        <p:nvSpPr>
          <p:cNvPr id="4" name="Text 2"/>
          <p:cNvSpPr txBox="1"/>
          <p:nvPr/>
        </p:nvSpPr>
        <p:spPr>
          <a:xfrm>
            <a:off x="640080" y="914400"/>
            <a:ext cx="95097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Kozlowski et al. (2013)</a:t>
            </a:r>
            <a:endParaRPr lang="en-US" sz="3400" dirty="0"/>
          </a:p>
        </p:txBody>
      </p:sp>
      <p:pic>
        <p:nvPicPr>
          <p:cNvPr id="5" name="Image 0" descr="assets/glyph_network.png">    </p:cNvPr>
          <p:cNvPicPr>
            <a:picLocks noChangeAspect="1"/>
          </p:cNvPicPr>
          <p:nvPr/>
        </p:nvPicPr>
        <p:blipFill>
          <a:blip r:embed="rId1"/>
          <a:stretch>
            <a:fillRect/>
          </a:stretch>
        </p:blipFill>
        <p:spPr>
          <a:xfrm>
            <a:off x="10698480" y="411480"/>
            <a:ext cx="822960" cy="822960"/>
          </a:xfrm>
          <a:prstGeom prst="rect">
            <a:avLst/>
          </a:prstGeom>
        </p:spPr>
      </p:pic>
      <p:sp>
        <p:nvSpPr>
          <p:cNvPr id="6" name="Text 3"/>
          <p:cNvSpPr txBox="1"/>
          <p:nvPr/>
        </p:nvSpPr>
        <p:spPr>
          <a:xfrm>
            <a:off x="640080" y="1645920"/>
            <a:ext cx="10058400" cy="868680"/>
          </a:xfrm>
          <a:prstGeom prst="rect">
            <a:avLst/>
          </a:prstGeom>
          <a:noFill/>
          <a:ln/>
        </p:spPr>
        <p:txBody>
          <a:bodyPr wrap="square" lIns="0" tIns="0" rIns="0" bIns="0" rtlCol="0" anchor="t"/>
          <a:lstStyle/>
          <a:p>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Kozlowski, S. W. J., Chao, G. T., Grand, J. A., Braun, M. T., &amp; Kuljanin, G. (2013). Advancing multilevel research design: Capturing the dynamics of emergence. </a:t>
            </a:r>
            <a:pPr indent="0" marL="0">
              <a:lnSpc>
                <a:spcPct val="115000"/>
              </a:lnSpc>
              <a:buNone/>
            </a:pPr>
            <a:r>
              <a:rPr lang="en-US" sz="1450" i="1" dirty="0">
                <a:solidFill>
                  <a:srgbClr val="333333"/>
                </a:solidFill>
                <a:latin typeface="Times New Roman" pitchFamily="34" charset="0"/>
                <a:ea typeface="Times New Roman" pitchFamily="34" charset="-122"/>
                <a:cs typeface="Times New Roman" pitchFamily="34" charset="-120"/>
              </a:rPr>
              <a:t>Organizational Research Methods, 16</a:t>
            </a:r>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(4), 581-615. (ORM Best Paper, 2013.)</a:t>
            </a:r>
            <a:endParaRPr lang="en-US" sz="1450" dirty="0"/>
          </a:p>
        </p:txBody>
      </p:sp>
      <p:sp>
        <p:nvSpPr>
          <p:cNvPr id="7" name="Shape 4"/>
          <p:cNvSpPr/>
          <p:nvPr/>
        </p:nvSpPr>
        <p:spPr>
          <a:xfrm>
            <a:off x="640080" y="2788920"/>
            <a:ext cx="10881360" cy="3154680"/>
          </a:xfrm>
          <a:prstGeom prst="rect">
            <a:avLst/>
          </a:prstGeom>
          <a:solidFill>
            <a:srgbClr val="E1E1E1"/>
          </a:solidFill>
          <a:ln/>
        </p:spPr>
      </p:sp>
      <p:sp>
        <p:nvSpPr>
          <p:cNvPr id="8" name="Shape 5"/>
          <p:cNvSpPr/>
          <p:nvPr/>
        </p:nvSpPr>
        <p:spPr>
          <a:xfrm>
            <a:off x="640080" y="2788920"/>
            <a:ext cx="82296" cy="3154680"/>
          </a:xfrm>
          <a:prstGeom prst="rect">
            <a:avLst/>
          </a:prstGeom>
          <a:solidFill>
            <a:srgbClr val="B60000"/>
          </a:solidFill>
          <a:ln/>
        </p:spPr>
      </p:sp>
      <p:sp>
        <p:nvSpPr>
          <p:cNvPr id="9" name="Text 6"/>
          <p:cNvSpPr txBox="1"/>
          <p:nvPr/>
        </p:nvSpPr>
        <p:spPr>
          <a:xfrm>
            <a:off x="1005840" y="3063240"/>
            <a:ext cx="9144000" cy="320040"/>
          </a:xfrm>
          <a:prstGeom prst="rect">
            <a:avLst/>
          </a:prstGeom>
          <a:noFill/>
          <a:ln/>
        </p:spPr>
        <p:txBody>
          <a:bodyPr wrap="square" lIns="0" tIns="0" rIns="0" bIns="0" rtlCol="0" anchor="ctr"/>
          <a:lstStyle/>
          <a:p>
            <a:pPr indent="0" marL="0">
              <a:buNone/>
            </a:pPr>
            <a:r>
              <a:rPr lang="en-US" sz="1200" b="1" spc="200" kern="0" dirty="0">
                <a:solidFill>
                  <a:srgbClr val="B60000"/>
                </a:solidFill>
                <a:latin typeface="Calibri" pitchFamily="34" charset="0"/>
                <a:ea typeface="Calibri" pitchFamily="34" charset="-122"/>
                <a:cs typeface="Calibri" pitchFamily="34" charset="-120"/>
              </a:rPr>
              <a:t>WHAT THIS STUDY SHOWED</a:t>
            </a:r>
            <a:endParaRPr lang="en-US" sz="1200" dirty="0"/>
          </a:p>
        </p:txBody>
      </p:sp>
      <p:sp>
        <p:nvSpPr>
          <p:cNvPr id="10" name="Text 7"/>
          <p:cNvSpPr txBox="1"/>
          <p:nvPr/>
        </p:nvSpPr>
        <p:spPr>
          <a:xfrm>
            <a:off x="1005840" y="3474720"/>
            <a:ext cx="10149840" cy="2286000"/>
          </a:xfrm>
          <a:prstGeom prst="rect">
            <a:avLst/>
          </a:prstGeom>
          <a:noFill/>
          <a:ln/>
        </p:spPr>
        <p:txBody>
          <a:bodyPr wrap="square" lIns="0" tIns="0" rIns="0" bIns="0" rtlCol="0" anchor="t"/>
          <a:lstStyle/>
          <a:p>
            <a:pPr indent="0" marL="0">
              <a:lnSpc>
                <a:spcPct val="130000"/>
              </a:lnSpc>
              <a:buNone/>
            </a:pPr>
            <a:r>
              <a:rPr lang="en-US" sz="2100" dirty="0">
                <a:solidFill>
                  <a:srgbClr val="0E0E0E"/>
                </a:solidFill>
                <a:latin typeface="Calibri" pitchFamily="34" charset="0"/>
                <a:ea typeface="Calibri" pitchFamily="34" charset="-122"/>
                <a:cs typeface="Calibri" pitchFamily="34" charset="-120"/>
              </a:rPr>
              <a:t>Proposed a research paradigm connecting theory, computational modeling, and data analysis so that emergence is examined directly as it unfolds, rather than inferred after the fact from the construct validity of a higher-level measure.</a:t>
            </a:r>
            <a:endParaRPr lang="en-US" sz="2100" dirty="0"/>
          </a:p>
        </p:txBody>
      </p:sp>
      <p:sp>
        <p:nvSpPr>
          <p:cNvPr id="11"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07</a:t>
            </a:r>
            <a:endParaRPr lang="en-US" sz="1000" dirty="0"/>
          </a:p>
        </p:txBody>
      </p:sp>
      <p:pic>
        <p:nvPicPr>
          <p:cNvPr id="12"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REFRAME · 5 OF 5 · EXEMPLAR</a:t>
            </a:r>
            <a:endParaRPr lang="en-US" sz="1300" dirty="0"/>
          </a:p>
        </p:txBody>
      </p:sp>
      <p:sp>
        <p:nvSpPr>
          <p:cNvPr id="4" name="Text 2"/>
          <p:cNvSpPr txBox="1"/>
          <p:nvPr/>
        </p:nvSpPr>
        <p:spPr>
          <a:xfrm>
            <a:off x="640080" y="914400"/>
            <a:ext cx="95097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Kozlowski et al. (2016)</a:t>
            </a:r>
            <a:endParaRPr lang="en-US" sz="3400" dirty="0"/>
          </a:p>
        </p:txBody>
      </p:sp>
      <p:pic>
        <p:nvPicPr>
          <p:cNvPr id="5" name="Image 0" descr="assets/glyph_network.png">    </p:cNvPr>
          <p:cNvPicPr>
            <a:picLocks noChangeAspect="1"/>
          </p:cNvPicPr>
          <p:nvPr/>
        </p:nvPicPr>
        <p:blipFill>
          <a:blip r:embed="rId1"/>
          <a:stretch>
            <a:fillRect/>
          </a:stretch>
        </p:blipFill>
        <p:spPr>
          <a:xfrm>
            <a:off x="10698480" y="411480"/>
            <a:ext cx="822960" cy="822960"/>
          </a:xfrm>
          <a:prstGeom prst="rect">
            <a:avLst/>
          </a:prstGeom>
        </p:spPr>
      </p:pic>
      <p:sp>
        <p:nvSpPr>
          <p:cNvPr id="6" name="Text 3"/>
          <p:cNvSpPr txBox="1"/>
          <p:nvPr/>
        </p:nvSpPr>
        <p:spPr>
          <a:xfrm>
            <a:off x="640080" y="1645920"/>
            <a:ext cx="10058400" cy="868680"/>
          </a:xfrm>
          <a:prstGeom prst="rect">
            <a:avLst/>
          </a:prstGeom>
          <a:noFill/>
          <a:ln/>
        </p:spPr>
        <p:txBody>
          <a:bodyPr wrap="square" lIns="0" tIns="0" rIns="0" bIns="0" rtlCol="0" anchor="t"/>
          <a:lstStyle/>
          <a:p>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Kozlowski, S. W. J., Chao, G. T., Grand, J. A., Braun, M. T., &amp; Kuljanin, G. (2016). Capturing the multilevel dynamics of emergence: Computational modeling, simulation, and virtual experimentation. </a:t>
            </a:r>
            <a:pPr indent="0" marL="0">
              <a:lnSpc>
                <a:spcPct val="115000"/>
              </a:lnSpc>
              <a:buNone/>
            </a:pPr>
            <a:r>
              <a:rPr lang="en-US" sz="1450" i="1" dirty="0">
                <a:solidFill>
                  <a:srgbClr val="333333"/>
                </a:solidFill>
                <a:latin typeface="Times New Roman" pitchFamily="34" charset="0"/>
                <a:ea typeface="Times New Roman" pitchFamily="34" charset="-122"/>
                <a:cs typeface="Times New Roman" pitchFamily="34" charset="-120"/>
              </a:rPr>
              <a:t>Organizational Psychology Review, 6</a:t>
            </a:r>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(1), 3-33.</a:t>
            </a:r>
            <a:endParaRPr lang="en-US" sz="1450" dirty="0"/>
          </a:p>
        </p:txBody>
      </p:sp>
      <p:sp>
        <p:nvSpPr>
          <p:cNvPr id="7" name="Shape 4"/>
          <p:cNvSpPr/>
          <p:nvPr/>
        </p:nvSpPr>
        <p:spPr>
          <a:xfrm>
            <a:off x="640080" y="2788920"/>
            <a:ext cx="10881360" cy="3154680"/>
          </a:xfrm>
          <a:prstGeom prst="rect">
            <a:avLst/>
          </a:prstGeom>
          <a:solidFill>
            <a:srgbClr val="E1E1E1"/>
          </a:solidFill>
          <a:ln/>
        </p:spPr>
      </p:sp>
      <p:sp>
        <p:nvSpPr>
          <p:cNvPr id="8" name="Shape 5"/>
          <p:cNvSpPr/>
          <p:nvPr/>
        </p:nvSpPr>
        <p:spPr>
          <a:xfrm>
            <a:off x="640080" y="2788920"/>
            <a:ext cx="82296" cy="3154680"/>
          </a:xfrm>
          <a:prstGeom prst="rect">
            <a:avLst/>
          </a:prstGeom>
          <a:solidFill>
            <a:srgbClr val="B60000"/>
          </a:solidFill>
          <a:ln/>
        </p:spPr>
      </p:sp>
      <p:sp>
        <p:nvSpPr>
          <p:cNvPr id="9" name="Text 6"/>
          <p:cNvSpPr txBox="1"/>
          <p:nvPr/>
        </p:nvSpPr>
        <p:spPr>
          <a:xfrm>
            <a:off x="1005840" y="3063240"/>
            <a:ext cx="9144000" cy="320040"/>
          </a:xfrm>
          <a:prstGeom prst="rect">
            <a:avLst/>
          </a:prstGeom>
          <a:noFill/>
          <a:ln/>
        </p:spPr>
        <p:txBody>
          <a:bodyPr wrap="square" lIns="0" tIns="0" rIns="0" bIns="0" rtlCol="0" anchor="ctr"/>
          <a:lstStyle/>
          <a:p>
            <a:pPr indent="0" marL="0">
              <a:buNone/>
            </a:pPr>
            <a:r>
              <a:rPr lang="en-US" sz="1200" b="1" spc="200" kern="0" dirty="0">
                <a:solidFill>
                  <a:srgbClr val="B60000"/>
                </a:solidFill>
                <a:latin typeface="Calibri" pitchFamily="34" charset="0"/>
                <a:ea typeface="Calibri" pitchFamily="34" charset="-122"/>
                <a:cs typeface="Calibri" pitchFamily="34" charset="-120"/>
              </a:rPr>
              <a:t>WHAT THIS STUDY SHOWED</a:t>
            </a:r>
            <a:endParaRPr lang="en-US" sz="1200" dirty="0"/>
          </a:p>
        </p:txBody>
      </p:sp>
      <p:sp>
        <p:nvSpPr>
          <p:cNvPr id="10" name="Text 7"/>
          <p:cNvSpPr txBox="1"/>
          <p:nvPr/>
        </p:nvSpPr>
        <p:spPr>
          <a:xfrm>
            <a:off x="1005840" y="3474720"/>
            <a:ext cx="10149840" cy="2286000"/>
          </a:xfrm>
          <a:prstGeom prst="rect">
            <a:avLst/>
          </a:prstGeom>
          <a:noFill/>
          <a:ln/>
        </p:spPr>
        <p:txBody>
          <a:bodyPr wrap="square" lIns="0" tIns="0" rIns="0" bIns="0" rtlCol="0" anchor="t"/>
          <a:lstStyle/>
          <a:p>
            <a:pPr indent="0" marL="0">
              <a:lnSpc>
                <a:spcPct val="130000"/>
              </a:lnSpc>
              <a:buNone/>
            </a:pPr>
            <a:r>
              <a:rPr lang="en-US" sz="2100" dirty="0">
                <a:solidFill>
                  <a:srgbClr val="0E0E0E"/>
                </a:solidFill>
                <a:latin typeface="Calibri" pitchFamily="34" charset="0"/>
                <a:ea typeface="Calibri" pitchFamily="34" charset="-122"/>
                <a:cs typeface="Calibri" pitchFamily="34" charset="-120"/>
              </a:rPr>
              <a:t>Laid out computational modeling, agent-based simulation, and virtual experimentation as a working strategy for studying emergence in teams, treating the simulation as a laboratory in which an emergent process can be manipulated and watched directly.</a:t>
            </a:r>
            <a:endParaRPr lang="en-US" sz="2100" dirty="0"/>
          </a:p>
        </p:txBody>
      </p:sp>
      <p:sp>
        <p:nvSpPr>
          <p:cNvPr id="11"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08</a:t>
            </a:r>
            <a:endParaRPr lang="en-US" sz="1000" dirty="0"/>
          </a:p>
        </p:txBody>
      </p:sp>
      <p:pic>
        <p:nvPicPr>
          <p:cNvPr id="12"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E0E"/>
        </a:solidFill>
      </p:bgPr>
    </p:bg>
    <p:spTree>
      <p:nvGrpSpPr>
        <p:cNvPr id="1" name=""/>
        <p:cNvGrpSpPr/>
        <p:nvPr/>
      </p:nvGrpSpPr>
      <p:grpSpPr>
        <a:xfrm>
          <a:off x="0" y="0"/>
          <a:ext cx="0" cy="0"/>
          <a:chOff x="0" y="0"/>
          <a:chExt cx="0" cy="0"/>
        </a:xfrm>
      </p:grpSpPr>
      <p:pic>
        <p:nvPicPr>
          <p:cNvPr id="2" name="Image 0" descr="assets/art_anatomy.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82296" cy="6858000"/>
          </a:xfrm>
          <a:prstGeom prst="rect">
            <a:avLst/>
          </a:prstGeom>
          <a:solidFill>
            <a:srgbClr val="B60000"/>
          </a:solidFill>
          <a:ln/>
        </p:spPr>
      </p:sp>
      <p:sp>
        <p:nvSpPr>
          <p:cNvPr id="4" name="Text 1"/>
          <p:cNvSpPr txBox="1"/>
          <p:nvPr/>
        </p:nvSpPr>
        <p:spPr>
          <a:xfrm>
            <a:off x="731520" y="685800"/>
            <a:ext cx="4572000" cy="1737360"/>
          </a:xfrm>
          <a:prstGeom prst="rect">
            <a:avLst/>
          </a:prstGeom>
          <a:noFill/>
          <a:ln/>
        </p:spPr>
        <p:txBody>
          <a:bodyPr wrap="square" lIns="0" tIns="0" rIns="0" bIns="0" rtlCol="0" anchor="ctr"/>
          <a:lstStyle/>
          <a:p>
            <a:pPr indent="0" marL="0">
              <a:buNone/>
            </a:pPr>
            <a:r>
              <a:rPr lang="en-US" sz="13200" b="1" dirty="0">
                <a:solidFill>
                  <a:srgbClr val="333333"/>
                </a:solidFill>
                <a:latin typeface="Calibri" pitchFamily="34" charset="0"/>
                <a:ea typeface="Calibri" pitchFamily="34" charset="-122"/>
                <a:cs typeface="Calibri" pitchFamily="34" charset="-120"/>
              </a:rPr>
              <a:t>02</a:t>
            </a:r>
            <a:endParaRPr lang="en-US" sz="13200" dirty="0"/>
          </a:p>
        </p:txBody>
      </p:sp>
      <p:sp>
        <p:nvSpPr>
          <p:cNvPr id="5" name="Text 2"/>
          <p:cNvSpPr txBox="1"/>
          <p:nvPr/>
        </p:nvSpPr>
        <p:spPr>
          <a:xfrm>
            <a:off x="822960" y="2697480"/>
            <a:ext cx="5943600" cy="365760"/>
          </a:xfrm>
          <a:prstGeom prst="rect">
            <a:avLst/>
          </a:prstGeom>
          <a:noFill/>
          <a:ln/>
        </p:spPr>
        <p:txBody>
          <a:bodyPr wrap="square" lIns="0" tIns="0" rIns="0" bIns="0" rtlCol="0" anchor="ctr"/>
          <a:lstStyle/>
          <a:p>
            <a:pPr indent="0" marL="0">
              <a:buNone/>
            </a:pPr>
            <a:r>
              <a:rPr lang="en-US" sz="1400" b="1" spc="300" kern="0" dirty="0">
                <a:solidFill>
                  <a:srgbClr val="E1E1E1"/>
                </a:solidFill>
                <a:latin typeface="Calibri" pitchFamily="34" charset="0"/>
                <a:ea typeface="Calibri" pitchFamily="34" charset="-122"/>
                <a:cs typeface="Calibri" pitchFamily="34" charset="-120"/>
              </a:rPr>
              <a:t>PART 02 · ANATOMY</a:t>
            </a:r>
            <a:endParaRPr lang="en-US" sz="1400" dirty="0"/>
          </a:p>
        </p:txBody>
      </p:sp>
      <p:sp>
        <p:nvSpPr>
          <p:cNvPr id="6" name="Text 3"/>
          <p:cNvSpPr txBox="1"/>
          <p:nvPr/>
        </p:nvSpPr>
        <p:spPr>
          <a:xfrm>
            <a:off x="822960" y="3108960"/>
            <a:ext cx="5669280" cy="1463040"/>
          </a:xfrm>
          <a:prstGeom prst="rect">
            <a:avLst/>
          </a:prstGeom>
          <a:noFill/>
          <a:ln/>
        </p:spPr>
        <p:txBody>
          <a:bodyPr wrap="square" lIns="0" tIns="0" rIns="0" bIns="0" rtlCol="0" anchor="t"/>
          <a:lstStyle/>
          <a:p>
            <a:pPr indent="0" marL="0">
              <a:lnSpc>
                <a:spcPct val="100000"/>
              </a:lnSpc>
              <a:buNone/>
            </a:pPr>
            <a:r>
              <a:rPr lang="en-US" sz="4200" b="1" dirty="0">
                <a:solidFill>
                  <a:srgbClr val="F2F2F2"/>
                </a:solidFill>
                <a:latin typeface="Calibri" pitchFamily="34" charset="0"/>
                <a:ea typeface="Calibri" pitchFamily="34" charset="-122"/>
                <a:cs typeface="Calibri" pitchFamily="34" charset="-120"/>
              </a:rPr>
              <a:t>What a model has to say out loud</a:t>
            </a:r>
            <a:endParaRPr lang="en-US" sz="4200" dirty="0"/>
          </a:p>
        </p:txBody>
      </p:sp>
      <p:sp>
        <p:nvSpPr>
          <p:cNvPr id="7" name="Shape 4"/>
          <p:cNvSpPr/>
          <p:nvPr/>
        </p:nvSpPr>
        <p:spPr>
          <a:xfrm>
            <a:off x="822960" y="4709160"/>
            <a:ext cx="1005840" cy="54864"/>
          </a:xfrm>
          <a:prstGeom prst="rect">
            <a:avLst/>
          </a:prstGeom>
          <a:solidFill>
            <a:srgbClr val="B60000"/>
          </a:solidFill>
          <a:ln/>
        </p:spPr>
      </p:sp>
      <p:sp>
        <p:nvSpPr>
          <p:cNvPr id="8" name="Text 5"/>
          <p:cNvSpPr txBox="1"/>
          <p:nvPr/>
        </p:nvSpPr>
        <p:spPr>
          <a:xfrm>
            <a:off x="822960" y="4937760"/>
            <a:ext cx="5852160" cy="1005840"/>
          </a:xfrm>
          <a:prstGeom prst="rect">
            <a:avLst/>
          </a:prstGeom>
          <a:noFill/>
          <a:ln/>
        </p:spPr>
        <p:txBody>
          <a:bodyPr wrap="square" lIns="0" tIns="0" rIns="0" bIns="0" rtlCol="0" anchor="t"/>
          <a:lstStyle/>
          <a:p>
            <a:pPr indent="0" marL="0">
              <a:lnSpc>
                <a:spcPct val="125000"/>
              </a:lnSpc>
              <a:buNone/>
            </a:pPr>
            <a:r>
              <a:rPr lang="en-US" sz="1700" dirty="0">
                <a:solidFill>
                  <a:srgbClr val="E1E1E1"/>
                </a:solidFill>
                <a:latin typeface="Calibri" pitchFamily="34" charset="0"/>
                <a:ea typeface="Calibri" pitchFamily="34" charset="-122"/>
                <a:cs typeface="Calibri" pitchFamily="34" charset="-120"/>
              </a:rPr>
              <a:t>Agents, attributes, rules, environment, time, and stochasticity as formalized verbal theory.</a:t>
            </a:r>
            <a:endParaRPr lang="en-US" sz="1700" dirty="0"/>
          </a:p>
        </p:txBody>
      </p:sp>
      <p:sp>
        <p:nvSpPr>
          <p:cNvPr id="9" name="Text 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E1E1E1"/>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E1E1E1"/>
                </a:solidFill>
                <a:latin typeface="Courier New" pitchFamily="34" charset="0"/>
                <a:ea typeface="Courier New" pitchFamily="34" charset="-122"/>
                <a:cs typeface="Courier New" pitchFamily="34" charset="-120"/>
              </a:rPr>
              <a:t>tick 09</a:t>
            </a:r>
            <a:endParaRPr lang="en-US" sz="1000" dirty="0"/>
          </a:p>
        </p:txBody>
      </p:sp>
      <p:pic>
        <p:nvPicPr>
          <p:cNvPr id="10" name="Image 1" descr="assets/ncite_logo_white.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ANATOMY · 1 OF 5</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Six things every model has</a:t>
            </a:r>
            <a:endParaRPr lang="en-US" sz="3400" dirty="0"/>
          </a:p>
        </p:txBody>
      </p:sp>
      <p:sp>
        <p:nvSpPr>
          <p:cNvPr id="5" name="Shape 3"/>
          <p:cNvSpPr/>
          <p:nvPr/>
        </p:nvSpPr>
        <p:spPr>
          <a:xfrm>
            <a:off x="640080" y="2103120"/>
            <a:ext cx="3429000" cy="1737360"/>
          </a:xfrm>
          <a:prstGeom prst="rect">
            <a:avLst/>
          </a:prstGeom>
          <a:solidFill>
            <a:srgbClr val="E1E1E1"/>
          </a:solidFill>
          <a:ln/>
        </p:spPr>
      </p:sp>
      <p:sp>
        <p:nvSpPr>
          <p:cNvPr id="6" name="Shape 4"/>
          <p:cNvSpPr/>
          <p:nvPr/>
        </p:nvSpPr>
        <p:spPr>
          <a:xfrm>
            <a:off x="868680" y="2331720"/>
            <a:ext cx="457200" cy="457200"/>
          </a:xfrm>
          <a:prstGeom prst="ellipse">
            <a:avLst/>
          </a:prstGeom>
          <a:solidFill>
            <a:srgbClr val="0E0E0E"/>
          </a:solidFill>
          <a:ln/>
        </p:spPr>
      </p:sp>
      <p:sp>
        <p:nvSpPr>
          <p:cNvPr id="7" name="Text 5"/>
          <p:cNvSpPr txBox="1"/>
          <p:nvPr/>
        </p:nvSpPr>
        <p:spPr>
          <a:xfrm>
            <a:off x="868680" y="2331720"/>
            <a:ext cx="457200" cy="457200"/>
          </a:xfrm>
          <a:prstGeom prst="rect">
            <a:avLst/>
          </a:prstGeom>
          <a:noFill/>
          <a:ln/>
        </p:spPr>
        <p:txBody>
          <a:bodyPr wrap="square" lIns="0" tIns="0" rIns="0" bIns="0" rtlCol="0" anchor="ctr"/>
          <a:lstStyle/>
          <a:p>
            <a:pPr algn="ctr" indent="0" marL="0">
              <a:buNone/>
            </a:pPr>
            <a:r>
              <a:rPr lang="en-US" sz="1600" b="1" dirty="0">
                <a:solidFill>
                  <a:srgbClr val="F2F2F2"/>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868680" y="2926080"/>
            <a:ext cx="2971800" cy="411480"/>
          </a:xfrm>
          <a:prstGeom prst="rect">
            <a:avLst/>
          </a:prstGeom>
          <a:noFill/>
          <a:ln/>
        </p:spPr>
        <p:txBody>
          <a:bodyPr wrap="square" lIns="0" tIns="0" rIns="0" bIns="0" rtlCol="0" anchor="ctr"/>
          <a:lstStyle/>
          <a:p>
            <a:pPr indent="0" marL="0">
              <a:buNone/>
            </a:pPr>
            <a:r>
              <a:rPr lang="en-US" sz="1900" b="1" dirty="0">
                <a:solidFill>
                  <a:srgbClr val="0E0E0E"/>
                </a:solidFill>
                <a:latin typeface="Calibri" pitchFamily="34" charset="0"/>
                <a:ea typeface="Calibri" pitchFamily="34" charset="-122"/>
                <a:cs typeface="Calibri" pitchFamily="34" charset="-120"/>
              </a:rPr>
              <a:t>Agents</a:t>
            </a:r>
            <a:endParaRPr lang="en-US" sz="1900" dirty="0"/>
          </a:p>
        </p:txBody>
      </p:sp>
      <p:sp>
        <p:nvSpPr>
          <p:cNvPr id="9" name="Text 7"/>
          <p:cNvSpPr txBox="1"/>
          <p:nvPr/>
        </p:nvSpPr>
        <p:spPr>
          <a:xfrm>
            <a:off x="868680" y="3337560"/>
            <a:ext cx="2971800" cy="411480"/>
          </a:xfrm>
          <a:prstGeom prst="rect">
            <a:avLst/>
          </a:prstGeom>
          <a:noFill/>
          <a:ln/>
        </p:spPr>
        <p:txBody>
          <a:bodyPr wrap="square" lIns="0" tIns="0" rIns="0" bIns="0" rtlCol="0" anchor="ctr"/>
          <a:lstStyle/>
          <a:p>
            <a:pPr indent="0" marL="0">
              <a:buNone/>
            </a:pPr>
            <a:r>
              <a:rPr lang="en-US" sz="1350" dirty="0">
                <a:solidFill>
                  <a:srgbClr val="333333"/>
                </a:solidFill>
                <a:latin typeface="Calibri" pitchFamily="34" charset="0"/>
                <a:ea typeface="Calibri" pitchFamily="34" charset="-122"/>
                <a:cs typeface="Calibri" pitchFamily="34" charset="-120"/>
              </a:rPr>
              <a:t>who is acting</a:t>
            </a:r>
            <a:endParaRPr lang="en-US" sz="1350" dirty="0"/>
          </a:p>
        </p:txBody>
      </p:sp>
      <p:sp>
        <p:nvSpPr>
          <p:cNvPr id="10" name="Shape 8"/>
          <p:cNvSpPr/>
          <p:nvPr/>
        </p:nvSpPr>
        <p:spPr>
          <a:xfrm>
            <a:off x="4297680" y="2103120"/>
            <a:ext cx="3429000" cy="1737360"/>
          </a:xfrm>
          <a:prstGeom prst="rect">
            <a:avLst/>
          </a:prstGeom>
          <a:solidFill>
            <a:srgbClr val="E1E1E1"/>
          </a:solidFill>
          <a:ln/>
        </p:spPr>
      </p:sp>
      <p:sp>
        <p:nvSpPr>
          <p:cNvPr id="11" name="Shape 9"/>
          <p:cNvSpPr/>
          <p:nvPr/>
        </p:nvSpPr>
        <p:spPr>
          <a:xfrm>
            <a:off x="4526280" y="2331720"/>
            <a:ext cx="457200" cy="457200"/>
          </a:xfrm>
          <a:prstGeom prst="ellipse">
            <a:avLst/>
          </a:prstGeom>
          <a:solidFill>
            <a:srgbClr val="0E0E0E"/>
          </a:solidFill>
          <a:ln/>
        </p:spPr>
      </p:sp>
      <p:sp>
        <p:nvSpPr>
          <p:cNvPr id="12" name="Text 10"/>
          <p:cNvSpPr txBox="1"/>
          <p:nvPr/>
        </p:nvSpPr>
        <p:spPr>
          <a:xfrm>
            <a:off x="4526280" y="2331720"/>
            <a:ext cx="457200" cy="457200"/>
          </a:xfrm>
          <a:prstGeom prst="rect">
            <a:avLst/>
          </a:prstGeom>
          <a:noFill/>
          <a:ln/>
        </p:spPr>
        <p:txBody>
          <a:bodyPr wrap="square" lIns="0" tIns="0" rIns="0" bIns="0" rtlCol="0" anchor="ctr"/>
          <a:lstStyle/>
          <a:p>
            <a:pPr algn="ctr" indent="0" marL="0">
              <a:buNone/>
            </a:pPr>
            <a:r>
              <a:rPr lang="en-US" sz="1600" b="1" dirty="0">
                <a:solidFill>
                  <a:srgbClr val="F2F2F2"/>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526280" y="2926080"/>
            <a:ext cx="2971800" cy="411480"/>
          </a:xfrm>
          <a:prstGeom prst="rect">
            <a:avLst/>
          </a:prstGeom>
          <a:noFill/>
          <a:ln/>
        </p:spPr>
        <p:txBody>
          <a:bodyPr wrap="square" lIns="0" tIns="0" rIns="0" bIns="0" rtlCol="0" anchor="ctr"/>
          <a:lstStyle/>
          <a:p>
            <a:pPr indent="0" marL="0">
              <a:buNone/>
            </a:pPr>
            <a:r>
              <a:rPr lang="en-US" sz="1900" b="1" dirty="0">
                <a:solidFill>
                  <a:srgbClr val="0E0E0E"/>
                </a:solidFill>
                <a:latin typeface="Calibri" pitchFamily="34" charset="0"/>
                <a:ea typeface="Calibri" pitchFamily="34" charset="-122"/>
                <a:cs typeface="Calibri" pitchFamily="34" charset="-120"/>
              </a:rPr>
              <a:t>Attributes</a:t>
            </a:r>
            <a:endParaRPr lang="en-US" sz="1900" dirty="0"/>
          </a:p>
        </p:txBody>
      </p:sp>
      <p:sp>
        <p:nvSpPr>
          <p:cNvPr id="14" name="Text 12"/>
          <p:cNvSpPr txBox="1"/>
          <p:nvPr/>
        </p:nvSpPr>
        <p:spPr>
          <a:xfrm>
            <a:off x="4526280" y="3337560"/>
            <a:ext cx="2971800" cy="411480"/>
          </a:xfrm>
          <a:prstGeom prst="rect">
            <a:avLst/>
          </a:prstGeom>
          <a:noFill/>
          <a:ln/>
        </p:spPr>
        <p:txBody>
          <a:bodyPr wrap="square" lIns="0" tIns="0" rIns="0" bIns="0" rtlCol="0" anchor="ctr"/>
          <a:lstStyle/>
          <a:p>
            <a:pPr indent="0" marL="0">
              <a:buNone/>
            </a:pPr>
            <a:r>
              <a:rPr lang="en-US" sz="1350" dirty="0">
                <a:solidFill>
                  <a:srgbClr val="333333"/>
                </a:solidFill>
                <a:latin typeface="Calibri" pitchFamily="34" charset="0"/>
                <a:ea typeface="Calibri" pitchFamily="34" charset="-122"/>
                <a:cs typeface="Calibri" pitchFamily="34" charset="-120"/>
              </a:rPr>
              <a:t>what varies across them</a:t>
            </a:r>
            <a:endParaRPr lang="en-US" sz="1350" dirty="0"/>
          </a:p>
        </p:txBody>
      </p:sp>
      <p:sp>
        <p:nvSpPr>
          <p:cNvPr id="15" name="Shape 13"/>
          <p:cNvSpPr/>
          <p:nvPr/>
        </p:nvSpPr>
        <p:spPr>
          <a:xfrm>
            <a:off x="7955280" y="2103120"/>
            <a:ext cx="3429000" cy="1737360"/>
          </a:xfrm>
          <a:prstGeom prst="rect">
            <a:avLst/>
          </a:prstGeom>
          <a:solidFill>
            <a:srgbClr val="E1E1E1"/>
          </a:solidFill>
          <a:ln/>
        </p:spPr>
      </p:sp>
      <p:sp>
        <p:nvSpPr>
          <p:cNvPr id="16" name="Shape 14"/>
          <p:cNvSpPr/>
          <p:nvPr/>
        </p:nvSpPr>
        <p:spPr>
          <a:xfrm>
            <a:off x="8183880" y="2331720"/>
            <a:ext cx="457200" cy="457200"/>
          </a:xfrm>
          <a:prstGeom prst="ellipse">
            <a:avLst/>
          </a:prstGeom>
          <a:solidFill>
            <a:srgbClr val="0E0E0E"/>
          </a:solidFill>
          <a:ln/>
        </p:spPr>
      </p:sp>
      <p:sp>
        <p:nvSpPr>
          <p:cNvPr id="17" name="Text 15"/>
          <p:cNvSpPr txBox="1"/>
          <p:nvPr/>
        </p:nvSpPr>
        <p:spPr>
          <a:xfrm>
            <a:off x="8183880" y="2331720"/>
            <a:ext cx="457200" cy="457200"/>
          </a:xfrm>
          <a:prstGeom prst="rect">
            <a:avLst/>
          </a:prstGeom>
          <a:noFill/>
          <a:ln/>
        </p:spPr>
        <p:txBody>
          <a:bodyPr wrap="square" lIns="0" tIns="0" rIns="0" bIns="0" rtlCol="0" anchor="ctr"/>
          <a:lstStyle/>
          <a:p>
            <a:pPr algn="ctr" indent="0" marL="0">
              <a:buNone/>
            </a:pPr>
            <a:r>
              <a:rPr lang="en-US" sz="1600" b="1" dirty="0">
                <a:solidFill>
                  <a:srgbClr val="F2F2F2"/>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8183880" y="2926080"/>
            <a:ext cx="2971800" cy="411480"/>
          </a:xfrm>
          <a:prstGeom prst="rect">
            <a:avLst/>
          </a:prstGeom>
          <a:noFill/>
          <a:ln/>
        </p:spPr>
        <p:txBody>
          <a:bodyPr wrap="square" lIns="0" tIns="0" rIns="0" bIns="0" rtlCol="0" anchor="ctr"/>
          <a:lstStyle/>
          <a:p>
            <a:pPr indent="0" marL="0">
              <a:buNone/>
            </a:pPr>
            <a:r>
              <a:rPr lang="en-US" sz="1900" b="1" dirty="0">
                <a:solidFill>
                  <a:srgbClr val="0E0E0E"/>
                </a:solidFill>
                <a:latin typeface="Calibri" pitchFamily="34" charset="0"/>
                <a:ea typeface="Calibri" pitchFamily="34" charset="-122"/>
                <a:cs typeface="Calibri" pitchFamily="34" charset="-120"/>
              </a:rPr>
              <a:t>Rules</a:t>
            </a:r>
            <a:endParaRPr lang="en-US" sz="1900" dirty="0"/>
          </a:p>
        </p:txBody>
      </p:sp>
      <p:sp>
        <p:nvSpPr>
          <p:cNvPr id="19" name="Text 17"/>
          <p:cNvSpPr txBox="1"/>
          <p:nvPr/>
        </p:nvSpPr>
        <p:spPr>
          <a:xfrm>
            <a:off x="8183880" y="3337560"/>
            <a:ext cx="2971800" cy="411480"/>
          </a:xfrm>
          <a:prstGeom prst="rect">
            <a:avLst/>
          </a:prstGeom>
          <a:noFill/>
          <a:ln/>
        </p:spPr>
        <p:txBody>
          <a:bodyPr wrap="square" lIns="0" tIns="0" rIns="0" bIns="0" rtlCol="0" anchor="ctr"/>
          <a:lstStyle/>
          <a:p>
            <a:pPr indent="0" marL="0">
              <a:buNone/>
            </a:pPr>
            <a:r>
              <a:rPr lang="en-US" sz="1350" dirty="0">
                <a:solidFill>
                  <a:srgbClr val="333333"/>
                </a:solidFill>
                <a:latin typeface="Calibri" pitchFamily="34" charset="0"/>
                <a:ea typeface="Calibri" pitchFamily="34" charset="-122"/>
                <a:cs typeface="Calibri" pitchFamily="34" charset="-120"/>
              </a:rPr>
              <a:t>how they interact</a:t>
            </a:r>
            <a:endParaRPr lang="en-US" sz="1350" dirty="0"/>
          </a:p>
        </p:txBody>
      </p:sp>
      <p:sp>
        <p:nvSpPr>
          <p:cNvPr id="20" name="Shape 18"/>
          <p:cNvSpPr/>
          <p:nvPr/>
        </p:nvSpPr>
        <p:spPr>
          <a:xfrm>
            <a:off x="640080" y="4160520"/>
            <a:ext cx="3429000" cy="1737360"/>
          </a:xfrm>
          <a:prstGeom prst="rect">
            <a:avLst/>
          </a:prstGeom>
          <a:solidFill>
            <a:srgbClr val="E1E1E1"/>
          </a:solidFill>
          <a:ln/>
        </p:spPr>
      </p:sp>
      <p:sp>
        <p:nvSpPr>
          <p:cNvPr id="21" name="Shape 19"/>
          <p:cNvSpPr/>
          <p:nvPr/>
        </p:nvSpPr>
        <p:spPr>
          <a:xfrm>
            <a:off x="868680" y="4389120"/>
            <a:ext cx="457200" cy="457200"/>
          </a:xfrm>
          <a:prstGeom prst="ellipse">
            <a:avLst/>
          </a:prstGeom>
          <a:solidFill>
            <a:srgbClr val="0E0E0E"/>
          </a:solidFill>
          <a:ln/>
        </p:spPr>
      </p:sp>
      <p:sp>
        <p:nvSpPr>
          <p:cNvPr id="22" name="Text 20"/>
          <p:cNvSpPr txBox="1"/>
          <p:nvPr/>
        </p:nvSpPr>
        <p:spPr>
          <a:xfrm>
            <a:off x="868680" y="4389120"/>
            <a:ext cx="457200" cy="457200"/>
          </a:xfrm>
          <a:prstGeom prst="rect">
            <a:avLst/>
          </a:prstGeom>
          <a:noFill/>
          <a:ln/>
        </p:spPr>
        <p:txBody>
          <a:bodyPr wrap="square" lIns="0" tIns="0" rIns="0" bIns="0" rtlCol="0" anchor="ctr"/>
          <a:lstStyle/>
          <a:p>
            <a:pPr algn="ctr" indent="0" marL="0">
              <a:buNone/>
            </a:pPr>
            <a:r>
              <a:rPr lang="en-US" sz="1600" b="1" dirty="0">
                <a:solidFill>
                  <a:srgbClr val="F2F2F2"/>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868680" y="4983480"/>
            <a:ext cx="2971800" cy="411480"/>
          </a:xfrm>
          <a:prstGeom prst="rect">
            <a:avLst/>
          </a:prstGeom>
          <a:noFill/>
          <a:ln/>
        </p:spPr>
        <p:txBody>
          <a:bodyPr wrap="square" lIns="0" tIns="0" rIns="0" bIns="0" rtlCol="0" anchor="ctr"/>
          <a:lstStyle/>
          <a:p>
            <a:pPr indent="0" marL="0">
              <a:buNone/>
            </a:pPr>
            <a:r>
              <a:rPr lang="en-US" sz="1900" b="1" dirty="0">
                <a:solidFill>
                  <a:srgbClr val="0E0E0E"/>
                </a:solidFill>
                <a:latin typeface="Calibri" pitchFamily="34" charset="0"/>
                <a:ea typeface="Calibri" pitchFamily="34" charset="-122"/>
                <a:cs typeface="Calibri" pitchFamily="34" charset="-120"/>
              </a:rPr>
              <a:t>Environment</a:t>
            </a:r>
            <a:endParaRPr lang="en-US" sz="1900" dirty="0"/>
          </a:p>
        </p:txBody>
      </p:sp>
      <p:sp>
        <p:nvSpPr>
          <p:cNvPr id="24" name="Text 22"/>
          <p:cNvSpPr txBox="1"/>
          <p:nvPr/>
        </p:nvSpPr>
        <p:spPr>
          <a:xfrm>
            <a:off x="868680" y="5394960"/>
            <a:ext cx="2971800" cy="411480"/>
          </a:xfrm>
          <a:prstGeom prst="rect">
            <a:avLst/>
          </a:prstGeom>
          <a:noFill/>
          <a:ln/>
        </p:spPr>
        <p:txBody>
          <a:bodyPr wrap="square" lIns="0" tIns="0" rIns="0" bIns="0" rtlCol="0" anchor="ctr"/>
          <a:lstStyle/>
          <a:p>
            <a:pPr indent="0" marL="0">
              <a:buNone/>
            </a:pPr>
            <a:r>
              <a:rPr lang="en-US" sz="1350" dirty="0">
                <a:solidFill>
                  <a:srgbClr val="333333"/>
                </a:solidFill>
                <a:latin typeface="Calibri" pitchFamily="34" charset="0"/>
                <a:ea typeface="Calibri" pitchFamily="34" charset="-122"/>
                <a:cs typeface="Calibri" pitchFamily="34" charset="-120"/>
              </a:rPr>
              <a:t>what they act within</a:t>
            </a:r>
            <a:endParaRPr lang="en-US" sz="1350" dirty="0"/>
          </a:p>
        </p:txBody>
      </p:sp>
      <p:sp>
        <p:nvSpPr>
          <p:cNvPr id="25" name="Shape 23"/>
          <p:cNvSpPr/>
          <p:nvPr/>
        </p:nvSpPr>
        <p:spPr>
          <a:xfrm>
            <a:off x="4297680" y="4160520"/>
            <a:ext cx="3429000" cy="1737360"/>
          </a:xfrm>
          <a:prstGeom prst="rect">
            <a:avLst/>
          </a:prstGeom>
          <a:solidFill>
            <a:srgbClr val="E1E1E1"/>
          </a:solidFill>
          <a:ln/>
        </p:spPr>
      </p:sp>
      <p:sp>
        <p:nvSpPr>
          <p:cNvPr id="26" name="Shape 24"/>
          <p:cNvSpPr/>
          <p:nvPr/>
        </p:nvSpPr>
        <p:spPr>
          <a:xfrm>
            <a:off x="4526280" y="4389120"/>
            <a:ext cx="457200" cy="457200"/>
          </a:xfrm>
          <a:prstGeom prst="ellipse">
            <a:avLst/>
          </a:prstGeom>
          <a:solidFill>
            <a:srgbClr val="0E0E0E"/>
          </a:solidFill>
          <a:ln/>
        </p:spPr>
      </p:sp>
      <p:sp>
        <p:nvSpPr>
          <p:cNvPr id="27" name="Text 25"/>
          <p:cNvSpPr txBox="1"/>
          <p:nvPr/>
        </p:nvSpPr>
        <p:spPr>
          <a:xfrm>
            <a:off x="4526280" y="4389120"/>
            <a:ext cx="457200" cy="457200"/>
          </a:xfrm>
          <a:prstGeom prst="rect">
            <a:avLst/>
          </a:prstGeom>
          <a:noFill/>
          <a:ln/>
        </p:spPr>
        <p:txBody>
          <a:bodyPr wrap="square" lIns="0" tIns="0" rIns="0" bIns="0" rtlCol="0" anchor="ctr"/>
          <a:lstStyle/>
          <a:p>
            <a:pPr algn="ctr" indent="0" marL="0">
              <a:buNone/>
            </a:pPr>
            <a:r>
              <a:rPr lang="en-US" sz="1600" b="1" dirty="0">
                <a:solidFill>
                  <a:srgbClr val="F2F2F2"/>
                </a:solidFill>
                <a:latin typeface="Calibri" pitchFamily="34" charset="0"/>
                <a:ea typeface="Calibri" pitchFamily="34" charset="-122"/>
                <a:cs typeface="Calibri" pitchFamily="34" charset="-120"/>
              </a:rPr>
              <a:t>5</a:t>
            </a:r>
            <a:endParaRPr lang="en-US" sz="1600" dirty="0"/>
          </a:p>
        </p:txBody>
      </p:sp>
      <p:sp>
        <p:nvSpPr>
          <p:cNvPr id="28" name="Text 26"/>
          <p:cNvSpPr txBox="1"/>
          <p:nvPr/>
        </p:nvSpPr>
        <p:spPr>
          <a:xfrm>
            <a:off x="4526280" y="4983480"/>
            <a:ext cx="2971800" cy="411480"/>
          </a:xfrm>
          <a:prstGeom prst="rect">
            <a:avLst/>
          </a:prstGeom>
          <a:noFill/>
          <a:ln/>
        </p:spPr>
        <p:txBody>
          <a:bodyPr wrap="square" lIns="0" tIns="0" rIns="0" bIns="0" rtlCol="0" anchor="ctr"/>
          <a:lstStyle/>
          <a:p>
            <a:pPr indent="0" marL="0">
              <a:buNone/>
            </a:pPr>
            <a:r>
              <a:rPr lang="en-US" sz="1900" b="1" dirty="0">
                <a:solidFill>
                  <a:srgbClr val="0E0E0E"/>
                </a:solidFill>
                <a:latin typeface="Calibri" pitchFamily="34" charset="0"/>
                <a:ea typeface="Calibri" pitchFamily="34" charset="-122"/>
                <a:cs typeface="Calibri" pitchFamily="34" charset="-120"/>
              </a:rPr>
              <a:t>Time</a:t>
            </a:r>
            <a:endParaRPr lang="en-US" sz="1900" dirty="0"/>
          </a:p>
        </p:txBody>
      </p:sp>
      <p:sp>
        <p:nvSpPr>
          <p:cNvPr id="29" name="Text 27"/>
          <p:cNvSpPr txBox="1"/>
          <p:nvPr/>
        </p:nvSpPr>
        <p:spPr>
          <a:xfrm>
            <a:off x="4526280" y="5394960"/>
            <a:ext cx="2971800" cy="411480"/>
          </a:xfrm>
          <a:prstGeom prst="rect">
            <a:avLst/>
          </a:prstGeom>
          <a:noFill/>
          <a:ln/>
        </p:spPr>
        <p:txBody>
          <a:bodyPr wrap="square" lIns="0" tIns="0" rIns="0" bIns="0" rtlCol="0" anchor="ctr"/>
          <a:lstStyle/>
          <a:p>
            <a:pPr indent="0" marL="0">
              <a:buNone/>
            </a:pPr>
            <a:r>
              <a:rPr lang="en-US" sz="1350" dirty="0">
                <a:solidFill>
                  <a:srgbClr val="333333"/>
                </a:solidFill>
                <a:latin typeface="Calibri" pitchFamily="34" charset="0"/>
                <a:ea typeface="Calibri" pitchFamily="34" charset="-122"/>
                <a:cs typeface="Calibri" pitchFamily="34" charset="-120"/>
              </a:rPr>
              <a:t>how the process unfolds</a:t>
            </a:r>
            <a:endParaRPr lang="en-US" sz="1350" dirty="0"/>
          </a:p>
        </p:txBody>
      </p:sp>
      <p:sp>
        <p:nvSpPr>
          <p:cNvPr id="30" name="Shape 28"/>
          <p:cNvSpPr/>
          <p:nvPr/>
        </p:nvSpPr>
        <p:spPr>
          <a:xfrm>
            <a:off x="7955280" y="4160520"/>
            <a:ext cx="3429000" cy="1737360"/>
          </a:xfrm>
          <a:prstGeom prst="rect">
            <a:avLst/>
          </a:prstGeom>
          <a:solidFill>
            <a:srgbClr val="E1E1E1"/>
          </a:solidFill>
          <a:ln/>
        </p:spPr>
      </p:sp>
      <p:sp>
        <p:nvSpPr>
          <p:cNvPr id="31" name="Shape 29"/>
          <p:cNvSpPr/>
          <p:nvPr/>
        </p:nvSpPr>
        <p:spPr>
          <a:xfrm>
            <a:off x="8183880" y="4389120"/>
            <a:ext cx="457200" cy="457200"/>
          </a:xfrm>
          <a:prstGeom prst="ellipse">
            <a:avLst/>
          </a:prstGeom>
          <a:solidFill>
            <a:srgbClr val="0E0E0E"/>
          </a:solidFill>
          <a:ln/>
        </p:spPr>
      </p:sp>
      <p:sp>
        <p:nvSpPr>
          <p:cNvPr id="32" name="Text 30"/>
          <p:cNvSpPr txBox="1"/>
          <p:nvPr/>
        </p:nvSpPr>
        <p:spPr>
          <a:xfrm>
            <a:off x="8183880" y="4389120"/>
            <a:ext cx="457200" cy="457200"/>
          </a:xfrm>
          <a:prstGeom prst="rect">
            <a:avLst/>
          </a:prstGeom>
          <a:noFill/>
          <a:ln/>
        </p:spPr>
        <p:txBody>
          <a:bodyPr wrap="square" lIns="0" tIns="0" rIns="0" bIns="0" rtlCol="0" anchor="ctr"/>
          <a:lstStyle/>
          <a:p>
            <a:pPr algn="ctr" indent="0" marL="0">
              <a:buNone/>
            </a:pPr>
            <a:r>
              <a:rPr lang="en-US" sz="1600" b="1" dirty="0">
                <a:solidFill>
                  <a:srgbClr val="F2F2F2"/>
                </a:solidFill>
                <a:latin typeface="Calibri" pitchFamily="34" charset="0"/>
                <a:ea typeface="Calibri" pitchFamily="34" charset="-122"/>
                <a:cs typeface="Calibri" pitchFamily="34" charset="-120"/>
              </a:rPr>
              <a:t>6</a:t>
            </a:r>
            <a:endParaRPr lang="en-US" sz="1600" dirty="0"/>
          </a:p>
        </p:txBody>
      </p:sp>
      <p:sp>
        <p:nvSpPr>
          <p:cNvPr id="33" name="Text 31"/>
          <p:cNvSpPr txBox="1"/>
          <p:nvPr/>
        </p:nvSpPr>
        <p:spPr>
          <a:xfrm>
            <a:off x="8183880" y="4983480"/>
            <a:ext cx="2971800" cy="411480"/>
          </a:xfrm>
          <a:prstGeom prst="rect">
            <a:avLst/>
          </a:prstGeom>
          <a:noFill/>
          <a:ln/>
        </p:spPr>
        <p:txBody>
          <a:bodyPr wrap="square" lIns="0" tIns="0" rIns="0" bIns="0" rtlCol="0" anchor="ctr"/>
          <a:lstStyle/>
          <a:p>
            <a:pPr indent="0" marL="0">
              <a:buNone/>
            </a:pPr>
            <a:r>
              <a:rPr lang="en-US" sz="1900" b="1" dirty="0">
                <a:solidFill>
                  <a:srgbClr val="0E0E0E"/>
                </a:solidFill>
                <a:latin typeface="Calibri" pitchFamily="34" charset="0"/>
                <a:ea typeface="Calibri" pitchFamily="34" charset="-122"/>
                <a:cs typeface="Calibri" pitchFamily="34" charset="-120"/>
              </a:rPr>
              <a:t>Stochasticity</a:t>
            </a:r>
            <a:endParaRPr lang="en-US" sz="1900" dirty="0"/>
          </a:p>
        </p:txBody>
      </p:sp>
      <p:sp>
        <p:nvSpPr>
          <p:cNvPr id="34" name="Text 32"/>
          <p:cNvSpPr txBox="1"/>
          <p:nvPr/>
        </p:nvSpPr>
        <p:spPr>
          <a:xfrm>
            <a:off x="8183880" y="5394960"/>
            <a:ext cx="2971800" cy="411480"/>
          </a:xfrm>
          <a:prstGeom prst="rect">
            <a:avLst/>
          </a:prstGeom>
          <a:noFill/>
          <a:ln/>
        </p:spPr>
        <p:txBody>
          <a:bodyPr wrap="square" lIns="0" tIns="0" rIns="0" bIns="0" rtlCol="0" anchor="ctr"/>
          <a:lstStyle/>
          <a:p>
            <a:pPr indent="0" marL="0">
              <a:buNone/>
            </a:pPr>
            <a:r>
              <a:rPr lang="en-US" sz="1350" dirty="0">
                <a:solidFill>
                  <a:srgbClr val="333333"/>
                </a:solidFill>
                <a:latin typeface="Calibri" pitchFamily="34" charset="0"/>
                <a:ea typeface="Calibri" pitchFamily="34" charset="-122"/>
                <a:cs typeface="Calibri" pitchFamily="34" charset="-120"/>
              </a:rPr>
              <a:t>what is left to chance</a:t>
            </a:r>
            <a:endParaRPr lang="en-US" sz="1350" dirty="0"/>
          </a:p>
        </p:txBody>
      </p:sp>
      <p:sp>
        <p:nvSpPr>
          <p:cNvPr id="35" name="Text 3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10</a:t>
            </a:r>
            <a:endParaRPr lang="en-US" sz="1000" dirty="0"/>
          </a:p>
        </p:txBody>
      </p:sp>
      <p:pic>
        <p:nvPicPr>
          <p:cNvPr id="36"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ANATOMY · 2 OF 5</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000" b="1" dirty="0">
                <a:solidFill>
                  <a:srgbClr val="0E0E0E"/>
                </a:solidFill>
                <a:latin typeface="Calibri" pitchFamily="34" charset="0"/>
                <a:ea typeface="Calibri" pitchFamily="34" charset="-122"/>
                <a:cs typeface="Calibri" pitchFamily="34" charset="-120"/>
              </a:rPr>
              <a:t>You have been half-specifying models all along</a:t>
            </a:r>
            <a:endParaRPr lang="en-US" sz="3000" dirty="0"/>
          </a:p>
        </p:txBody>
      </p:sp>
      <p:sp>
        <p:nvSpPr>
          <p:cNvPr id="5" name="Shape 3"/>
          <p:cNvSpPr/>
          <p:nvPr/>
        </p:nvSpPr>
        <p:spPr>
          <a:xfrm>
            <a:off x="640080" y="2011680"/>
            <a:ext cx="10881360" cy="1005840"/>
          </a:xfrm>
          <a:prstGeom prst="rect">
            <a:avLst/>
          </a:prstGeom>
          <a:solidFill>
            <a:srgbClr val="0E0E0E"/>
          </a:solidFill>
          <a:ln/>
        </p:spPr>
      </p:sp>
      <p:sp>
        <p:nvSpPr>
          <p:cNvPr id="6" name="Text 4"/>
          <p:cNvSpPr txBox="1"/>
          <p:nvPr/>
        </p:nvSpPr>
        <p:spPr>
          <a:xfrm>
            <a:off x="914400" y="2011680"/>
            <a:ext cx="10332720" cy="1005840"/>
          </a:xfrm>
          <a:prstGeom prst="rect">
            <a:avLst/>
          </a:prstGeom>
          <a:noFill/>
          <a:ln/>
        </p:spPr>
        <p:txBody>
          <a:bodyPr wrap="square" lIns="0" tIns="0" rIns="0" bIns="0" rtlCol="0" anchor="ctr"/>
          <a:lstStyle/>
          <a:p>
            <a:pPr indent="0" marL="0">
              <a:buNone/>
            </a:pPr>
            <a:r>
              <a:rPr lang="en-US" sz="1900" i="1" dirty="0">
                <a:solidFill>
                  <a:srgbClr val="F2F2F2"/>
                </a:solidFill>
                <a:latin typeface="Calibri" pitchFamily="34" charset="0"/>
                <a:ea typeface="Calibri" pitchFamily="34" charset="-122"/>
                <a:cs typeface="Calibri" pitchFamily="34" charset="-120"/>
              </a:rPr>
              <a:t>“Members with higher status exert more influence during disagreement.”</a:t>
            </a:r>
            <a:endParaRPr lang="en-US" sz="1900" dirty="0"/>
          </a:p>
        </p:txBody>
      </p:sp>
      <p:sp>
        <p:nvSpPr>
          <p:cNvPr id="7" name="Text 5"/>
          <p:cNvSpPr txBox="1"/>
          <p:nvPr/>
        </p:nvSpPr>
        <p:spPr>
          <a:xfrm>
            <a:off x="640080" y="3337560"/>
            <a:ext cx="3291840" cy="594360"/>
          </a:xfrm>
          <a:prstGeom prst="rect">
            <a:avLst/>
          </a:prstGeom>
          <a:noFill/>
          <a:ln/>
        </p:spPr>
        <p:txBody>
          <a:bodyPr wrap="square" lIns="0" tIns="0" rIns="0" bIns="0" rtlCol="0" anchor="ctr"/>
          <a:lstStyle/>
          <a:p>
            <a:pPr indent="0" marL="0">
              <a:buNone/>
            </a:pPr>
            <a:r>
              <a:rPr lang="en-US" sz="1800" b="1" dirty="0">
                <a:solidFill>
                  <a:srgbClr val="B60000"/>
                </a:solidFill>
                <a:latin typeface="Calibri" pitchFamily="34" charset="0"/>
                <a:ea typeface="Calibri" pitchFamily="34" charset="-122"/>
                <a:cs typeface="Calibri" pitchFamily="34" charset="-120"/>
              </a:rPr>
              <a:t>Agent attribute</a:t>
            </a:r>
            <a:endParaRPr lang="en-US" sz="1800" dirty="0"/>
          </a:p>
        </p:txBody>
      </p:sp>
      <p:sp>
        <p:nvSpPr>
          <p:cNvPr id="8" name="Text 6"/>
          <p:cNvSpPr txBox="1"/>
          <p:nvPr/>
        </p:nvSpPr>
        <p:spPr>
          <a:xfrm>
            <a:off x="4023360" y="3337560"/>
            <a:ext cx="7315200" cy="594360"/>
          </a:xfrm>
          <a:prstGeom prst="rect">
            <a:avLst/>
          </a:prstGeom>
          <a:noFill/>
          <a:ln/>
        </p:spPr>
        <p:txBody>
          <a:bodyPr wrap="square" lIns="0" tIns="0" rIns="0" bIns="0" rtlCol="0" anchor="ctr"/>
          <a:lstStyle/>
          <a:p>
            <a:pPr indent="0" marL="0">
              <a:buNone/>
            </a:pPr>
            <a:r>
              <a:rPr lang="en-US" sz="1800" dirty="0">
                <a:solidFill>
                  <a:srgbClr val="333333"/>
                </a:solidFill>
                <a:latin typeface="Calibri" pitchFamily="34" charset="0"/>
                <a:ea typeface="Calibri" pitchFamily="34" charset="-122"/>
                <a:cs typeface="Calibri" pitchFamily="34" charset="-120"/>
              </a:rPr>
              <a:t>status</a:t>
            </a:r>
            <a:endParaRPr lang="en-US" sz="1800" dirty="0"/>
          </a:p>
        </p:txBody>
      </p:sp>
      <p:sp>
        <p:nvSpPr>
          <p:cNvPr id="9" name="Text 7"/>
          <p:cNvSpPr txBox="1"/>
          <p:nvPr/>
        </p:nvSpPr>
        <p:spPr>
          <a:xfrm>
            <a:off x="640080" y="4114800"/>
            <a:ext cx="3291840" cy="594360"/>
          </a:xfrm>
          <a:prstGeom prst="rect">
            <a:avLst/>
          </a:prstGeom>
          <a:noFill/>
          <a:ln/>
        </p:spPr>
        <p:txBody>
          <a:bodyPr wrap="square" lIns="0" tIns="0" rIns="0" bIns="0" rtlCol="0" anchor="ctr"/>
          <a:lstStyle/>
          <a:p>
            <a:pPr indent="0" marL="0">
              <a:buNone/>
            </a:pPr>
            <a:r>
              <a:rPr lang="en-US" sz="1800" b="1" dirty="0">
                <a:solidFill>
                  <a:srgbClr val="B60000"/>
                </a:solidFill>
                <a:latin typeface="Calibri" pitchFamily="34" charset="0"/>
                <a:ea typeface="Calibri" pitchFamily="34" charset="-122"/>
                <a:cs typeface="Calibri" pitchFamily="34" charset="-120"/>
              </a:rPr>
              <a:t>Interaction rule</a:t>
            </a:r>
            <a:endParaRPr lang="en-US" sz="1800" dirty="0"/>
          </a:p>
        </p:txBody>
      </p:sp>
      <p:sp>
        <p:nvSpPr>
          <p:cNvPr id="10" name="Text 8"/>
          <p:cNvSpPr txBox="1"/>
          <p:nvPr/>
        </p:nvSpPr>
        <p:spPr>
          <a:xfrm>
            <a:off x="4023360" y="4114800"/>
            <a:ext cx="7315200" cy="594360"/>
          </a:xfrm>
          <a:prstGeom prst="rect">
            <a:avLst/>
          </a:prstGeom>
          <a:noFill/>
          <a:ln/>
        </p:spPr>
        <p:txBody>
          <a:bodyPr wrap="square" lIns="0" tIns="0" rIns="0" bIns="0" rtlCol="0" anchor="ctr"/>
          <a:lstStyle/>
          <a:p>
            <a:pPr indent="0" marL="0">
              <a:buNone/>
            </a:pPr>
            <a:r>
              <a:rPr lang="en-US" sz="1800" dirty="0">
                <a:solidFill>
                  <a:srgbClr val="333333"/>
                </a:solidFill>
                <a:latin typeface="Calibri" pitchFamily="34" charset="0"/>
                <a:ea typeface="Calibri" pitchFamily="34" charset="-122"/>
                <a:cs typeface="Calibri" pitchFamily="34" charset="-120"/>
              </a:rPr>
              <a:t>influence weighted by relative status during disagreement</a:t>
            </a:r>
            <a:endParaRPr lang="en-US" sz="1800" dirty="0"/>
          </a:p>
        </p:txBody>
      </p:sp>
      <p:sp>
        <p:nvSpPr>
          <p:cNvPr id="11" name="Text 9"/>
          <p:cNvSpPr txBox="1"/>
          <p:nvPr/>
        </p:nvSpPr>
        <p:spPr>
          <a:xfrm>
            <a:off x="640080" y="4892040"/>
            <a:ext cx="3291840" cy="594360"/>
          </a:xfrm>
          <a:prstGeom prst="rect">
            <a:avLst/>
          </a:prstGeom>
          <a:noFill/>
          <a:ln/>
        </p:spPr>
        <p:txBody>
          <a:bodyPr wrap="square" lIns="0" tIns="0" rIns="0" bIns="0" rtlCol="0" anchor="ctr"/>
          <a:lstStyle/>
          <a:p>
            <a:pPr indent="0" marL="0">
              <a:buNone/>
            </a:pPr>
            <a:r>
              <a:rPr lang="en-US" sz="1800" b="1" dirty="0">
                <a:solidFill>
                  <a:srgbClr val="B60000"/>
                </a:solidFill>
                <a:latin typeface="Calibri" pitchFamily="34" charset="0"/>
                <a:ea typeface="Calibri" pitchFamily="34" charset="-122"/>
                <a:cs typeface="Calibri" pitchFamily="34" charset="-120"/>
              </a:rPr>
              <a:t>Environment (implied)</a:t>
            </a:r>
            <a:endParaRPr lang="en-US" sz="1800" dirty="0"/>
          </a:p>
        </p:txBody>
      </p:sp>
      <p:sp>
        <p:nvSpPr>
          <p:cNvPr id="12" name="Text 10"/>
          <p:cNvSpPr txBox="1"/>
          <p:nvPr/>
        </p:nvSpPr>
        <p:spPr>
          <a:xfrm>
            <a:off x="4023360" y="4892040"/>
            <a:ext cx="7315200" cy="594360"/>
          </a:xfrm>
          <a:prstGeom prst="rect">
            <a:avLst/>
          </a:prstGeom>
          <a:noFill/>
          <a:ln/>
        </p:spPr>
        <p:txBody>
          <a:bodyPr wrap="square" lIns="0" tIns="0" rIns="0" bIns="0" rtlCol="0" anchor="ctr"/>
          <a:lstStyle/>
          <a:p>
            <a:pPr indent="0" marL="0">
              <a:buNone/>
            </a:pPr>
            <a:r>
              <a:rPr lang="en-US" sz="1800" dirty="0">
                <a:solidFill>
                  <a:srgbClr val="333333"/>
                </a:solidFill>
                <a:latin typeface="Calibri" pitchFamily="34" charset="0"/>
                <a:ea typeface="Calibri" pitchFamily="34" charset="-122"/>
                <a:cs typeface="Calibri" pitchFamily="34" charset="-120"/>
              </a:rPr>
              <a:t>a group in which disagreement occurs</a:t>
            </a:r>
            <a:endParaRPr lang="en-US" sz="1800" dirty="0"/>
          </a:p>
        </p:txBody>
      </p:sp>
      <p:sp>
        <p:nvSpPr>
          <p:cNvPr id="13" name="Text 11"/>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11</a:t>
            </a:r>
            <a:endParaRPr lang="en-US" sz="1000" dirty="0"/>
          </a:p>
        </p:txBody>
      </p:sp>
      <p:pic>
        <p:nvPicPr>
          <p:cNvPr id="14"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ANATOMY · 3 OF 5 · EXEMPLAR</a:t>
            </a:r>
            <a:endParaRPr lang="en-US" sz="1300" dirty="0"/>
          </a:p>
        </p:txBody>
      </p:sp>
      <p:sp>
        <p:nvSpPr>
          <p:cNvPr id="4" name="Text 2"/>
          <p:cNvSpPr txBox="1"/>
          <p:nvPr/>
        </p:nvSpPr>
        <p:spPr>
          <a:xfrm>
            <a:off x="640080" y="914400"/>
            <a:ext cx="95097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Grand et al. (2016)</a:t>
            </a:r>
            <a:endParaRPr lang="en-US" sz="3400" dirty="0"/>
          </a:p>
        </p:txBody>
      </p:sp>
      <p:pic>
        <p:nvPicPr>
          <p:cNvPr id="5" name="Image 0" descr="assets/glyph_network.png">    </p:cNvPr>
          <p:cNvPicPr>
            <a:picLocks noChangeAspect="1"/>
          </p:cNvPicPr>
          <p:nvPr/>
        </p:nvPicPr>
        <p:blipFill>
          <a:blip r:embed="rId1"/>
          <a:stretch>
            <a:fillRect/>
          </a:stretch>
        </p:blipFill>
        <p:spPr>
          <a:xfrm>
            <a:off x="10698480" y="411480"/>
            <a:ext cx="822960" cy="822960"/>
          </a:xfrm>
          <a:prstGeom prst="rect">
            <a:avLst/>
          </a:prstGeom>
        </p:spPr>
      </p:pic>
      <p:sp>
        <p:nvSpPr>
          <p:cNvPr id="6" name="Text 3"/>
          <p:cNvSpPr txBox="1"/>
          <p:nvPr/>
        </p:nvSpPr>
        <p:spPr>
          <a:xfrm>
            <a:off x="640080" y="1645920"/>
            <a:ext cx="10058400" cy="868680"/>
          </a:xfrm>
          <a:prstGeom prst="rect">
            <a:avLst/>
          </a:prstGeom>
          <a:noFill/>
          <a:ln/>
        </p:spPr>
        <p:txBody>
          <a:bodyPr wrap="square" lIns="0" tIns="0" rIns="0" bIns="0" rtlCol="0" anchor="t"/>
          <a:lstStyle/>
          <a:p>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Grand, J. A., Braun, M. T., Kuljanin, G., Kozlowski, S. W. J., &amp; Chao, G. T. (2016). The dynamics of team cognition: A process-oriented theory of knowledge emergence in teams. </a:t>
            </a:r>
            <a:pPr indent="0" marL="0">
              <a:lnSpc>
                <a:spcPct val="115000"/>
              </a:lnSpc>
              <a:buNone/>
            </a:pPr>
            <a:r>
              <a:rPr lang="en-US" sz="1450" i="1" dirty="0">
                <a:solidFill>
                  <a:srgbClr val="333333"/>
                </a:solidFill>
                <a:latin typeface="Times New Roman" pitchFamily="34" charset="0"/>
                <a:ea typeface="Times New Roman" pitchFamily="34" charset="-122"/>
                <a:cs typeface="Times New Roman" pitchFamily="34" charset="-120"/>
              </a:rPr>
              <a:t>Journal of Applied Psychology, 101</a:t>
            </a:r>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(10), 1353-1385.</a:t>
            </a:r>
            <a:endParaRPr lang="en-US" sz="1450" dirty="0"/>
          </a:p>
        </p:txBody>
      </p:sp>
      <p:sp>
        <p:nvSpPr>
          <p:cNvPr id="7" name="Shape 4"/>
          <p:cNvSpPr/>
          <p:nvPr/>
        </p:nvSpPr>
        <p:spPr>
          <a:xfrm>
            <a:off x="640080" y="2788920"/>
            <a:ext cx="10881360" cy="3154680"/>
          </a:xfrm>
          <a:prstGeom prst="rect">
            <a:avLst/>
          </a:prstGeom>
          <a:solidFill>
            <a:srgbClr val="E1E1E1"/>
          </a:solidFill>
          <a:ln/>
        </p:spPr>
      </p:sp>
      <p:sp>
        <p:nvSpPr>
          <p:cNvPr id="8" name="Shape 5"/>
          <p:cNvSpPr/>
          <p:nvPr/>
        </p:nvSpPr>
        <p:spPr>
          <a:xfrm>
            <a:off x="640080" y="2788920"/>
            <a:ext cx="82296" cy="3154680"/>
          </a:xfrm>
          <a:prstGeom prst="rect">
            <a:avLst/>
          </a:prstGeom>
          <a:solidFill>
            <a:srgbClr val="B60000"/>
          </a:solidFill>
          <a:ln/>
        </p:spPr>
      </p:sp>
      <p:sp>
        <p:nvSpPr>
          <p:cNvPr id="9" name="Text 6"/>
          <p:cNvSpPr txBox="1"/>
          <p:nvPr/>
        </p:nvSpPr>
        <p:spPr>
          <a:xfrm>
            <a:off x="1005840" y="3063240"/>
            <a:ext cx="9144000" cy="320040"/>
          </a:xfrm>
          <a:prstGeom prst="rect">
            <a:avLst/>
          </a:prstGeom>
          <a:noFill/>
          <a:ln/>
        </p:spPr>
        <p:txBody>
          <a:bodyPr wrap="square" lIns="0" tIns="0" rIns="0" bIns="0" rtlCol="0" anchor="ctr"/>
          <a:lstStyle/>
          <a:p>
            <a:pPr indent="0" marL="0">
              <a:buNone/>
            </a:pPr>
            <a:r>
              <a:rPr lang="en-US" sz="1200" b="1" spc="200" kern="0" dirty="0">
                <a:solidFill>
                  <a:srgbClr val="B60000"/>
                </a:solidFill>
                <a:latin typeface="Calibri" pitchFamily="34" charset="0"/>
                <a:ea typeface="Calibri" pitchFamily="34" charset="-122"/>
                <a:cs typeface="Calibri" pitchFamily="34" charset="-120"/>
              </a:rPr>
              <a:t>WHAT THIS STUDY SHOWED</a:t>
            </a:r>
            <a:endParaRPr lang="en-US" sz="1200" dirty="0"/>
          </a:p>
        </p:txBody>
      </p:sp>
      <p:sp>
        <p:nvSpPr>
          <p:cNvPr id="10" name="Text 7"/>
          <p:cNvSpPr txBox="1"/>
          <p:nvPr/>
        </p:nvSpPr>
        <p:spPr>
          <a:xfrm>
            <a:off x="1005840" y="3474720"/>
            <a:ext cx="10149840" cy="2286000"/>
          </a:xfrm>
          <a:prstGeom prst="rect">
            <a:avLst/>
          </a:prstGeom>
          <a:noFill/>
          <a:ln/>
        </p:spPr>
        <p:txBody>
          <a:bodyPr wrap="square" lIns="0" tIns="0" rIns="0" bIns="0" rtlCol="0" anchor="t"/>
          <a:lstStyle/>
          <a:p>
            <a:pPr indent="0" marL="0">
              <a:lnSpc>
                <a:spcPct val="130000"/>
              </a:lnSpc>
              <a:buNone/>
            </a:pPr>
            <a:r>
              <a:rPr lang="en-US" sz="2100" dirty="0">
                <a:solidFill>
                  <a:srgbClr val="0E0E0E"/>
                </a:solidFill>
                <a:latin typeface="Calibri" pitchFamily="34" charset="0"/>
                <a:ea typeface="Calibri" pitchFamily="34" charset="-122"/>
                <a:cs typeface="Calibri" pitchFamily="34" charset="-120"/>
              </a:rPr>
              <a:t>Advanced and computationally tested a process-oriented theory of how collectively held team knowledge emerges over time from individual-level cognition, directly addressing team cognition theory's tendency to remain static despite describing an inherently dynamic process.</a:t>
            </a:r>
            <a:endParaRPr lang="en-US" sz="2100" dirty="0"/>
          </a:p>
        </p:txBody>
      </p:sp>
      <p:sp>
        <p:nvSpPr>
          <p:cNvPr id="11"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12</a:t>
            </a:r>
            <a:endParaRPr lang="en-US" sz="1000" dirty="0"/>
          </a:p>
        </p:txBody>
      </p:sp>
      <p:pic>
        <p:nvPicPr>
          <p:cNvPr id="12"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ANATOMY · 4 OF 5 · EXEMPLAR</a:t>
            </a:r>
            <a:endParaRPr lang="en-US" sz="1300" dirty="0"/>
          </a:p>
        </p:txBody>
      </p:sp>
      <p:sp>
        <p:nvSpPr>
          <p:cNvPr id="4" name="Text 2"/>
          <p:cNvSpPr txBox="1"/>
          <p:nvPr/>
        </p:nvSpPr>
        <p:spPr>
          <a:xfrm>
            <a:off x="640080" y="914400"/>
            <a:ext cx="95097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Dionne et al. (2010)</a:t>
            </a:r>
            <a:endParaRPr lang="en-US" sz="3400" dirty="0"/>
          </a:p>
        </p:txBody>
      </p:sp>
      <p:pic>
        <p:nvPicPr>
          <p:cNvPr id="5" name="Image 0" descr="assets/glyph_network.png">    </p:cNvPr>
          <p:cNvPicPr>
            <a:picLocks noChangeAspect="1"/>
          </p:cNvPicPr>
          <p:nvPr/>
        </p:nvPicPr>
        <p:blipFill>
          <a:blip r:embed="rId1"/>
          <a:stretch>
            <a:fillRect/>
          </a:stretch>
        </p:blipFill>
        <p:spPr>
          <a:xfrm>
            <a:off x="10698480" y="411480"/>
            <a:ext cx="822960" cy="822960"/>
          </a:xfrm>
          <a:prstGeom prst="rect">
            <a:avLst/>
          </a:prstGeom>
        </p:spPr>
      </p:pic>
      <p:sp>
        <p:nvSpPr>
          <p:cNvPr id="6" name="Text 3"/>
          <p:cNvSpPr txBox="1"/>
          <p:nvPr/>
        </p:nvSpPr>
        <p:spPr>
          <a:xfrm>
            <a:off x="640080" y="1645920"/>
            <a:ext cx="10058400" cy="868680"/>
          </a:xfrm>
          <a:prstGeom prst="rect">
            <a:avLst/>
          </a:prstGeom>
          <a:noFill/>
          <a:ln/>
        </p:spPr>
        <p:txBody>
          <a:bodyPr wrap="square" lIns="0" tIns="0" rIns="0" bIns="0" rtlCol="0" anchor="t"/>
          <a:lstStyle/>
          <a:p>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Dionne, S. D., Sayama, H., Hao, C., &amp; Bush, B. J. (2010). The role of leadership in shared mental model convergence and team performance improvement: An agent-based computational model. </a:t>
            </a:r>
            <a:pPr indent="0" marL="0">
              <a:lnSpc>
                <a:spcPct val="115000"/>
              </a:lnSpc>
              <a:buNone/>
            </a:pPr>
            <a:r>
              <a:rPr lang="en-US" sz="1450" i="1" dirty="0">
                <a:solidFill>
                  <a:srgbClr val="333333"/>
                </a:solidFill>
                <a:latin typeface="Times New Roman" pitchFamily="34" charset="0"/>
                <a:ea typeface="Times New Roman" pitchFamily="34" charset="-122"/>
                <a:cs typeface="Times New Roman" pitchFamily="34" charset="-120"/>
              </a:rPr>
              <a:t>The Leadership Quarterly, 21</a:t>
            </a:r>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(6), 1035-1049.</a:t>
            </a:r>
            <a:endParaRPr lang="en-US" sz="1450" dirty="0"/>
          </a:p>
        </p:txBody>
      </p:sp>
      <p:sp>
        <p:nvSpPr>
          <p:cNvPr id="7" name="Shape 4"/>
          <p:cNvSpPr/>
          <p:nvPr/>
        </p:nvSpPr>
        <p:spPr>
          <a:xfrm>
            <a:off x="640080" y="2788920"/>
            <a:ext cx="10881360" cy="3154680"/>
          </a:xfrm>
          <a:prstGeom prst="rect">
            <a:avLst/>
          </a:prstGeom>
          <a:solidFill>
            <a:srgbClr val="E1E1E1"/>
          </a:solidFill>
          <a:ln/>
        </p:spPr>
      </p:sp>
      <p:sp>
        <p:nvSpPr>
          <p:cNvPr id="8" name="Shape 5"/>
          <p:cNvSpPr/>
          <p:nvPr/>
        </p:nvSpPr>
        <p:spPr>
          <a:xfrm>
            <a:off x="640080" y="2788920"/>
            <a:ext cx="82296" cy="3154680"/>
          </a:xfrm>
          <a:prstGeom prst="rect">
            <a:avLst/>
          </a:prstGeom>
          <a:solidFill>
            <a:srgbClr val="B60000"/>
          </a:solidFill>
          <a:ln/>
        </p:spPr>
      </p:sp>
      <p:sp>
        <p:nvSpPr>
          <p:cNvPr id="9" name="Text 6"/>
          <p:cNvSpPr txBox="1"/>
          <p:nvPr/>
        </p:nvSpPr>
        <p:spPr>
          <a:xfrm>
            <a:off x="1005840" y="3063240"/>
            <a:ext cx="9144000" cy="320040"/>
          </a:xfrm>
          <a:prstGeom prst="rect">
            <a:avLst/>
          </a:prstGeom>
          <a:noFill/>
          <a:ln/>
        </p:spPr>
        <p:txBody>
          <a:bodyPr wrap="square" lIns="0" tIns="0" rIns="0" bIns="0" rtlCol="0" anchor="ctr"/>
          <a:lstStyle/>
          <a:p>
            <a:pPr indent="0" marL="0">
              <a:buNone/>
            </a:pPr>
            <a:r>
              <a:rPr lang="en-US" sz="1200" b="1" spc="200" kern="0" dirty="0">
                <a:solidFill>
                  <a:srgbClr val="B60000"/>
                </a:solidFill>
                <a:latin typeface="Calibri" pitchFamily="34" charset="0"/>
                <a:ea typeface="Calibri" pitchFamily="34" charset="-122"/>
                <a:cs typeface="Calibri" pitchFamily="34" charset="-120"/>
              </a:rPr>
              <a:t>WHAT THIS STUDY SHOWED</a:t>
            </a:r>
            <a:endParaRPr lang="en-US" sz="1200" dirty="0"/>
          </a:p>
        </p:txBody>
      </p:sp>
      <p:sp>
        <p:nvSpPr>
          <p:cNvPr id="10" name="Text 7"/>
          <p:cNvSpPr txBox="1"/>
          <p:nvPr/>
        </p:nvSpPr>
        <p:spPr>
          <a:xfrm>
            <a:off x="1005840" y="3474720"/>
            <a:ext cx="10149840" cy="2286000"/>
          </a:xfrm>
          <a:prstGeom prst="rect">
            <a:avLst/>
          </a:prstGeom>
          <a:noFill/>
          <a:ln/>
        </p:spPr>
        <p:txBody>
          <a:bodyPr wrap="square" lIns="0" tIns="0" rIns="0" bIns="0" rtlCol="0" anchor="t"/>
          <a:lstStyle/>
          <a:p>
            <a:pPr indent="0" marL="0">
              <a:lnSpc>
                <a:spcPct val="130000"/>
              </a:lnSpc>
              <a:buNone/>
            </a:pPr>
            <a:r>
              <a:rPr lang="en-US" sz="2100" dirty="0">
                <a:solidFill>
                  <a:srgbClr val="0E0E0E"/>
                </a:solidFill>
                <a:latin typeface="Calibri" pitchFamily="34" charset="0"/>
                <a:ea typeface="Calibri" pitchFamily="34" charset="-122"/>
                <a:cs typeface="Calibri" pitchFamily="34" charset="-120"/>
              </a:rPr>
              <a:t>Modeled leadership structure as the team's communication network: participative leadership connected everyone, while leader-member exchange connected an in-group and tied the out-group only to the leader. Participative structures converged mental models more, but improved performance only when expertise was diverse and mutual interest was strong.</a:t>
            </a:r>
            <a:endParaRPr lang="en-US" sz="2100" dirty="0"/>
          </a:p>
        </p:txBody>
      </p:sp>
      <p:sp>
        <p:nvSpPr>
          <p:cNvPr id="11"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13</a:t>
            </a:r>
            <a:endParaRPr lang="en-US" sz="1000" dirty="0"/>
          </a:p>
        </p:txBody>
      </p:sp>
      <p:pic>
        <p:nvPicPr>
          <p:cNvPr id="12"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ANATOMY · 5 OF 5 · EXEMPLAR</a:t>
            </a:r>
            <a:endParaRPr lang="en-US" sz="1300" dirty="0"/>
          </a:p>
        </p:txBody>
      </p:sp>
      <p:sp>
        <p:nvSpPr>
          <p:cNvPr id="4" name="Text 2"/>
          <p:cNvSpPr txBox="1"/>
          <p:nvPr/>
        </p:nvSpPr>
        <p:spPr>
          <a:xfrm>
            <a:off x="640080" y="914400"/>
            <a:ext cx="95097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Vancouver &amp; Weinhardt (2012)</a:t>
            </a:r>
            <a:endParaRPr lang="en-US" sz="3400" dirty="0"/>
          </a:p>
        </p:txBody>
      </p:sp>
      <p:pic>
        <p:nvPicPr>
          <p:cNvPr id="5" name="Image 0" descr="assets/glyph_network.png">    </p:cNvPr>
          <p:cNvPicPr>
            <a:picLocks noChangeAspect="1"/>
          </p:cNvPicPr>
          <p:nvPr/>
        </p:nvPicPr>
        <p:blipFill>
          <a:blip r:embed="rId1"/>
          <a:stretch>
            <a:fillRect/>
          </a:stretch>
        </p:blipFill>
        <p:spPr>
          <a:xfrm>
            <a:off x="10698480" y="411480"/>
            <a:ext cx="822960" cy="822960"/>
          </a:xfrm>
          <a:prstGeom prst="rect">
            <a:avLst/>
          </a:prstGeom>
        </p:spPr>
      </p:pic>
      <p:sp>
        <p:nvSpPr>
          <p:cNvPr id="6" name="Text 3"/>
          <p:cNvSpPr txBox="1"/>
          <p:nvPr/>
        </p:nvSpPr>
        <p:spPr>
          <a:xfrm>
            <a:off x="640080" y="1645920"/>
            <a:ext cx="10058400" cy="868680"/>
          </a:xfrm>
          <a:prstGeom prst="rect">
            <a:avLst/>
          </a:prstGeom>
          <a:noFill/>
          <a:ln/>
        </p:spPr>
        <p:txBody>
          <a:bodyPr wrap="square" lIns="0" tIns="0" rIns="0" bIns="0" rtlCol="0" anchor="t"/>
          <a:lstStyle/>
          <a:p>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Vancouver, J. B., &amp; Weinhardt, J. M. (2012). Modeling the mind and the milieu: Computational modeling for micro-level organizational researchers. </a:t>
            </a:r>
            <a:pPr indent="0" marL="0">
              <a:lnSpc>
                <a:spcPct val="115000"/>
              </a:lnSpc>
              <a:buNone/>
            </a:pPr>
            <a:r>
              <a:rPr lang="en-US" sz="1450" i="1" dirty="0">
                <a:solidFill>
                  <a:srgbClr val="333333"/>
                </a:solidFill>
                <a:latin typeface="Times New Roman" pitchFamily="34" charset="0"/>
                <a:ea typeface="Times New Roman" pitchFamily="34" charset="-122"/>
                <a:cs typeface="Times New Roman" pitchFamily="34" charset="-120"/>
              </a:rPr>
              <a:t>Organizational Research Methods, 15</a:t>
            </a:r>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(4), 602-623.</a:t>
            </a:r>
            <a:endParaRPr lang="en-US" sz="1450" dirty="0"/>
          </a:p>
        </p:txBody>
      </p:sp>
      <p:sp>
        <p:nvSpPr>
          <p:cNvPr id="7" name="Shape 4"/>
          <p:cNvSpPr/>
          <p:nvPr/>
        </p:nvSpPr>
        <p:spPr>
          <a:xfrm>
            <a:off x="640080" y="2788920"/>
            <a:ext cx="10881360" cy="3154680"/>
          </a:xfrm>
          <a:prstGeom prst="rect">
            <a:avLst/>
          </a:prstGeom>
          <a:solidFill>
            <a:srgbClr val="E1E1E1"/>
          </a:solidFill>
          <a:ln/>
        </p:spPr>
      </p:sp>
      <p:sp>
        <p:nvSpPr>
          <p:cNvPr id="8" name="Shape 5"/>
          <p:cNvSpPr/>
          <p:nvPr/>
        </p:nvSpPr>
        <p:spPr>
          <a:xfrm>
            <a:off x="640080" y="2788920"/>
            <a:ext cx="82296" cy="3154680"/>
          </a:xfrm>
          <a:prstGeom prst="rect">
            <a:avLst/>
          </a:prstGeom>
          <a:solidFill>
            <a:srgbClr val="B60000"/>
          </a:solidFill>
          <a:ln/>
        </p:spPr>
      </p:sp>
      <p:sp>
        <p:nvSpPr>
          <p:cNvPr id="9" name="Text 6"/>
          <p:cNvSpPr txBox="1"/>
          <p:nvPr/>
        </p:nvSpPr>
        <p:spPr>
          <a:xfrm>
            <a:off x="1005840" y="3063240"/>
            <a:ext cx="9144000" cy="320040"/>
          </a:xfrm>
          <a:prstGeom prst="rect">
            <a:avLst/>
          </a:prstGeom>
          <a:noFill/>
          <a:ln/>
        </p:spPr>
        <p:txBody>
          <a:bodyPr wrap="square" lIns="0" tIns="0" rIns="0" bIns="0" rtlCol="0" anchor="ctr"/>
          <a:lstStyle/>
          <a:p>
            <a:pPr indent="0" marL="0">
              <a:buNone/>
            </a:pPr>
            <a:r>
              <a:rPr lang="en-US" sz="1200" b="1" spc="200" kern="0" dirty="0">
                <a:solidFill>
                  <a:srgbClr val="B60000"/>
                </a:solidFill>
                <a:latin typeface="Calibri" pitchFamily="34" charset="0"/>
                <a:ea typeface="Calibri" pitchFamily="34" charset="-122"/>
                <a:cs typeface="Calibri" pitchFamily="34" charset="-120"/>
              </a:rPr>
              <a:t>WHAT THIS STUDY SHOWED</a:t>
            </a:r>
            <a:endParaRPr lang="en-US" sz="1200" dirty="0"/>
          </a:p>
        </p:txBody>
      </p:sp>
      <p:sp>
        <p:nvSpPr>
          <p:cNvPr id="10" name="Text 7"/>
          <p:cNvSpPr txBox="1"/>
          <p:nvPr/>
        </p:nvSpPr>
        <p:spPr>
          <a:xfrm>
            <a:off x="1005840" y="3474720"/>
            <a:ext cx="10149840" cy="2286000"/>
          </a:xfrm>
          <a:prstGeom prst="rect">
            <a:avLst/>
          </a:prstGeom>
          <a:noFill/>
          <a:ln/>
        </p:spPr>
        <p:txBody>
          <a:bodyPr wrap="square" lIns="0" tIns="0" rIns="0" bIns="0" rtlCol="0" anchor="t"/>
          <a:lstStyle/>
          <a:p>
            <a:pPr indent="0" marL="0">
              <a:lnSpc>
                <a:spcPct val="130000"/>
              </a:lnSpc>
              <a:buNone/>
            </a:pPr>
            <a:r>
              <a:rPr lang="en-US" sz="2100" dirty="0">
                <a:solidFill>
                  <a:srgbClr val="0E0E0E"/>
                </a:solidFill>
                <a:latin typeface="Calibri" pitchFamily="34" charset="0"/>
                <a:ea typeface="Calibri" pitchFamily="34" charset="-122"/>
                <a:cs typeface="Calibri" pitchFamily="34" charset="-120"/>
              </a:rPr>
              <a:t>Showed that translating an existing verbal micro-level theory into a computational model routinely exposes internal contradictions and unstated assumptions that verbal reasoning alone does not surface, even for well-established theories.</a:t>
            </a:r>
            <a:endParaRPr lang="en-US" sz="2100" dirty="0"/>
          </a:p>
        </p:txBody>
      </p:sp>
      <p:sp>
        <p:nvSpPr>
          <p:cNvPr id="11"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14</a:t>
            </a:r>
            <a:endParaRPr lang="en-US" sz="1000" dirty="0"/>
          </a:p>
        </p:txBody>
      </p:sp>
      <p:pic>
        <p:nvPicPr>
          <p:cNvPr id="12"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0E0E"/>
        </a:solidFill>
      </p:bgPr>
    </p:bg>
    <p:spTree>
      <p:nvGrpSpPr>
        <p:cNvPr id="1" name=""/>
        <p:cNvGrpSpPr/>
        <p:nvPr/>
      </p:nvGrpSpPr>
      <p:grpSpPr>
        <a:xfrm>
          <a:off x="0" y="0"/>
          <a:ext cx="0" cy="0"/>
          <a:chOff x="0" y="0"/>
          <a:chExt cx="0" cy="0"/>
        </a:xfrm>
      </p:grpSpPr>
      <p:pic>
        <p:nvPicPr>
          <p:cNvPr id="2" name="Image 0" descr="assets/art_buil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82296" cy="6858000"/>
          </a:xfrm>
          <a:prstGeom prst="rect">
            <a:avLst/>
          </a:prstGeom>
          <a:solidFill>
            <a:srgbClr val="B60000"/>
          </a:solidFill>
          <a:ln/>
        </p:spPr>
      </p:sp>
      <p:sp>
        <p:nvSpPr>
          <p:cNvPr id="4" name="Text 1"/>
          <p:cNvSpPr txBox="1"/>
          <p:nvPr/>
        </p:nvSpPr>
        <p:spPr>
          <a:xfrm>
            <a:off x="731520" y="685800"/>
            <a:ext cx="4572000" cy="1737360"/>
          </a:xfrm>
          <a:prstGeom prst="rect">
            <a:avLst/>
          </a:prstGeom>
          <a:noFill/>
          <a:ln/>
        </p:spPr>
        <p:txBody>
          <a:bodyPr wrap="square" lIns="0" tIns="0" rIns="0" bIns="0" rtlCol="0" anchor="ctr"/>
          <a:lstStyle/>
          <a:p>
            <a:pPr indent="0" marL="0">
              <a:buNone/>
            </a:pPr>
            <a:r>
              <a:rPr lang="en-US" sz="13200" b="1" dirty="0">
                <a:solidFill>
                  <a:srgbClr val="333333"/>
                </a:solidFill>
                <a:latin typeface="Calibri" pitchFamily="34" charset="0"/>
                <a:ea typeface="Calibri" pitchFamily="34" charset="-122"/>
                <a:cs typeface="Calibri" pitchFamily="34" charset="-120"/>
              </a:rPr>
              <a:t>03</a:t>
            </a:r>
            <a:endParaRPr lang="en-US" sz="13200" dirty="0"/>
          </a:p>
        </p:txBody>
      </p:sp>
      <p:sp>
        <p:nvSpPr>
          <p:cNvPr id="5" name="Text 2"/>
          <p:cNvSpPr txBox="1"/>
          <p:nvPr/>
        </p:nvSpPr>
        <p:spPr>
          <a:xfrm>
            <a:off x="822960" y="2697480"/>
            <a:ext cx="5943600" cy="365760"/>
          </a:xfrm>
          <a:prstGeom prst="rect">
            <a:avLst/>
          </a:prstGeom>
          <a:noFill/>
          <a:ln/>
        </p:spPr>
        <p:txBody>
          <a:bodyPr wrap="square" lIns="0" tIns="0" rIns="0" bIns="0" rtlCol="0" anchor="ctr"/>
          <a:lstStyle/>
          <a:p>
            <a:pPr indent="0" marL="0">
              <a:buNone/>
            </a:pPr>
            <a:r>
              <a:rPr lang="en-US" sz="1400" b="1" spc="300" kern="0" dirty="0">
                <a:solidFill>
                  <a:srgbClr val="E1E1E1"/>
                </a:solidFill>
                <a:latin typeface="Calibri" pitchFamily="34" charset="0"/>
                <a:ea typeface="Calibri" pitchFamily="34" charset="-122"/>
                <a:cs typeface="Calibri" pitchFamily="34" charset="-120"/>
              </a:rPr>
              <a:t>PART 03 · BUILD &amp; SWEEP</a:t>
            </a:r>
            <a:endParaRPr lang="en-US" sz="1400" dirty="0"/>
          </a:p>
        </p:txBody>
      </p:sp>
      <p:sp>
        <p:nvSpPr>
          <p:cNvPr id="6" name="Text 3"/>
          <p:cNvSpPr txBox="1"/>
          <p:nvPr/>
        </p:nvSpPr>
        <p:spPr>
          <a:xfrm>
            <a:off x="822960" y="3108960"/>
            <a:ext cx="5669280" cy="1463040"/>
          </a:xfrm>
          <a:prstGeom prst="rect">
            <a:avLst/>
          </a:prstGeom>
          <a:noFill/>
          <a:ln/>
        </p:spPr>
        <p:txBody>
          <a:bodyPr wrap="square" lIns="0" tIns="0" rIns="0" bIns="0" rtlCol="0" anchor="t"/>
          <a:lstStyle/>
          <a:p>
            <a:pPr indent="0" marL="0">
              <a:lnSpc>
                <a:spcPct val="100000"/>
              </a:lnSpc>
              <a:buNone/>
            </a:pPr>
            <a:r>
              <a:rPr lang="en-US" sz="4200" b="1" dirty="0">
                <a:solidFill>
                  <a:srgbClr val="F2F2F2"/>
                </a:solidFill>
                <a:latin typeface="Calibri" pitchFamily="34" charset="0"/>
                <a:ea typeface="Calibri" pitchFamily="34" charset="-122"/>
                <a:cs typeface="Calibri" pitchFamily="34" charset="-120"/>
              </a:rPr>
              <a:t>One model, four stages</a:t>
            </a:r>
            <a:endParaRPr lang="en-US" sz="4200" dirty="0"/>
          </a:p>
        </p:txBody>
      </p:sp>
      <p:sp>
        <p:nvSpPr>
          <p:cNvPr id="7" name="Shape 4"/>
          <p:cNvSpPr/>
          <p:nvPr/>
        </p:nvSpPr>
        <p:spPr>
          <a:xfrm>
            <a:off x="822960" y="4709160"/>
            <a:ext cx="1005840" cy="54864"/>
          </a:xfrm>
          <a:prstGeom prst="rect">
            <a:avLst/>
          </a:prstGeom>
          <a:solidFill>
            <a:srgbClr val="B60000"/>
          </a:solidFill>
          <a:ln/>
        </p:spPr>
      </p:sp>
      <p:sp>
        <p:nvSpPr>
          <p:cNvPr id="8" name="Text 5"/>
          <p:cNvSpPr txBox="1"/>
          <p:nvPr/>
        </p:nvSpPr>
        <p:spPr>
          <a:xfrm>
            <a:off x="822960" y="4937760"/>
            <a:ext cx="5852160" cy="1005840"/>
          </a:xfrm>
          <a:prstGeom prst="rect">
            <a:avLst/>
          </a:prstGeom>
          <a:noFill/>
          <a:ln/>
        </p:spPr>
        <p:txBody>
          <a:bodyPr wrap="square" lIns="0" tIns="0" rIns="0" bIns="0" rtlCol="0" anchor="t"/>
          <a:lstStyle/>
          <a:p>
            <a:pPr indent="0" marL="0">
              <a:lnSpc>
                <a:spcPct val="125000"/>
              </a:lnSpc>
              <a:buNone/>
            </a:pPr>
            <a:r>
              <a:rPr lang="en-US" sz="1700" dirty="0">
                <a:solidFill>
                  <a:srgbClr val="E1E1E1"/>
                </a:solidFill>
                <a:latin typeface="Calibri" pitchFamily="34" charset="0"/>
                <a:ea typeface="Calibri" pitchFamily="34" charset="-122"/>
                <a:cs typeface="Calibri" pitchFamily="34" charset="-120"/>
              </a:rPr>
              <a:t>A bounded-confidence model built live, then swept like a factorial design.</a:t>
            </a:r>
            <a:endParaRPr lang="en-US" sz="1700" dirty="0"/>
          </a:p>
        </p:txBody>
      </p:sp>
      <p:sp>
        <p:nvSpPr>
          <p:cNvPr id="9" name="Text 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E1E1E1"/>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E1E1E1"/>
                </a:solidFill>
                <a:latin typeface="Courier New" pitchFamily="34" charset="0"/>
                <a:ea typeface="Courier New" pitchFamily="34" charset="-122"/>
                <a:cs typeface="Courier New" pitchFamily="34" charset="-120"/>
              </a:rPr>
              <a:t>tick 15</a:t>
            </a:r>
            <a:endParaRPr lang="en-US" sz="1000" dirty="0"/>
          </a:p>
        </p:txBody>
      </p:sp>
      <p:pic>
        <p:nvPicPr>
          <p:cNvPr id="10" name="Image 1" descr="assets/ncite_logo_white.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0E0E"/>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E1E1E1"/>
                </a:solidFill>
                <a:latin typeface="Calibri" pitchFamily="34" charset="0"/>
                <a:ea typeface="Calibri" pitchFamily="34" charset="-122"/>
                <a:cs typeface="Calibri" pitchFamily="34" charset="-120"/>
              </a:rPr>
              <a:t>LIVE BUILD · STAGE 1</a:t>
            </a:r>
            <a:endParaRPr lang="en-US" sz="1300" dirty="0"/>
          </a:p>
        </p:txBody>
      </p:sp>
      <p:sp>
        <p:nvSpPr>
          <p:cNvPr id="4" name="Text 2"/>
          <p:cNvSpPr txBox="1"/>
          <p:nvPr/>
        </p:nvSpPr>
        <p:spPr>
          <a:xfrm>
            <a:off x="640080" y="914400"/>
            <a:ext cx="10881360" cy="822960"/>
          </a:xfrm>
          <a:prstGeom prst="rect">
            <a:avLst/>
          </a:prstGeom>
          <a:noFill/>
          <a:ln/>
        </p:spPr>
        <p:txBody>
          <a:bodyPr wrap="square" lIns="0" tIns="0" rIns="0" bIns="0" rtlCol="0" anchor="ctr"/>
          <a:lstStyle/>
          <a:p>
            <a:pPr indent="0" marL="0">
              <a:buNone/>
            </a:pPr>
            <a:r>
              <a:rPr lang="en-US" sz="3000" b="1" dirty="0">
                <a:solidFill>
                  <a:srgbClr val="F2F2F2"/>
                </a:solidFill>
                <a:latin typeface="Calibri" pitchFamily="34" charset="0"/>
                <a:ea typeface="Calibri" pitchFamily="34" charset="-122"/>
                <a:cs typeface="Calibri" pitchFamily="34" charset="-120"/>
              </a:rPr>
              <a:t>Full mixing, unconditional convergence</a:t>
            </a:r>
            <a:endParaRPr lang="en-US" sz="3000" dirty="0"/>
          </a:p>
        </p:txBody>
      </p:sp>
      <p:sp>
        <p:nvSpPr>
          <p:cNvPr id="5" name="Text 3"/>
          <p:cNvSpPr txBox="1"/>
          <p:nvPr/>
        </p:nvSpPr>
        <p:spPr>
          <a:xfrm>
            <a:off x="640080" y="1600200"/>
            <a:ext cx="10881360" cy="457200"/>
          </a:xfrm>
          <a:prstGeom prst="rect">
            <a:avLst/>
          </a:prstGeom>
          <a:noFill/>
          <a:ln/>
        </p:spPr>
        <p:txBody>
          <a:bodyPr wrap="square" lIns="0" tIns="0" rIns="0" bIns="0" rtlCol="0" anchor="ctr"/>
          <a:lstStyle/>
          <a:p>
            <a:pPr indent="0" marL="0">
              <a:buNone/>
            </a:pPr>
            <a:r>
              <a:rPr lang="en-US" sz="1600" i="1" dirty="0">
                <a:solidFill>
                  <a:srgbClr val="E1E1E1"/>
                </a:solidFill>
                <a:latin typeface="Calibri" pitchFamily="34" charset="0"/>
                <a:ea typeface="Calibri" pitchFamily="34" charset="-122"/>
                <a:cs typeface="Calibri" pitchFamily="34" charset="-120"/>
              </a:rPr>
              <a:t>Baseline: every pair that meets moves toward each other. No threshold yet.</a:t>
            </a:r>
            <a:endParaRPr lang="en-US" sz="1600" dirty="0"/>
          </a:p>
        </p:txBody>
      </p:sp>
      <p:sp>
        <p:nvSpPr>
          <p:cNvPr id="6" name="Shape 4"/>
          <p:cNvSpPr/>
          <p:nvPr/>
        </p:nvSpPr>
        <p:spPr>
          <a:xfrm>
            <a:off x="640080" y="2240280"/>
            <a:ext cx="6858000" cy="3977640"/>
          </a:xfrm>
          <a:prstGeom prst="rect">
            <a:avLst/>
          </a:prstGeom>
          <a:solidFill>
            <a:srgbClr val="333333"/>
          </a:solidFill>
          <a:ln w="12700">
            <a:solidFill>
              <a:srgbClr val="333333"/>
            </a:solidFill>
            <a:prstDash val="solid"/>
          </a:ln>
        </p:spPr>
      </p:sp>
      <p:sp>
        <p:nvSpPr>
          <p:cNvPr id="7" name="Shape 5"/>
          <p:cNvSpPr/>
          <p:nvPr/>
        </p:nvSpPr>
        <p:spPr>
          <a:xfrm>
            <a:off x="640080" y="2240280"/>
            <a:ext cx="6858000" cy="384048"/>
          </a:xfrm>
          <a:prstGeom prst="rect">
            <a:avLst/>
          </a:prstGeom>
          <a:solidFill>
            <a:srgbClr val="262626"/>
          </a:solidFill>
          <a:ln/>
        </p:spPr>
      </p:sp>
      <p:sp>
        <p:nvSpPr>
          <p:cNvPr id="8" name="Shape 6"/>
          <p:cNvSpPr/>
          <p:nvPr/>
        </p:nvSpPr>
        <p:spPr>
          <a:xfrm>
            <a:off x="640080" y="2240280"/>
            <a:ext cx="6858000" cy="45720"/>
          </a:xfrm>
          <a:prstGeom prst="rect">
            <a:avLst/>
          </a:prstGeom>
          <a:solidFill>
            <a:srgbClr val="B60000"/>
          </a:solidFill>
          <a:ln/>
        </p:spPr>
      </p:sp>
      <p:sp>
        <p:nvSpPr>
          <p:cNvPr id="9" name="Text 7"/>
          <p:cNvSpPr txBox="1"/>
          <p:nvPr/>
        </p:nvSpPr>
        <p:spPr>
          <a:xfrm>
            <a:off x="868680" y="2304288"/>
            <a:ext cx="6400800" cy="292608"/>
          </a:xfrm>
          <a:prstGeom prst="rect">
            <a:avLst/>
          </a:prstGeom>
          <a:noFill/>
          <a:ln/>
        </p:spPr>
        <p:txBody>
          <a:bodyPr wrap="square" lIns="0" tIns="0" rIns="0" bIns="0" rtlCol="0" anchor="ctr"/>
          <a:lstStyle/>
          <a:p>
            <a:pPr indent="0" marL="0">
              <a:buNone/>
            </a:pPr>
            <a:r>
              <a:rPr lang="en-US" sz="1100" b="1" dirty="0">
                <a:solidFill>
                  <a:srgbClr val="F2F2F2"/>
                </a:solidFill>
                <a:latin typeface="Courier New" pitchFamily="34" charset="0"/>
                <a:ea typeface="Courier New" pitchFamily="34" charset="-122"/>
                <a:cs typeface="Courier New" pitchFamily="34" charset="-120"/>
              </a:rPr>
              <a:t>stage1.nlogo</a:t>
            </a:r>
            <a:pPr indent="0" marL="0">
              <a:buNone/>
            </a:pPr>
            <a:r>
              <a:rPr lang="en-US" sz="1100" dirty="0">
                <a:solidFill>
                  <a:srgbClr val="8A8A8A"/>
                </a:solidFill>
                <a:latin typeface="Courier New" pitchFamily="34" charset="0"/>
                <a:ea typeface="Courier New" pitchFamily="34" charset="-122"/>
                <a:cs typeface="Courier New" pitchFamily="34" charset="-120"/>
              </a:rPr>
              <a:t>   Interface   Info   </a:t>
            </a:r>
            <a:pPr indent="0" marL="0">
              <a:buNone/>
            </a:pPr>
            <a:r>
              <a:rPr lang="en-US" sz="1100" u="sng" dirty="0">
                <a:solidFill>
                  <a:srgbClr val="F2F2F2"/>
                </a:solidFill>
                <a:uFill>
                  <a:solidFill>
                    <a:srgbClr val="B60000"/>
                  </a:solidFill>
                </a:uFill>
                <a:latin typeface="Courier New" pitchFamily="34" charset="0"/>
                <a:ea typeface="Courier New" pitchFamily="34" charset="-122"/>
                <a:cs typeface="Courier New" pitchFamily="34" charset="-120"/>
              </a:rPr>
              <a:t>Code</a:t>
            </a:r>
            <a:endParaRPr lang="en-US" sz="1100" dirty="0"/>
          </a:p>
        </p:txBody>
      </p:sp>
      <p:sp>
        <p:nvSpPr>
          <p:cNvPr id="10" name="Text 8"/>
          <p:cNvSpPr txBox="1"/>
          <p:nvPr/>
        </p:nvSpPr>
        <p:spPr>
          <a:xfrm>
            <a:off x="868680" y="2788920"/>
            <a:ext cx="6400800" cy="3291840"/>
          </a:xfrm>
          <a:prstGeom prst="rect">
            <a:avLst/>
          </a:prstGeom>
          <a:noFill/>
          <a:ln/>
        </p:spPr>
        <p:txBody>
          <a:bodyPr wrap="square" lIns="0" tIns="0" rIns="0" bIns="0" rtlCol="0" anchor="t"/>
          <a:lstStyle/>
          <a:p>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to</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go</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ask</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turtles</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let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partner</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one-of</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other</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turtles</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let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m</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F2F2F2"/>
                </a:solidFill>
                <a:latin typeface="Courier New" pitchFamily="34" charset="0"/>
                <a:ea typeface="Courier New" pitchFamily="34" charset="-122"/>
                <a:cs typeface="Courier New" pitchFamily="34" charset="-120"/>
              </a:rPr>
              <a:t>of</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partner</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2</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set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m</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ask</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partner</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set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m</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tick</a:t>
            </a:r>
            <a:endParaRPr lang="en-US" sz="1300" dirty="0"/>
          </a:p>
          <a:p>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end</a:t>
            </a:r>
            <a:endParaRPr lang="en-US" sz="1300" dirty="0"/>
          </a:p>
        </p:txBody>
      </p:sp>
      <p:sp>
        <p:nvSpPr>
          <p:cNvPr id="11" name="Shape 9"/>
          <p:cNvSpPr/>
          <p:nvPr/>
        </p:nvSpPr>
        <p:spPr>
          <a:xfrm>
            <a:off x="7726680" y="2240280"/>
            <a:ext cx="3794760" cy="3977640"/>
          </a:xfrm>
          <a:prstGeom prst="rect">
            <a:avLst/>
          </a:prstGeom>
          <a:solidFill>
            <a:srgbClr val="333333"/>
          </a:solidFill>
          <a:ln w="12700">
            <a:solidFill>
              <a:srgbClr val="333333"/>
            </a:solidFill>
            <a:prstDash val="solid"/>
          </a:ln>
        </p:spPr>
      </p:sp>
      <p:sp>
        <p:nvSpPr>
          <p:cNvPr id="12" name="Shape 10"/>
          <p:cNvSpPr/>
          <p:nvPr/>
        </p:nvSpPr>
        <p:spPr>
          <a:xfrm>
            <a:off x="7726680" y="2240280"/>
            <a:ext cx="3794760" cy="45720"/>
          </a:xfrm>
          <a:prstGeom prst="rect">
            <a:avLst/>
          </a:prstGeom>
          <a:solidFill>
            <a:srgbClr val="B60000"/>
          </a:solidFill>
          <a:ln/>
        </p:spPr>
      </p:sp>
      <p:sp>
        <p:nvSpPr>
          <p:cNvPr id="13" name="Text 11"/>
          <p:cNvSpPr txBox="1"/>
          <p:nvPr/>
        </p:nvSpPr>
        <p:spPr>
          <a:xfrm>
            <a:off x="7909560" y="2377440"/>
            <a:ext cx="3383280" cy="320040"/>
          </a:xfrm>
          <a:prstGeom prst="rect">
            <a:avLst/>
          </a:prstGeom>
          <a:noFill/>
          <a:ln/>
        </p:spPr>
        <p:txBody>
          <a:bodyPr wrap="square" lIns="0" tIns="0" rIns="0" bIns="0" rtlCol="0" anchor="ctr"/>
          <a:lstStyle/>
          <a:p>
            <a:pPr indent="0" marL="0">
              <a:buNone/>
            </a:pPr>
            <a:r>
              <a:rPr lang="en-US" sz="1100" b="1" spc="150" kern="0" dirty="0">
                <a:solidFill>
                  <a:srgbClr val="E1E1E1"/>
                </a:solidFill>
                <a:latin typeface="Calibri" pitchFamily="34" charset="0"/>
                <a:ea typeface="Calibri" pitchFamily="34" charset="-122"/>
                <a:cs typeface="Calibri" pitchFamily="34" charset="-120"/>
              </a:rPr>
              <a:t>EXPECTED</a:t>
            </a:r>
            <a:endParaRPr lang="en-US" sz="1100" dirty="0"/>
          </a:p>
        </p:txBody>
      </p:sp>
      <p:sp>
        <p:nvSpPr>
          <p:cNvPr id="14" name="Text 12"/>
          <p:cNvSpPr txBox="1"/>
          <p:nvPr/>
        </p:nvSpPr>
        <p:spPr>
          <a:xfrm>
            <a:off x="7909560" y="2743200"/>
            <a:ext cx="3383280" cy="3337560"/>
          </a:xfrm>
          <a:prstGeom prst="rect">
            <a:avLst/>
          </a:prstGeom>
          <a:noFill/>
          <a:ln/>
        </p:spPr>
        <p:txBody>
          <a:bodyPr wrap="square" lIns="0" tIns="0" rIns="0" bIns="0" rtlCol="0" anchor="ctr"/>
          <a:lstStyle/>
          <a:p>
            <a:pPr indent="0" marL="0">
              <a:lnSpc>
                <a:spcPct val="122000"/>
              </a:lnSpc>
              <a:buNone/>
            </a:pPr>
            <a:r>
              <a:rPr lang="en-US" sz="1800" dirty="0">
                <a:solidFill>
                  <a:srgbClr val="F2F2F2"/>
                </a:solidFill>
                <a:latin typeface="Calibri" pitchFamily="34" charset="0"/>
                <a:ea typeface="Calibri" pitchFamily="34" charset="-122"/>
                <a:cs typeface="Calibri" pitchFamily="34" charset="-120"/>
              </a:rPr>
              <a:t>A near-uniform spread of two hundred agents collapses to a single spike within about fifty ticks, every time, regardless of the starting configuration.</a:t>
            </a:r>
            <a:endParaRPr lang="en-US" sz="1800" dirty="0"/>
          </a:p>
        </p:txBody>
      </p:sp>
      <p:sp>
        <p:nvSpPr>
          <p:cNvPr id="15" name="Text 1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E1E1E1"/>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E1E1E1"/>
                </a:solidFill>
                <a:latin typeface="Courier New" pitchFamily="34" charset="0"/>
                <a:ea typeface="Courier New" pitchFamily="34" charset="-122"/>
                <a:cs typeface="Courier New" pitchFamily="34" charset="-120"/>
              </a:rPr>
              <a:t>tick 16</a:t>
            </a:r>
            <a:endParaRPr lang="en-US" sz="1000" dirty="0"/>
          </a:p>
        </p:txBody>
      </p:sp>
      <p:pic>
        <p:nvPicPr>
          <p:cNvPr id="16" name="Image 0" descr="assets/ncite_logo_white.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LIVE BUILD · STAGE 1 RESULT</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000" b="1" dirty="0">
                <a:solidFill>
                  <a:srgbClr val="0E0E0E"/>
                </a:solidFill>
                <a:latin typeface="Calibri" pitchFamily="34" charset="0"/>
                <a:ea typeface="Calibri" pitchFamily="34" charset="-122"/>
                <a:cs typeface="Calibri" pitchFamily="34" charset="-120"/>
              </a:rPr>
              <a:t>Boring on purpose</a:t>
            </a:r>
            <a:endParaRPr lang="en-US" sz="3000" dirty="0"/>
          </a:p>
        </p:txBody>
      </p:sp>
      <p:pic>
        <p:nvPicPr>
          <p:cNvPr id="5" name="Image 0" descr="figures/stage1_histogram.png">    </p:cNvPr>
          <p:cNvPicPr>
            <a:picLocks noChangeAspect="1"/>
          </p:cNvPicPr>
          <p:nvPr/>
        </p:nvPicPr>
        <p:blipFill>
          <a:blip r:embed="rId1"/>
          <a:stretch>
            <a:fillRect/>
          </a:stretch>
        </p:blipFill>
        <p:spPr>
          <a:xfrm>
            <a:off x="1463040" y="1965960"/>
            <a:ext cx="9235440" cy="4381139"/>
          </a:xfrm>
          <a:prstGeom prst="rect">
            <a:avLst/>
          </a:prstGeom>
        </p:spPr>
      </p:pic>
      <p:sp>
        <p:nvSpPr>
          <p:cNvPr id="6" name="Text 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17</a:t>
            </a:r>
            <a:endParaRPr lang="en-US" sz="1000" dirty="0"/>
          </a:p>
        </p:txBody>
      </p:sp>
      <p:pic>
        <p:nvPicPr>
          <p:cNvPr id="7"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0E0E"/>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E1E1E1"/>
                </a:solidFill>
                <a:latin typeface="Calibri" pitchFamily="34" charset="0"/>
                <a:ea typeface="Calibri" pitchFamily="34" charset="-122"/>
                <a:cs typeface="Calibri" pitchFamily="34" charset="-120"/>
              </a:rPr>
              <a:t>LIVE BUILD · STAGE 2</a:t>
            </a:r>
            <a:endParaRPr lang="en-US" sz="1300" dirty="0"/>
          </a:p>
        </p:txBody>
      </p:sp>
      <p:sp>
        <p:nvSpPr>
          <p:cNvPr id="4" name="Text 2"/>
          <p:cNvSpPr txBox="1"/>
          <p:nvPr/>
        </p:nvSpPr>
        <p:spPr>
          <a:xfrm>
            <a:off x="640080" y="914400"/>
            <a:ext cx="10881360" cy="822960"/>
          </a:xfrm>
          <a:prstGeom prst="rect">
            <a:avLst/>
          </a:prstGeom>
          <a:noFill/>
          <a:ln/>
        </p:spPr>
        <p:txBody>
          <a:bodyPr wrap="square" lIns="0" tIns="0" rIns="0" bIns="0" rtlCol="0" anchor="ctr"/>
          <a:lstStyle/>
          <a:p>
            <a:pPr indent="0" marL="0">
              <a:buNone/>
            </a:pPr>
            <a:r>
              <a:rPr lang="en-US" sz="3000" b="1" dirty="0">
                <a:solidFill>
                  <a:srgbClr val="F2F2F2"/>
                </a:solidFill>
                <a:latin typeface="Calibri" pitchFamily="34" charset="0"/>
                <a:ea typeface="Calibri" pitchFamily="34" charset="-122"/>
                <a:cs typeface="Calibri" pitchFamily="34" charset="-120"/>
              </a:rPr>
              <a:t>Add the confidence threshold</a:t>
            </a:r>
            <a:endParaRPr lang="en-US" sz="3000" dirty="0"/>
          </a:p>
        </p:txBody>
      </p:sp>
      <p:sp>
        <p:nvSpPr>
          <p:cNvPr id="5" name="Text 3"/>
          <p:cNvSpPr txBox="1"/>
          <p:nvPr/>
        </p:nvSpPr>
        <p:spPr>
          <a:xfrm>
            <a:off x="640080" y="1600200"/>
            <a:ext cx="10881360" cy="457200"/>
          </a:xfrm>
          <a:prstGeom prst="rect">
            <a:avLst/>
          </a:prstGeom>
          <a:noFill/>
          <a:ln/>
        </p:spPr>
        <p:txBody>
          <a:bodyPr wrap="square" lIns="0" tIns="0" rIns="0" bIns="0" rtlCol="0" anchor="ctr"/>
          <a:lstStyle/>
          <a:p>
            <a:pPr indent="0" marL="0">
              <a:buNone/>
            </a:pPr>
            <a:r>
              <a:rPr lang="en-US" sz="1600" i="1" dirty="0">
                <a:solidFill>
                  <a:srgbClr val="E1E1E1"/>
                </a:solidFill>
                <a:latin typeface="Calibri" pitchFamily="34" charset="0"/>
                <a:ea typeface="Calibri" pitchFamily="34" charset="-122"/>
                <a:cs typeface="Calibri" pitchFamily="34" charset="-120"/>
              </a:rPr>
              <a:t>One new slider, one new condition (Deffuant et al., 2000). Only agents close enough in opinion update at all.</a:t>
            </a:r>
            <a:endParaRPr lang="en-US" sz="1600" dirty="0"/>
          </a:p>
        </p:txBody>
      </p:sp>
      <p:sp>
        <p:nvSpPr>
          <p:cNvPr id="6" name="Shape 4"/>
          <p:cNvSpPr/>
          <p:nvPr/>
        </p:nvSpPr>
        <p:spPr>
          <a:xfrm>
            <a:off x="640080" y="2240280"/>
            <a:ext cx="6858000" cy="3977640"/>
          </a:xfrm>
          <a:prstGeom prst="rect">
            <a:avLst/>
          </a:prstGeom>
          <a:solidFill>
            <a:srgbClr val="333333"/>
          </a:solidFill>
          <a:ln w="12700">
            <a:solidFill>
              <a:srgbClr val="333333"/>
            </a:solidFill>
            <a:prstDash val="solid"/>
          </a:ln>
        </p:spPr>
      </p:sp>
      <p:sp>
        <p:nvSpPr>
          <p:cNvPr id="7" name="Shape 5"/>
          <p:cNvSpPr/>
          <p:nvPr/>
        </p:nvSpPr>
        <p:spPr>
          <a:xfrm>
            <a:off x="640080" y="2240280"/>
            <a:ext cx="6858000" cy="384048"/>
          </a:xfrm>
          <a:prstGeom prst="rect">
            <a:avLst/>
          </a:prstGeom>
          <a:solidFill>
            <a:srgbClr val="262626"/>
          </a:solidFill>
          <a:ln/>
        </p:spPr>
      </p:sp>
      <p:sp>
        <p:nvSpPr>
          <p:cNvPr id="8" name="Shape 6"/>
          <p:cNvSpPr/>
          <p:nvPr/>
        </p:nvSpPr>
        <p:spPr>
          <a:xfrm>
            <a:off x="640080" y="2240280"/>
            <a:ext cx="6858000" cy="45720"/>
          </a:xfrm>
          <a:prstGeom prst="rect">
            <a:avLst/>
          </a:prstGeom>
          <a:solidFill>
            <a:srgbClr val="B60000"/>
          </a:solidFill>
          <a:ln/>
        </p:spPr>
      </p:sp>
      <p:sp>
        <p:nvSpPr>
          <p:cNvPr id="9" name="Text 7"/>
          <p:cNvSpPr txBox="1"/>
          <p:nvPr/>
        </p:nvSpPr>
        <p:spPr>
          <a:xfrm>
            <a:off x="868680" y="2304288"/>
            <a:ext cx="6400800" cy="292608"/>
          </a:xfrm>
          <a:prstGeom prst="rect">
            <a:avLst/>
          </a:prstGeom>
          <a:noFill/>
          <a:ln/>
        </p:spPr>
        <p:txBody>
          <a:bodyPr wrap="square" lIns="0" tIns="0" rIns="0" bIns="0" rtlCol="0" anchor="ctr"/>
          <a:lstStyle/>
          <a:p>
            <a:pPr indent="0" marL="0">
              <a:buNone/>
            </a:pPr>
            <a:r>
              <a:rPr lang="en-US" sz="1100" b="1" dirty="0">
                <a:solidFill>
                  <a:srgbClr val="F2F2F2"/>
                </a:solidFill>
                <a:latin typeface="Courier New" pitchFamily="34" charset="0"/>
                <a:ea typeface="Courier New" pitchFamily="34" charset="-122"/>
                <a:cs typeface="Courier New" pitchFamily="34" charset="-120"/>
              </a:rPr>
              <a:t>stage2.nlogo</a:t>
            </a:r>
            <a:pPr indent="0" marL="0">
              <a:buNone/>
            </a:pPr>
            <a:r>
              <a:rPr lang="en-US" sz="1100" dirty="0">
                <a:solidFill>
                  <a:srgbClr val="8A8A8A"/>
                </a:solidFill>
                <a:latin typeface="Courier New" pitchFamily="34" charset="0"/>
                <a:ea typeface="Courier New" pitchFamily="34" charset="-122"/>
                <a:cs typeface="Courier New" pitchFamily="34" charset="-120"/>
              </a:rPr>
              <a:t>   Interface   Info   </a:t>
            </a:r>
            <a:pPr indent="0" marL="0">
              <a:buNone/>
            </a:pPr>
            <a:r>
              <a:rPr lang="en-US" sz="1100" u="sng" dirty="0">
                <a:solidFill>
                  <a:srgbClr val="F2F2F2"/>
                </a:solidFill>
                <a:uFill>
                  <a:solidFill>
                    <a:srgbClr val="B60000"/>
                  </a:solidFill>
                </a:uFill>
                <a:latin typeface="Courier New" pitchFamily="34" charset="0"/>
                <a:ea typeface="Courier New" pitchFamily="34" charset="-122"/>
                <a:cs typeface="Courier New" pitchFamily="34" charset="-120"/>
              </a:rPr>
              <a:t>Code</a:t>
            </a:r>
            <a:endParaRPr lang="en-US" sz="1100" dirty="0"/>
          </a:p>
        </p:txBody>
      </p:sp>
      <p:sp>
        <p:nvSpPr>
          <p:cNvPr id="10" name="Text 8"/>
          <p:cNvSpPr txBox="1"/>
          <p:nvPr/>
        </p:nvSpPr>
        <p:spPr>
          <a:xfrm>
            <a:off x="868680" y="2788920"/>
            <a:ext cx="6400800" cy="3291840"/>
          </a:xfrm>
          <a:prstGeom prst="rect">
            <a:avLst/>
          </a:prstGeom>
          <a:noFill/>
          <a:ln/>
        </p:spPr>
        <p:txBody>
          <a:bodyPr wrap="square" lIns="0" tIns="0" rIns="0" bIns="0" rtlCol="0" anchor="t"/>
          <a:lstStyle/>
          <a:p>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to</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go</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ask</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turtles</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let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partner</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one-of</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other</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turtles</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let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d</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abs</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F2F2F2"/>
                </a:solidFill>
                <a:latin typeface="Courier New" pitchFamily="34" charset="0"/>
                <a:ea typeface="Courier New" pitchFamily="34" charset="-122"/>
                <a:cs typeface="Courier New" pitchFamily="34" charset="-120"/>
              </a:rPr>
              <a:t>of</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partner</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F2F2F2"/>
                </a:solidFill>
                <a:latin typeface="Courier New" pitchFamily="34" charset="0"/>
                <a:ea typeface="Courier New" pitchFamily="34" charset="-122"/>
                <a:cs typeface="Courier New" pitchFamily="34" charset="-120"/>
              </a:rPr>
              <a:t>if</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d</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&lt;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confidence-threshold</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let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m</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F2F2F2"/>
                </a:solidFill>
                <a:latin typeface="Courier New" pitchFamily="34" charset="0"/>
                <a:ea typeface="Courier New" pitchFamily="34" charset="-122"/>
                <a:cs typeface="Courier New" pitchFamily="34" charset="-120"/>
              </a:rPr>
              <a:t>of</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partner</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2</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set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m</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ask</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partner</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set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m</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tick</a:t>
            </a:r>
            <a:endParaRPr lang="en-US" sz="1300" dirty="0"/>
          </a:p>
          <a:p>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end</a:t>
            </a:r>
            <a:endParaRPr lang="en-US" sz="1300" dirty="0"/>
          </a:p>
        </p:txBody>
      </p:sp>
      <p:sp>
        <p:nvSpPr>
          <p:cNvPr id="11" name="Shape 9"/>
          <p:cNvSpPr/>
          <p:nvPr/>
        </p:nvSpPr>
        <p:spPr>
          <a:xfrm>
            <a:off x="7726680" y="2240280"/>
            <a:ext cx="3794760" cy="3977640"/>
          </a:xfrm>
          <a:prstGeom prst="rect">
            <a:avLst/>
          </a:prstGeom>
          <a:solidFill>
            <a:srgbClr val="333333"/>
          </a:solidFill>
          <a:ln w="12700">
            <a:solidFill>
              <a:srgbClr val="333333"/>
            </a:solidFill>
            <a:prstDash val="solid"/>
          </a:ln>
        </p:spPr>
      </p:sp>
      <p:sp>
        <p:nvSpPr>
          <p:cNvPr id="12" name="Shape 10"/>
          <p:cNvSpPr/>
          <p:nvPr/>
        </p:nvSpPr>
        <p:spPr>
          <a:xfrm>
            <a:off x="7726680" y="2240280"/>
            <a:ext cx="3794760" cy="45720"/>
          </a:xfrm>
          <a:prstGeom prst="rect">
            <a:avLst/>
          </a:prstGeom>
          <a:solidFill>
            <a:srgbClr val="B60000"/>
          </a:solidFill>
          <a:ln/>
        </p:spPr>
      </p:sp>
      <p:sp>
        <p:nvSpPr>
          <p:cNvPr id="13" name="Text 11"/>
          <p:cNvSpPr txBox="1"/>
          <p:nvPr/>
        </p:nvSpPr>
        <p:spPr>
          <a:xfrm>
            <a:off x="7909560" y="2377440"/>
            <a:ext cx="3383280" cy="320040"/>
          </a:xfrm>
          <a:prstGeom prst="rect">
            <a:avLst/>
          </a:prstGeom>
          <a:noFill/>
          <a:ln/>
        </p:spPr>
        <p:txBody>
          <a:bodyPr wrap="square" lIns="0" tIns="0" rIns="0" bIns="0" rtlCol="0" anchor="ctr"/>
          <a:lstStyle/>
          <a:p>
            <a:pPr indent="0" marL="0">
              <a:buNone/>
            </a:pPr>
            <a:r>
              <a:rPr lang="en-US" sz="1100" b="1" spc="150" kern="0" dirty="0">
                <a:solidFill>
                  <a:srgbClr val="E1E1E1"/>
                </a:solidFill>
                <a:latin typeface="Calibri" pitchFamily="34" charset="0"/>
                <a:ea typeface="Calibri" pitchFamily="34" charset="-122"/>
                <a:cs typeface="Calibri" pitchFamily="34" charset="-120"/>
              </a:rPr>
              <a:t>EXPECTED</a:t>
            </a:r>
            <a:endParaRPr lang="en-US" sz="1100" dirty="0"/>
          </a:p>
        </p:txBody>
      </p:sp>
      <p:sp>
        <p:nvSpPr>
          <p:cNvPr id="14" name="Text 12"/>
          <p:cNvSpPr txBox="1"/>
          <p:nvPr/>
        </p:nvSpPr>
        <p:spPr>
          <a:xfrm>
            <a:off x="7909560" y="2743200"/>
            <a:ext cx="3383280" cy="3337560"/>
          </a:xfrm>
          <a:prstGeom prst="rect">
            <a:avLst/>
          </a:prstGeom>
          <a:noFill/>
          <a:ln/>
        </p:spPr>
        <p:txBody>
          <a:bodyPr wrap="square" lIns="0" tIns="0" rIns="0" bIns="0" rtlCol="0" anchor="ctr"/>
          <a:lstStyle/>
          <a:p>
            <a:pPr indent="0" marL="0">
              <a:lnSpc>
                <a:spcPct val="122000"/>
              </a:lnSpc>
              <a:buNone/>
            </a:pPr>
            <a:r>
              <a:rPr lang="en-US" sz="1800" dirty="0">
                <a:solidFill>
                  <a:srgbClr val="F2F2F2"/>
                </a:solidFill>
                <a:latin typeface="Calibri" pitchFamily="34" charset="0"/>
                <a:ea typeface="Calibri" pitchFamily="34" charset="-122"/>
                <a:cs typeface="Calibri" pitchFamily="34" charset="-120"/>
              </a:rPr>
              <a:t>Run at threshold 0.5: consensus, as before. Run again at threshold 0.15, same seed: two or three permanent, isolated clusters.</a:t>
            </a:r>
            <a:endParaRPr lang="en-US" sz="1800" dirty="0"/>
          </a:p>
        </p:txBody>
      </p:sp>
      <p:sp>
        <p:nvSpPr>
          <p:cNvPr id="15" name="Text 1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E1E1E1"/>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E1E1E1"/>
                </a:solidFill>
                <a:latin typeface="Courier New" pitchFamily="34" charset="0"/>
                <a:ea typeface="Courier New" pitchFamily="34" charset="-122"/>
                <a:cs typeface="Courier New" pitchFamily="34" charset="-120"/>
              </a:rPr>
              <a:t>tick 18</a:t>
            </a:r>
            <a:endParaRPr lang="en-US" sz="1000" dirty="0"/>
          </a:p>
        </p:txBody>
      </p:sp>
      <p:pic>
        <p:nvPicPr>
          <p:cNvPr id="16" name="Image 0" descr="assets/ncite_logo_white.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LIVE BUILD · STAGE 2 SETUP</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000" b="1" dirty="0">
                <a:solidFill>
                  <a:srgbClr val="0E0E0E"/>
                </a:solidFill>
                <a:latin typeface="Calibri" pitchFamily="34" charset="0"/>
                <a:ea typeface="Calibri" pitchFamily="34" charset="-122"/>
                <a:cs typeface="Calibri" pitchFamily="34" charset="-120"/>
              </a:rPr>
              <a:t>Same seed, one slider moved</a:t>
            </a:r>
            <a:endParaRPr lang="en-US" sz="3000" dirty="0"/>
          </a:p>
        </p:txBody>
      </p:sp>
      <p:sp>
        <p:nvSpPr>
          <p:cNvPr id="5" name="Shape 3"/>
          <p:cNvSpPr/>
          <p:nvPr/>
        </p:nvSpPr>
        <p:spPr>
          <a:xfrm>
            <a:off x="640080" y="2377440"/>
            <a:ext cx="10881360" cy="1005840"/>
          </a:xfrm>
          <a:prstGeom prst="rect">
            <a:avLst/>
          </a:prstGeom>
          <a:solidFill>
            <a:srgbClr val="E1E1E1"/>
          </a:solidFill>
          <a:ln/>
        </p:spPr>
      </p:sp>
      <p:sp>
        <p:nvSpPr>
          <p:cNvPr id="6" name="Text 4"/>
          <p:cNvSpPr txBox="1"/>
          <p:nvPr/>
        </p:nvSpPr>
        <p:spPr>
          <a:xfrm>
            <a:off x="914400" y="2542032"/>
            <a:ext cx="4572000" cy="685800"/>
          </a:xfrm>
          <a:prstGeom prst="rect">
            <a:avLst/>
          </a:prstGeom>
          <a:noFill/>
          <a:ln/>
        </p:spPr>
        <p:txBody>
          <a:bodyPr wrap="square" lIns="0" tIns="0" rIns="0" bIns="0" rtlCol="0" anchor="ctr"/>
          <a:lstStyle/>
          <a:p>
            <a:pPr indent="0" marL="0">
              <a:buNone/>
            </a:pPr>
            <a:r>
              <a:rPr lang="en-US" sz="1600" b="1" dirty="0">
                <a:solidFill>
                  <a:srgbClr val="B60000"/>
                </a:solidFill>
                <a:latin typeface="Courier New" pitchFamily="34" charset="0"/>
                <a:ea typeface="Courier New" pitchFamily="34" charset="-122"/>
                <a:cs typeface="Courier New" pitchFamily="34" charset="-120"/>
              </a:rPr>
              <a:t>confidence-threshold = 0.5</a:t>
            </a:r>
            <a:endParaRPr lang="en-US" sz="1600" dirty="0"/>
          </a:p>
        </p:txBody>
      </p:sp>
      <p:sp>
        <p:nvSpPr>
          <p:cNvPr id="7" name="Text 5"/>
          <p:cNvSpPr txBox="1"/>
          <p:nvPr/>
        </p:nvSpPr>
        <p:spPr>
          <a:xfrm>
            <a:off x="5577840" y="2542032"/>
            <a:ext cx="5669280" cy="685800"/>
          </a:xfrm>
          <a:prstGeom prst="rect">
            <a:avLst/>
          </a:prstGeom>
          <a:noFill/>
          <a:ln/>
        </p:spPr>
        <p:txBody>
          <a:bodyPr wrap="square" lIns="0" tIns="0" rIns="0" bIns="0" rtlCol="0" anchor="ctr"/>
          <a:lstStyle/>
          <a:p>
            <a:pPr indent="0" marL="0">
              <a:buNone/>
            </a:pPr>
            <a:r>
              <a:rPr lang="en-US" sz="1600" dirty="0">
                <a:solidFill>
                  <a:srgbClr val="333333"/>
                </a:solidFill>
                <a:latin typeface="Calibri" pitchFamily="34" charset="0"/>
                <a:ea typeface="Calibri" pitchFamily="34" charset="-122"/>
                <a:cs typeface="Calibri" pitchFamily="34" charset="-120"/>
              </a:rPr>
              <a:t>behaves like Stage 1 — full consensus</a:t>
            </a:r>
            <a:endParaRPr lang="en-US" sz="1600" dirty="0"/>
          </a:p>
        </p:txBody>
      </p:sp>
      <p:sp>
        <p:nvSpPr>
          <p:cNvPr id="8" name="Shape 6"/>
          <p:cNvSpPr/>
          <p:nvPr/>
        </p:nvSpPr>
        <p:spPr>
          <a:xfrm>
            <a:off x="640080" y="3611880"/>
            <a:ext cx="10881360" cy="1005840"/>
          </a:xfrm>
          <a:prstGeom prst="rect">
            <a:avLst/>
          </a:prstGeom>
          <a:solidFill>
            <a:srgbClr val="E1E1E1"/>
          </a:solidFill>
          <a:ln/>
        </p:spPr>
      </p:sp>
      <p:sp>
        <p:nvSpPr>
          <p:cNvPr id="9" name="Text 7"/>
          <p:cNvSpPr txBox="1"/>
          <p:nvPr/>
        </p:nvSpPr>
        <p:spPr>
          <a:xfrm>
            <a:off x="914400" y="3776472"/>
            <a:ext cx="4572000" cy="685800"/>
          </a:xfrm>
          <a:prstGeom prst="rect">
            <a:avLst/>
          </a:prstGeom>
          <a:noFill/>
          <a:ln/>
        </p:spPr>
        <p:txBody>
          <a:bodyPr wrap="square" lIns="0" tIns="0" rIns="0" bIns="0" rtlCol="0" anchor="ctr"/>
          <a:lstStyle/>
          <a:p>
            <a:pPr indent="0" marL="0">
              <a:buNone/>
            </a:pPr>
            <a:r>
              <a:rPr lang="en-US" sz="1600" b="1" dirty="0">
                <a:solidFill>
                  <a:srgbClr val="B60000"/>
                </a:solidFill>
                <a:latin typeface="Courier New" pitchFamily="34" charset="0"/>
                <a:ea typeface="Courier New" pitchFamily="34" charset="-122"/>
                <a:cs typeface="Courier New" pitchFamily="34" charset="-120"/>
              </a:rPr>
              <a:t>confidence-threshold = 0.15</a:t>
            </a:r>
            <a:endParaRPr lang="en-US" sz="1600" dirty="0"/>
          </a:p>
        </p:txBody>
      </p:sp>
      <p:sp>
        <p:nvSpPr>
          <p:cNvPr id="10" name="Text 8"/>
          <p:cNvSpPr txBox="1"/>
          <p:nvPr/>
        </p:nvSpPr>
        <p:spPr>
          <a:xfrm>
            <a:off x="5577840" y="3776472"/>
            <a:ext cx="5669280" cy="685800"/>
          </a:xfrm>
          <a:prstGeom prst="rect">
            <a:avLst/>
          </a:prstGeom>
          <a:noFill/>
          <a:ln/>
        </p:spPr>
        <p:txBody>
          <a:bodyPr wrap="square" lIns="0" tIns="0" rIns="0" bIns="0" rtlCol="0" anchor="ctr"/>
          <a:lstStyle/>
          <a:p>
            <a:pPr indent="0" marL="0">
              <a:buNone/>
            </a:pPr>
            <a:r>
              <a:rPr lang="en-US" sz="1600" dirty="0">
                <a:solidFill>
                  <a:srgbClr val="333333"/>
                </a:solidFill>
                <a:latin typeface="Calibri" pitchFamily="34" charset="0"/>
                <a:ea typeface="Calibri" pitchFamily="34" charset="-122"/>
                <a:cs typeface="Calibri" pitchFamily="34" charset="-120"/>
              </a:rPr>
              <a:t>fragments into stable, permanent clusters</a:t>
            </a:r>
            <a:endParaRPr lang="en-US" sz="1600" dirty="0"/>
          </a:p>
        </p:txBody>
      </p:sp>
      <p:sp>
        <p:nvSpPr>
          <p:cNvPr id="11" name="Text 9"/>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19</a:t>
            </a:r>
            <a:endParaRPr lang="en-US" sz="1000" dirty="0"/>
          </a:p>
        </p:txBody>
      </p:sp>
      <p:pic>
        <p:nvPicPr>
          <p:cNvPr id="12"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LIVE BUILD · STAGE 2 RESULT</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000" b="1" dirty="0">
                <a:solidFill>
                  <a:srgbClr val="0E0E0E"/>
                </a:solidFill>
                <a:latin typeface="Calibri" pitchFamily="34" charset="0"/>
                <a:ea typeface="Calibri" pitchFamily="34" charset="-122"/>
                <a:cs typeface="Calibri" pitchFamily="34" charset="-120"/>
              </a:rPr>
              <a:t>One parameter, two outcomes</a:t>
            </a:r>
            <a:endParaRPr lang="en-US" sz="3000" dirty="0"/>
          </a:p>
        </p:txBody>
      </p:sp>
      <p:pic>
        <p:nvPicPr>
          <p:cNvPr id="5" name="Image 0" descr="figures/stage2_trajectories.png">    </p:cNvPr>
          <p:cNvPicPr>
            <a:picLocks noChangeAspect="1"/>
          </p:cNvPicPr>
          <p:nvPr/>
        </p:nvPicPr>
        <p:blipFill>
          <a:blip r:embed="rId1"/>
          <a:stretch>
            <a:fillRect/>
          </a:stretch>
        </p:blipFill>
        <p:spPr>
          <a:xfrm>
            <a:off x="1252728" y="1920240"/>
            <a:ext cx="9692640" cy="4307840"/>
          </a:xfrm>
          <a:prstGeom prst="rect">
            <a:avLst/>
          </a:prstGeom>
        </p:spPr>
      </p:pic>
      <p:sp>
        <p:nvSpPr>
          <p:cNvPr id="6" name="Text 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20</a:t>
            </a:r>
            <a:endParaRPr lang="en-US" sz="1000" dirty="0"/>
          </a:p>
        </p:txBody>
      </p:sp>
      <p:pic>
        <p:nvPicPr>
          <p:cNvPr id="7"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PARAMETER SWEEP · 1 OF 5</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200" b="1" dirty="0">
                <a:solidFill>
                  <a:srgbClr val="0E0E0E"/>
                </a:solidFill>
                <a:latin typeface="Calibri" pitchFamily="34" charset="0"/>
                <a:ea typeface="Calibri" pitchFamily="34" charset="-122"/>
                <a:cs typeface="Calibri" pitchFamily="34" charset="-120"/>
              </a:rPr>
              <a:t>Where exactly does it flip?</a:t>
            </a:r>
            <a:endParaRPr lang="en-US" sz="3200" dirty="0"/>
          </a:p>
        </p:txBody>
      </p:sp>
      <p:sp>
        <p:nvSpPr>
          <p:cNvPr id="5" name="Text 3"/>
          <p:cNvSpPr txBox="1"/>
          <p:nvPr/>
        </p:nvSpPr>
        <p:spPr>
          <a:xfrm>
            <a:off x="640080" y="2286000"/>
            <a:ext cx="10424160" cy="1188720"/>
          </a:xfrm>
          <a:prstGeom prst="rect">
            <a:avLst/>
          </a:prstGeom>
          <a:noFill/>
          <a:ln/>
        </p:spPr>
        <p:txBody>
          <a:bodyPr wrap="square" lIns="0" tIns="0" rIns="0" bIns="0" rtlCol="0" anchor="ctr"/>
          <a:lstStyle/>
          <a:p>
            <a:pPr indent="0" marL="0">
              <a:lnSpc>
                <a:spcPct val="135000"/>
              </a:lnSpc>
              <a:buNone/>
            </a:pPr>
            <a:r>
              <a:rPr lang="en-US" sz="2000" dirty="0">
                <a:solidFill>
                  <a:srgbClr val="333333"/>
                </a:solidFill>
                <a:latin typeface="Calibri" pitchFamily="34" charset="0"/>
                <a:ea typeface="Calibri" pitchFamily="34" charset="-122"/>
                <a:cs typeface="Calibri" pitchFamily="34" charset="-120"/>
              </a:rPr>
              <a:t>A parameter sweep is a factorial design in which the levels are values of a model parameter and the observations are simulated runs instead of participants.</a:t>
            </a:r>
            <a:endParaRPr lang="en-US" sz="2000" dirty="0"/>
          </a:p>
        </p:txBody>
      </p:sp>
      <p:sp>
        <p:nvSpPr>
          <p:cNvPr id="6" name="Text 4"/>
          <p:cNvSpPr txBox="1"/>
          <p:nvPr/>
        </p:nvSpPr>
        <p:spPr>
          <a:xfrm>
            <a:off x="640080" y="3749040"/>
            <a:ext cx="2377440" cy="548640"/>
          </a:xfrm>
          <a:prstGeom prst="rect">
            <a:avLst/>
          </a:prstGeom>
          <a:noFill/>
          <a:ln/>
        </p:spPr>
        <p:txBody>
          <a:bodyPr wrap="square" lIns="0" tIns="0" rIns="0" bIns="0" rtlCol="0" anchor="ctr"/>
          <a:lstStyle/>
          <a:p>
            <a:pPr indent="0" marL="0">
              <a:buNone/>
            </a:pPr>
            <a:r>
              <a:rPr lang="en-US" sz="1800" b="1" dirty="0">
                <a:solidFill>
                  <a:srgbClr val="B60000"/>
                </a:solidFill>
                <a:latin typeface="Calibri" pitchFamily="34" charset="0"/>
                <a:ea typeface="Calibri" pitchFamily="34" charset="-122"/>
                <a:cs typeface="Calibri" pitchFamily="34" charset="-120"/>
              </a:rPr>
              <a:t>Factor</a:t>
            </a:r>
            <a:endParaRPr lang="en-US" sz="1800" dirty="0"/>
          </a:p>
        </p:txBody>
      </p:sp>
      <p:sp>
        <p:nvSpPr>
          <p:cNvPr id="7" name="Text 5"/>
          <p:cNvSpPr txBox="1"/>
          <p:nvPr/>
        </p:nvSpPr>
        <p:spPr>
          <a:xfrm>
            <a:off x="3108960" y="3749040"/>
            <a:ext cx="8046720" cy="548640"/>
          </a:xfrm>
          <a:prstGeom prst="rect">
            <a:avLst/>
          </a:prstGeom>
          <a:noFill/>
          <a:ln/>
        </p:spPr>
        <p:txBody>
          <a:bodyPr wrap="square" lIns="0" tIns="0" rIns="0" bIns="0" rtlCol="0" anchor="ctr"/>
          <a:lstStyle/>
          <a:p>
            <a:pPr indent="0" marL="0">
              <a:buNone/>
            </a:pPr>
            <a:r>
              <a:rPr lang="en-US" sz="1800" dirty="0">
                <a:solidFill>
                  <a:srgbClr val="333333"/>
                </a:solidFill>
                <a:latin typeface="Calibri" pitchFamily="34" charset="0"/>
                <a:ea typeface="Calibri" pitchFamily="34" charset="-122"/>
                <a:cs typeface="Calibri" pitchFamily="34" charset="-120"/>
              </a:rPr>
              <a:t>confidence-threshold, 10 levels from 0.05 to 0.50</a:t>
            </a:r>
            <a:endParaRPr lang="en-US" sz="1800" dirty="0"/>
          </a:p>
        </p:txBody>
      </p:sp>
      <p:sp>
        <p:nvSpPr>
          <p:cNvPr id="8" name="Text 6"/>
          <p:cNvSpPr txBox="1"/>
          <p:nvPr/>
        </p:nvSpPr>
        <p:spPr>
          <a:xfrm>
            <a:off x="640080" y="4462272"/>
            <a:ext cx="2377440" cy="548640"/>
          </a:xfrm>
          <a:prstGeom prst="rect">
            <a:avLst/>
          </a:prstGeom>
          <a:noFill/>
          <a:ln/>
        </p:spPr>
        <p:txBody>
          <a:bodyPr wrap="square" lIns="0" tIns="0" rIns="0" bIns="0" rtlCol="0" anchor="ctr"/>
          <a:lstStyle/>
          <a:p>
            <a:pPr indent="0" marL="0">
              <a:buNone/>
            </a:pPr>
            <a:r>
              <a:rPr lang="en-US" sz="1800" b="1" dirty="0">
                <a:solidFill>
                  <a:srgbClr val="B60000"/>
                </a:solidFill>
                <a:latin typeface="Calibri" pitchFamily="34" charset="0"/>
                <a:ea typeface="Calibri" pitchFamily="34" charset="-122"/>
                <a:cs typeface="Calibri" pitchFamily="34" charset="-120"/>
              </a:rPr>
              <a:t>Replication</a:t>
            </a:r>
            <a:endParaRPr lang="en-US" sz="1800" dirty="0"/>
          </a:p>
        </p:txBody>
      </p:sp>
      <p:sp>
        <p:nvSpPr>
          <p:cNvPr id="9" name="Text 7"/>
          <p:cNvSpPr txBox="1"/>
          <p:nvPr/>
        </p:nvSpPr>
        <p:spPr>
          <a:xfrm>
            <a:off x="3108960" y="4462272"/>
            <a:ext cx="8046720" cy="548640"/>
          </a:xfrm>
          <a:prstGeom prst="rect">
            <a:avLst/>
          </a:prstGeom>
          <a:noFill/>
          <a:ln/>
        </p:spPr>
        <p:txBody>
          <a:bodyPr wrap="square" lIns="0" tIns="0" rIns="0" bIns="0" rtlCol="0" anchor="ctr"/>
          <a:lstStyle/>
          <a:p>
            <a:pPr indent="0" marL="0">
              <a:buNone/>
            </a:pPr>
            <a:r>
              <a:rPr lang="en-US" sz="1800" dirty="0">
                <a:solidFill>
                  <a:srgbClr val="333333"/>
                </a:solidFill>
                <a:latin typeface="Calibri" pitchFamily="34" charset="0"/>
                <a:ea typeface="Calibri" pitchFamily="34" charset="-122"/>
                <a:cs typeface="Calibri" pitchFamily="34" charset="-120"/>
              </a:rPr>
              <a:t>30 fresh random seeds per level</a:t>
            </a:r>
            <a:endParaRPr lang="en-US" sz="1800" dirty="0"/>
          </a:p>
        </p:txBody>
      </p:sp>
      <p:sp>
        <p:nvSpPr>
          <p:cNvPr id="10" name="Text 8"/>
          <p:cNvSpPr txBox="1"/>
          <p:nvPr/>
        </p:nvSpPr>
        <p:spPr>
          <a:xfrm>
            <a:off x="640080" y="5175504"/>
            <a:ext cx="2377440" cy="548640"/>
          </a:xfrm>
          <a:prstGeom prst="rect">
            <a:avLst/>
          </a:prstGeom>
          <a:noFill/>
          <a:ln/>
        </p:spPr>
        <p:txBody>
          <a:bodyPr wrap="square" lIns="0" tIns="0" rIns="0" bIns="0" rtlCol="0" anchor="ctr"/>
          <a:lstStyle/>
          <a:p>
            <a:pPr indent="0" marL="0">
              <a:buNone/>
            </a:pPr>
            <a:r>
              <a:rPr lang="en-US" sz="1800" b="1" dirty="0">
                <a:solidFill>
                  <a:srgbClr val="B60000"/>
                </a:solidFill>
                <a:latin typeface="Calibri" pitchFamily="34" charset="0"/>
                <a:ea typeface="Calibri" pitchFamily="34" charset="-122"/>
                <a:cs typeface="Calibri" pitchFamily="34" charset="-120"/>
              </a:rPr>
              <a:t>DV</a:t>
            </a:r>
            <a:endParaRPr lang="en-US" sz="1800" dirty="0"/>
          </a:p>
        </p:txBody>
      </p:sp>
      <p:sp>
        <p:nvSpPr>
          <p:cNvPr id="11" name="Text 9"/>
          <p:cNvSpPr txBox="1"/>
          <p:nvPr/>
        </p:nvSpPr>
        <p:spPr>
          <a:xfrm>
            <a:off x="3108960" y="5175504"/>
            <a:ext cx="8046720" cy="548640"/>
          </a:xfrm>
          <a:prstGeom prst="rect">
            <a:avLst/>
          </a:prstGeom>
          <a:noFill/>
          <a:ln/>
        </p:spPr>
        <p:txBody>
          <a:bodyPr wrap="square" lIns="0" tIns="0" rIns="0" bIns="0" rtlCol="0" anchor="ctr"/>
          <a:lstStyle/>
          <a:p>
            <a:pPr indent="0" marL="0">
              <a:buNone/>
            </a:pPr>
            <a:r>
              <a:rPr lang="en-US" sz="1800" dirty="0">
                <a:solidFill>
                  <a:srgbClr val="333333"/>
                </a:solidFill>
                <a:latin typeface="Calibri" pitchFamily="34" charset="0"/>
                <a:ea typeface="Calibri" pitchFamily="34" charset="-122"/>
                <a:cs typeface="Calibri" pitchFamily="34" charset="-120"/>
              </a:rPr>
              <a:t>number of stable opinion clusters at the end of the run</a:t>
            </a:r>
            <a:endParaRPr lang="en-US" sz="1800" dirty="0"/>
          </a:p>
        </p:txBody>
      </p:sp>
      <p:sp>
        <p:nvSpPr>
          <p:cNvPr id="12" name="Text 10"/>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21</a:t>
            </a:r>
            <a:endParaRPr lang="en-US" sz="1000" dirty="0"/>
          </a:p>
        </p:txBody>
      </p:sp>
      <p:pic>
        <p:nvPicPr>
          <p:cNvPr id="13"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PARAMETER SWEEP · 2 OF 5</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000" b="1" dirty="0">
                <a:solidFill>
                  <a:srgbClr val="0E0E0E"/>
                </a:solidFill>
                <a:latin typeface="Calibri" pitchFamily="34" charset="0"/>
                <a:ea typeface="Calibri" pitchFamily="34" charset="-122"/>
                <a:cs typeface="Calibri" pitchFamily="34" charset="-120"/>
              </a:rPr>
              <a:t>The BehaviorSpace configuration</a:t>
            </a:r>
            <a:endParaRPr lang="en-US" sz="3000" dirty="0"/>
          </a:p>
        </p:txBody>
      </p:sp>
      <p:sp>
        <p:nvSpPr>
          <p:cNvPr id="5" name="Shape 3"/>
          <p:cNvSpPr/>
          <p:nvPr/>
        </p:nvSpPr>
        <p:spPr>
          <a:xfrm>
            <a:off x="640080" y="2011680"/>
            <a:ext cx="10881360" cy="3931920"/>
          </a:xfrm>
          <a:prstGeom prst="rect">
            <a:avLst/>
          </a:prstGeom>
          <a:solidFill>
            <a:srgbClr val="0E0E0E"/>
          </a:solidFill>
          <a:ln/>
        </p:spPr>
      </p:sp>
      <p:sp>
        <p:nvSpPr>
          <p:cNvPr id="6" name="Text 4"/>
          <p:cNvSpPr txBox="1"/>
          <p:nvPr/>
        </p:nvSpPr>
        <p:spPr>
          <a:xfrm>
            <a:off x="914400" y="2240280"/>
            <a:ext cx="10332720" cy="3474720"/>
          </a:xfrm>
          <a:prstGeom prst="rect">
            <a:avLst/>
          </a:prstGeom>
          <a:noFill/>
          <a:ln/>
        </p:spPr>
        <p:txBody>
          <a:bodyPr wrap="square" lIns="0" tIns="0" rIns="0" bIns="0" rtlCol="0" anchor="ctr"/>
          <a:lstStyle/>
          <a:p>
            <a:pPr indent="0" marL="0">
              <a:lnSpc>
                <a:spcPct val="150000"/>
              </a:lnSpc>
              <a:buNone/>
            </a:pPr>
            <a:r>
              <a:rPr lang="en-US" sz="1500" dirty="0">
                <a:solidFill>
                  <a:srgbClr val="F2F2F2"/>
                </a:solidFill>
                <a:latin typeface="Courier New" pitchFamily="34" charset="0"/>
                <a:ea typeface="Courier New" pitchFamily="34" charset="-122"/>
                <a:cs typeface="Courier New" pitchFamily="34" charset="-120"/>
              </a:rPr>
              <a:t>experiment name:      threshold-sweep</a:t>
            </a:r>
            <a:endParaRPr lang="en-US" sz="1500" dirty="0"/>
          </a:p>
          <a:p>
            <a:pPr indent="0" marL="0">
              <a:lnSpc>
                <a:spcPct val="150000"/>
              </a:lnSpc>
              <a:buNone/>
            </a:pPr>
            <a:r>
              <a:rPr lang="en-US" sz="1500" dirty="0">
                <a:solidFill>
                  <a:srgbClr val="F2F2F2"/>
                </a:solidFill>
                <a:latin typeface="Courier New" pitchFamily="34" charset="0"/>
                <a:ea typeface="Courier New" pitchFamily="34" charset="-122"/>
                <a:cs typeface="Courier New" pitchFamily="34" charset="-120"/>
              </a:rPr>
              <a:t>vary:                 confidence-threshold  [0.05 : 0.05 : 0.50]</a:t>
            </a:r>
            <a:endParaRPr lang="en-US" sz="1500" dirty="0"/>
          </a:p>
          <a:p>
            <a:pPr indent="0" marL="0">
              <a:lnSpc>
                <a:spcPct val="150000"/>
              </a:lnSpc>
              <a:buNone/>
            </a:pPr>
            <a:r>
              <a:rPr lang="en-US" sz="1500" dirty="0">
                <a:solidFill>
                  <a:srgbClr val="F2F2F2"/>
                </a:solidFill>
                <a:latin typeface="Courier New" pitchFamily="34" charset="0"/>
                <a:ea typeface="Courier New" pitchFamily="34" charset="-122"/>
                <a:cs typeface="Courier New" pitchFamily="34" charset="-120"/>
              </a:rPr>
              <a:t>fixed:                 num-agents = 200,  mu = 0.25</a:t>
            </a:r>
            <a:endParaRPr lang="en-US" sz="1500" dirty="0"/>
          </a:p>
          <a:p>
            <a:pPr indent="0" marL="0">
              <a:lnSpc>
                <a:spcPct val="150000"/>
              </a:lnSpc>
              <a:buNone/>
            </a:pPr>
            <a:r>
              <a:rPr lang="en-US" sz="1500" dirty="0">
                <a:solidFill>
                  <a:srgbClr val="F2F2F2"/>
                </a:solidFill>
                <a:latin typeface="Courier New" pitchFamily="34" charset="0"/>
                <a:ea typeface="Courier New" pitchFamily="34" charset="-122"/>
                <a:cs typeface="Courier New" pitchFamily="34" charset="-120"/>
              </a:rPr>
              <a:t>repetitions:           30 per level  (300 runs total)</a:t>
            </a:r>
            <a:endParaRPr lang="en-US" sz="1500" dirty="0"/>
          </a:p>
          <a:p>
            <a:pPr indent="0" marL="0">
              <a:lnSpc>
                <a:spcPct val="150000"/>
              </a:lnSpc>
              <a:buNone/>
            </a:pPr>
            <a:r>
              <a:rPr lang="en-US" sz="1500" dirty="0">
                <a:solidFill>
                  <a:srgbClr val="F2F2F2"/>
                </a:solidFill>
                <a:latin typeface="Courier New" pitchFamily="34" charset="0"/>
                <a:ea typeface="Courier New" pitchFamily="34" charset="-122"/>
                <a:cs typeface="Courier New" pitchFamily="34" charset="-120"/>
              </a:rPr>
              <a:t>setup / go:            setup  /  go</a:t>
            </a:r>
            <a:endParaRPr lang="en-US" sz="1500" dirty="0"/>
          </a:p>
          <a:p>
            <a:pPr indent="0" marL="0">
              <a:lnSpc>
                <a:spcPct val="150000"/>
              </a:lnSpc>
              <a:buNone/>
            </a:pPr>
            <a:r>
              <a:rPr lang="en-US" sz="1500" dirty="0">
                <a:solidFill>
                  <a:srgbClr val="F2F2F2"/>
                </a:solidFill>
                <a:latin typeface="Courier New" pitchFamily="34" charset="0"/>
                <a:ea typeface="Courier New" pitchFamily="34" charset="-122"/>
                <a:cs typeface="Courier New" pitchFamily="34" charset="-120"/>
              </a:rPr>
              <a:t>stop condition:        ticks &gt;= 500  OR  opinion-std &lt; 0.001</a:t>
            </a:r>
            <a:endParaRPr lang="en-US" sz="1500" dirty="0"/>
          </a:p>
          <a:p>
            <a:pPr indent="0" marL="0">
              <a:lnSpc>
                <a:spcPct val="150000"/>
              </a:lnSpc>
              <a:buNone/>
            </a:pPr>
            <a:r>
              <a:rPr lang="en-US" sz="1500" dirty="0">
                <a:solidFill>
                  <a:srgbClr val="F2F2F2"/>
                </a:solidFill>
                <a:latin typeface="Courier New" pitchFamily="34" charset="0"/>
                <a:ea typeface="Courier New" pitchFamily="34" charset="-122"/>
                <a:cs typeface="Courier New" pitchFamily="34" charset="-120"/>
              </a:rPr>
              <a:t>measure (each tick):   opinion-std</a:t>
            </a:r>
            <a:endParaRPr lang="en-US" sz="1500" dirty="0"/>
          </a:p>
          <a:p>
            <a:pPr indent="0" marL="0">
              <a:lnSpc>
                <a:spcPct val="150000"/>
              </a:lnSpc>
              <a:buNone/>
            </a:pPr>
            <a:r>
              <a:rPr lang="en-US" sz="1500" dirty="0">
                <a:solidFill>
                  <a:srgbClr val="F2F2F2"/>
                </a:solidFill>
                <a:latin typeface="Courier New" pitchFamily="34" charset="0"/>
                <a:ea typeface="Courier New" pitchFamily="34" charset="-122"/>
                <a:cs typeface="Courier New" pitchFamily="34" charset="-120"/>
              </a:rPr>
              <a:t>measure (at end):      count-clusters</a:t>
            </a:r>
            <a:endParaRPr lang="en-US" sz="1500" dirty="0"/>
          </a:p>
        </p:txBody>
      </p:sp>
      <p:sp>
        <p:nvSpPr>
          <p:cNvPr id="7" name="Text 5"/>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22</a:t>
            </a:r>
            <a:endParaRPr lang="en-US" sz="1000" dirty="0"/>
          </a:p>
        </p:txBody>
      </p:sp>
      <p:pic>
        <p:nvPicPr>
          <p:cNvPr id="8"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PARAMETER SWEEP · 3 OF 5</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000" b="1" dirty="0">
                <a:solidFill>
                  <a:srgbClr val="0E0E0E"/>
                </a:solidFill>
                <a:latin typeface="Calibri" pitchFamily="34" charset="0"/>
                <a:ea typeface="Calibri" pitchFamily="34" charset="-122"/>
                <a:cs typeface="Calibri" pitchFamily="34" charset="-120"/>
              </a:rPr>
              <a:t>The sweep, run in advance</a:t>
            </a:r>
            <a:endParaRPr lang="en-US" sz="3000" dirty="0"/>
          </a:p>
        </p:txBody>
      </p:sp>
      <p:pic>
        <p:nvPicPr>
          <p:cNvPr id="5" name="Image 0" descr="figures/sweep_curve.png">    </p:cNvPr>
          <p:cNvPicPr>
            <a:picLocks noChangeAspect="1"/>
          </p:cNvPicPr>
          <p:nvPr/>
        </p:nvPicPr>
        <p:blipFill>
          <a:blip r:embed="rId1"/>
          <a:stretch>
            <a:fillRect/>
          </a:stretch>
        </p:blipFill>
        <p:spPr>
          <a:xfrm>
            <a:off x="2011680" y="1920240"/>
            <a:ext cx="8138160" cy="4420511"/>
          </a:xfrm>
          <a:prstGeom prst="rect">
            <a:avLst/>
          </a:prstGeom>
        </p:spPr>
      </p:pic>
      <p:sp>
        <p:nvSpPr>
          <p:cNvPr id="6" name="Text 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23</a:t>
            </a:r>
            <a:endParaRPr lang="en-US" sz="1000" dirty="0"/>
          </a:p>
        </p:txBody>
      </p:sp>
      <p:pic>
        <p:nvPicPr>
          <p:cNvPr id="7"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PARAMETER SWEEP · 4 OF 5</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000" b="1" dirty="0">
                <a:solidFill>
                  <a:srgbClr val="0E0E0E"/>
                </a:solidFill>
                <a:latin typeface="Calibri" pitchFamily="34" charset="0"/>
                <a:ea typeface="Calibri" pitchFamily="34" charset="-122"/>
                <a:cs typeface="Calibri" pitchFamily="34" charset="-120"/>
              </a:rPr>
              <a:t>Why thirty replications, not one</a:t>
            </a:r>
            <a:endParaRPr lang="en-US" sz="3000" dirty="0"/>
          </a:p>
        </p:txBody>
      </p:sp>
      <p:sp>
        <p:nvSpPr>
          <p:cNvPr id="5" name="Text 3"/>
          <p:cNvSpPr txBox="1"/>
          <p:nvPr/>
        </p:nvSpPr>
        <p:spPr>
          <a:xfrm>
            <a:off x="640080" y="2286000"/>
            <a:ext cx="6400800" cy="2011680"/>
          </a:xfrm>
          <a:prstGeom prst="rect">
            <a:avLst/>
          </a:prstGeom>
          <a:noFill/>
          <a:ln/>
        </p:spPr>
        <p:txBody>
          <a:bodyPr wrap="square" lIns="0" tIns="0" rIns="0" bIns="0" rtlCol="0" anchor="ctr"/>
          <a:lstStyle/>
          <a:p>
            <a:pPr indent="0" marL="0">
              <a:lnSpc>
                <a:spcPct val="140000"/>
              </a:lnSpc>
              <a:buNone/>
            </a:pPr>
            <a:r>
              <a:rPr lang="en-US" sz="1900" dirty="0">
                <a:solidFill>
                  <a:srgbClr val="333333"/>
                </a:solidFill>
                <a:latin typeface="Calibri" pitchFamily="34" charset="0"/>
                <a:ea typeface="Calibri" pitchFamily="34" charset="-122"/>
                <a:cs typeface="Calibri" pitchFamily="34" charset="-120"/>
              </a:rPr>
              <a:t>Each replication is one Monte Carlo draw from the same data generating process. The standard error of a simulated mean shrinks with the square root of the number of runs, exactly the way it does for any other sample mean.</a:t>
            </a:r>
            <a:endParaRPr lang="en-US" sz="1900" dirty="0"/>
          </a:p>
        </p:txBody>
      </p:sp>
      <p:sp>
        <p:nvSpPr>
          <p:cNvPr id="6" name="Shape 4"/>
          <p:cNvSpPr/>
          <p:nvPr/>
        </p:nvSpPr>
        <p:spPr>
          <a:xfrm>
            <a:off x="7406640" y="2286000"/>
            <a:ext cx="4114800" cy="2011680"/>
          </a:xfrm>
          <a:prstGeom prst="rect">
            <a:avLst/>
          </a:prstGeom>
          <a:solidFill>
            <a:srgbClr val="E1E1E1"/>
          </a:solidFill>
          <a:ln/>
        </p:spPr>
      </p:sp>
      <p:sp>
        <p:nvSpPr>
          <p:cNvPr id="7" name="Text 5"/>
          <p:cNvSpPr txBox="1"/>
          <p:nvPr/>
        </p:nvSpPr>
        <p:spPr>
          <a:xfrm>
            <a:off x="7406640" y="2286000"/>
            <a:ext cx="4114800" cy="2011680"/>
          </a:xfrm>
          <a:prstGeom prst="rect">
            <a:avLst/>
          </a:prstGeom>
          <a:noFill/>
          <a:ln/>
        </p:spPr>
        <p:txBody>
          <a:bodyPr wrap="square" lIns="0" tIns="0" rIns="0" bIns="0" rtlCol="0" anchor="ctr"/>
          <a:lstStyle/>
          <a:p>
            <a:pPr algn="ctr" indent="0" marL="0">
              <a:buNone/>
            </a:pPr>
            <a:r>
              <a:rPr lang="en-US" sz="2400" b="1" dirty="0">
                <a:solidFill>
                  <a:srgbClr val="B60000"/>
                </a:solidFill>
                <a:latin typeface="Courier New" pitchFamily="34" charset="0"/>
                <a:ea typeface="Courier New" pitchFamily="34" charset="-122"/>
                <a:cs typeface="Courier New" pitchFamily="34" charset="-120"/>
              </a:rPr>
              <a:t>SE(mean) ∝  1 / √ n</a:t>
            </a:r>
            <a:endParaRPr lang="en-US" sz="2400" dirty="0"/>
          </a:p>
        </p:txBody>
      </p:sp>
      <p:sp>
        <p:nvSpPr>
          <p:cNvPr id="8" name="Text 6"/>
          <p:cNvSpPr txBox="1"/>
          <p:nvPr/>
        </p:nvSpPr>
        <p:spPr>
          <a:xfrm>
            <a:off x="640080" y="4572000"/>
            <a:ext cx="10424160" cy="1371600"/>
          </a:xfrm>
          <a:prstGeom prst="rect">
            <a:avLst/>
          </a:prstGeom>
          <a:noFill/>
          <a:ln/>
        </p:spPr>
        <p:txBody>
          <a:bodyPr wrap="square" lIns="0" tIns="0" rIns="0" bIns="0" rtlCol="0" anchor="ctr"/>
          <a:lstStyle/>
          <a:p>
            <a:pPr indent="0" marL="0">
              <a:lnSpc>
                <a:spcPct val="135000"/>
              </a:lnSpc>
              <a:buNone/>
            </a:pPr>
            <a:r>
              <a:rPr lang="en-US" sz="1700" dirty="0">
                <a:solidFill>
                  <a:srgbClr val="333333"/>
                </a:solidFill>
                <a:latin typeface="Calibri" pitchFamily="34" charset="0"/>
                <a:ea typeface="Calibri" pitchFamily="34" charset="-122"/>
                <a:cs typeface="Calibri" pitchFamily="34" charset="-120"/>
              </a:rPr>
              <a:t>The error bars on the previous slide are that logic, not a decoration: they widen wherever the model is genuinely more variable across seeds, most visibly at low thresholds where a small change in initial draw changes which agents end up in which cluster.</a:t>
            </a:r>
            <a:endParaRPr lang="en-US" sz="1700" dirty="0"/>
          </a:p>
        </p:txBody>
      </p:sp>
      <p:sp>
        <p:nvSpPr>
          <p:cNvPr id="9" name="Text 7"/>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24</a:t>
            </a:r>
            <a:endParaRPr lang="en-US" sz="1000" dirty="0"/>
          </a:p>
        </p:txBody>
      </p:sp>
      <p:pic>
        <p:nvPicPr>
          <p:cNvPr id="10"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PARAMETER SWEEP · 5 OF 5 · EXEMPLAR</a:t>
            </a:r>
            <a:endParaRPr lang="en-US" sz="1300" dirty="0"/>
          </a:p>
        </p:txBody>
      </p:sp>
      <p:sp>
        <p:nvSpPr>
          <p:cNvPr id="4" name="Text 2"/>
          <p:cNvSpPr txBox="1"/>
          <p:nvPr/>
        </p:nvSpPr>
        <p:spPr>
          <a:xfrm>
            <a:off x="640080" y="914400"/>
            <a:ext cx="95097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Vancouver et al. (2010)</a:t>
            </a:r>
            <a:endParaRPr lang="en-US" sz="3400" dirty="0"/>
          </a:p>
        </p:txBody>
      </p:sp>
      <p:pic>
        <p:nvPicPr>
          <p:cNvPr id="5" name="Image 0" descr="assets/glyph_network.png">    </p:cNvPr>
          <p:cNvPicPr>
            <a:picLocks noChangeAspect="1"/>
          </p:cNvPicPr>
          <p:nvPr/>
        </p:nvPicPr>
        <p:blipFill>
          <a:blip r:embed="rId1"/>
          <a:stretch>
            <a:fillRect/>
          </a:stretch>
        </p:blipFill>
        <p:spPr>
          <a:xfrm>
            <a:off x="10698480" y="411480"/>
            <a:ext cx="822960" cy="822960"/>
          </a:xfrm>
          <a:prstGeom prst="rect">
            <a:avLst/>
          </a:prstGeom>
        </p:spPr>
      </p:pic>
      <p:sp>
        <p:nvSpPr>
          <p:cNvPr id="6" name="Text 3"/>
          <p:cNvSpPr txBox="1"/>
          <p:nvPr/>
        </p:nvSpPr>
        <p:spPr>
          <a:xfrm>
            <a:off x="640080" y="1645920"/>
            <a:ext cx="10058400" cy="868680"/>
          </a:xfrm>
          <a:prstGeom prst="rect">
            <a:avLst/>
          </a:prstGeom>
          <a:noFill/>
          <a:ln/>
        </p:spPr>
        <p:txBody>
          <a:bodyPr wrap="square" lIns="0" tIns="0" rIns="0" bIns="0" rtlCol="0" anchor="t"/>
          <a:lstStyle/>
          <a:p>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Vancouver, J. B., Weinhardt, J. M., &amp; Schmidt, A. M. (2010). A formal, computational theory of multiple-goal pursuit: Integrating goal-choice and goal-striving processes. </a:t>
            </a:r>
            <a:pPr indent="0" marL="0">
              <a:lnSpc>
                <a:spcPct val="115000"/>
              </a:lnSpc>
              <a:buNone/>
            </a:pPr>
            <a:r>
              <a:rPr lang="en-US" sz="1450" i="1" dirty="0">
                <a:solidFill>
                  <a:srgbClr val="333333"/>
                </a:solidFill>
                <a:latin typeface="Times New Roman" pitchFamily="34" charset="0"/>
                <a:ea typeface="Times New Roman" pitchFamily="34" charset="-122"/>
                <a:cs typeface="Times New Roman" pitchFamily="34" charset="-120"/>
              </a:rPr>
              <a:t>Journal of Applied Psychology, 95</a:t>
            </a:r>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(6), 985-1008.</a:t>
            </a:r>
            <a:endParaRPr lang="en-US" sz="1450" dirty="0"/>
          </a:p>
        </p:txBody>
      </p:sp>
      <p:sp>
        <p:nvSpPr>
          <p:cNvPr id="7" name="Shape 4"/>
          <p:cNvSpPr/>
          <p:nvPr/>
        </p:nvSpPr>
        <p:spPr>
          <a:xfrm>
            <a:off x="640080" y="2788920"/>
            <a:ext cx="10881360" cy="3154680"/>
          </a:xfrm>
          <a:prstGeom prst="rect">
            <a:avLst/>
          </a:prstGeom>
          <a:solidFill>
            <a:srgbClr val="E1E1E1"/>
          </a:solidFill>
          <a:ln/>
        </p:spPr>
      </p:sp>
      <p:sp>
        <p:nvSpPr>
          <p:cNvPr id="8" name="Shape 5"/>
          <p:cNvSpPr/>
          <p:nvPr/>
        </p:nvSpPr>
        <p:spPr>
          <a:xfrm>
            <a:off x="640080" y="2788920"/>
            <a:ext cx="82296" cy="3154680"/>
          </a:xfrm>
          <a:prstGeom prst="rect">
            <a:avLst/>
          </a:prstGeom>
          <a:solidFill>
            <a:srgbClr val="B60000"/>
          </a:solidFill>
          <a:ln/>
        </p:spPr>
      </p:sp>
      <p:sp>
        <p:nvSpPr>
          <p:cNvPr id="9" name="Text 6"/>
          <p:cNvSpPr txBox="1"/>
          <p:nvPr/>
        </p:nvSpPr>
        <p:spPr>
          <a:xfrm>
            <a:off x="1005840" y="3063240"/>
            <a:ext cx="9144000" cy="320040"/>
          </a:xfrm>
          <a:prstGeom prst="rect">
            <a:avLst/>
          </a:prstGeom>
          <a:noFill/>
          <a:ln/>
        </p:spPr>
        <p:txBody>
          <a:bodyPr wrap="square" lIns="0" tIns="0" rIns="0" bIns="0" rtlCol="0" anchor="ctr"/>
          <a:lstStyle/>
          <a:p>
            <a:pPr indent="0" marL="0">
              <a:buNone/>
            </a:pPr>
            <a:r>
              <a:rPr lang="en-US" sz="1200" b="1" spc="200" kern="0" dirty="0">
                <a:solidFill>
                  <a:srgbClr val="B60000"/>
                </a:solidFill>
                <a:latin typeface="Calibri" pitchFamily="34" charset="0"/>
                <a:ea typeface="Calibri" pitchFamily="34" charset="-122"/>
                <a:cs typeface="Calibri" pitchFamily="34" charset="-120"/>
              </a:rPr>
              <a:t>WHAT THIS STUDY SHOWED</a:t>
            </a:r>
            <a:endParaRPr lang="en-US" sz="1200" dirty="0"/>
          </a:p>
        </p:txBody>
      </p:sp>
      <p:sp>
        <p:nvSpPr>
          <p:cNvPr id="10" name="Text 7"/>
          <p:cNvSpPr txBox="1"/>
          <p:nvPr/>
        </p:nvSpPr>
        <p:spPr>
          <a:xfrm>
            <a:off x="1005840" y="3474720"/>
            <a:ext cx="10149840" cy="2286000"/>
          </a:xfrm>
          <a:prstGeom prst="rect">
            <a:avLst/>
          </a:prstGeom>
          <a:noFill/>
          <a:ln/>
        </p:spPr>
        <p:txBody>
          <a:bodyPr wrap="square" lIns="0" tIns="0" rIns="0" bIns="0" rtlCol="0" anchor="t"/>
          <a:lstStyle/>
          <a:p>
            <a:pPr indent="0" marL="0">
              <a:lnSpc>
                <a:spcPct val="130000"/>
              </a:lnSpc>
              <a:buNone/>
            </a:pPr>
            <a:r>
              <a:rPr lang="en-US" sz="2100" dirty="0">
                <a:solidFill>
                  <a:srgbClr val="0E0E0E"/>
                </a:solidFill>
                <a:latin typeface="Calibri" pitchFamily="34" charset="0"/>
                <a:ea typeface="Calibri" pitchFamily="34" charset="-122"/>
                <a:cs typeface="Calibri" pitchFamily="34" charset="-120"/>
              </a:rPr>
              <a:t>Built a computational model integrating goal-choice and goal-striving that reproduced established empirical patterns in multiple-goal pursuit that piecemeal verbal theories had described separately but never jointly accounted for in one formal system.</a:t>
            </a:r>
            <a:endParaRPr lang="en-US" sz="2100" dirty="0"/>
          </a:p>
        </p:txBody>
      </p:sp>
      <p:sp>
        <p:nvSpPr>
          <p:cNvPr id="11"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25</a:t>
            </a:r>
            <a:endParaRPr lang="en-US" sz="1000" dirty="0"/>
          </a:p>
        </p:txBody>
      </p:sp>
      <p:pic>
        <p:nvPicPr>
          <p:cNvPr id="12"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0E0E"/>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E1E1E1"/>
                </a:solidFill>
                <a:latin typeface="Calibri" pitchFamily="34" charset="0"/>
                <a:ea typeface="Calibri" pitchFamily="34" charset="-122"/>
                <a:cs typeface="Calibri" pitchFamily="34" charset="-120"/>
              </a:rPr>
              <a:t>LIVE BUILD · STAGE 3</a:t>
            </a:r>
            <a:endParaRPr lang="en-US" sz="1300" dirty="0"/>
          </a:p>
        </p:txBody>
      </p:sp>
      <p:sp>
        <p:nvSpPr>
          <p:cNvPr id="4" name="Text 2"/>
          <p:cNvSpPr txBox="1"/>
          <p:nvPr/>
        </p:nvSpPr>
        <p:spPr>
          <a:xfrm>
            <a:off x="640080" y="914400"/>
            <a:ext cx="10881360" cy="822960"/>
          </a:xfrm>
          <a:prstGeom prst="rect">
            <a:avLst/>
          </a:prstGeom>
          <a:noFill/>
          <a:ln/>
        </p:spPr>
        <p:txBody>
          <a:bodyPr wrap="square" lIns="0" tIns="0" rIns="0" bIns="0" rtlCol="0" anchor="ctr"/>
          <a:lstStyle/>
          <a:p>
            <a:pPr indent="0" marL="0">
              <a:buNone/>
            </a:pPr>
            <a:r>
              <a:rPr lang="en-US" sz="3000" b="1" dirty="0">
                <a:solidFill>
                  <a:srgbClr val="F2F2F2"/>
                </a:solidFill>
                <a:latin typeface="Calibri" pitchFamily="34" charset="0"/>
                <a:ea typeface="Calibri" pitchFamily="34" charset="-122"/>
                <a:cs typeface="Calibri" pitchFamily="34" charset="-120"/>
              </a:rPr>
              <a:t>Demographic faultlines and negative influence</a:t>
            </a:r>
            <a:endParaRPr lang="en-US" sz="3000" dirty="0"/>
          </a:p>
        </p:txBody>
      </p:sp>
      <p:sp>
        <p:nvSpPr>
          <p:cNvPr id="5" name="Text 3"/>
          <p:cNvSpPr txBox="1"/>
          <p:nvPr/>
        </p:nvSpPr>
        <p:spPr>
          <a:xfrm>
            <a:off x="640080" y="1600200"/>
            <a:ext cx="10881360" cy="457200"/>
          </a:xfrm>
          <a:prstGeom prst="rect">
            <a:avLst/>
          </a:prstGeom>
          <a:noFill/>
          <a:ln/>
        </p:spPr>
        <p:txBody>
          <a:bodyPr wrap="square" lIns="0" tIns="0" rIns="0" bIns="0" rtlCol="0" anchor="ctr"/>
          <a:lstStyle/>
          <a:p>
            <a:pPr indent="0" marL="0">
              <a:buNone/>
            </a:pPr>
            <a:r>
              <a:rPr lang="en-US" sz="1600" i="1" dirty="0">
                <a:solidFill>
                  <a:srgbClr val="E1E1E1"/>
                </a:solidFill>
                <a:latin typeface="Calibri" pitchFamily="34" charset="0"/>
                <a:ea typeface="Calibri" pitchFamily="34" charset="-122"/>
                <a:cs typeface="Calibri" pitchFamily="34" charset="-120"/>
              </a:rPr>
              <a:t>Members carry two demographic attributes. Similar teammates attract; dissimilar teammates repel (after Flache &amp; Mäs, 2008).</a:t>
            </a:r>
            <a:endParaRPr lang="en-US" sz="1600" dirty="0"/>
          </a:p>
        </p:txBody>
      </p:sp>
      <p:sp>
        <p:nvSpPr>
          <p:cNvPr id="6" name="Shape 4"/>
          <p:cNvSpPr/>
          <p:nvPr/>
        </p:nvSpPr>
        <p:spPr>
          <a:xfrm>
            <a:off x="640080" y="2240280"/>
            <a:ext cx="6858000" cy="3977640"/>
          </a:xfrm>
          <a:prstGeom prst="rect">
            <a:avLst/>
          </a:prstGeom>
          <a:solidFill>
            <a:srgbClr val="333333"/>
          </a:solidFill>
          <a:ln w="12700">
            <a:solidFill>
              <a:srgbClr val="333333"/>
            </a:solidFill>
            <a:prstDash val="solid"/>
          </a:ln>
        </p:spPr>
      </p:sp>
      <p:sp>
        <p:nvSpPr>
          <p:cNvPr id="7" name="Shape 5"/>
          <p:cNvSpPr/>
          <p:nvPr/>
        </p:nvSpPr>
        <p:spPr>
          <a:xfrm>
            <a:off x="640080" y="2240280"/>
            <a:ext cx="6858000" cy="384048"/>
          </a:xfrm>
          <a:prstGeom prst="rect">
            <a:avLst/>
          </a:prstGeom>
          <a:solidFill>
            <a:srgbClr val="262626"/>
          </a:solidFill>
          <a:ln/>
        </p:spPr>
      </p:sp>
      <p:sp>
        <p:nvSpPr>
          <p:cNvPr id="8" name="Shape 6"/>
          <p:cNvSpPr/>
          <p:nvPr/>
        </p:nvSpPr>
        <p:spPr>
          <a:xfrm>
            <a:off x="640080" y="2240280"/>
            <a:ext cx="6858000" cy="45720"/>
          </a:xfrm>
          <a:prstGeom prst="rect">
            <a:avLst/>
          </a:prstGeom>
          <a:solidFill>
            <a:srgbClr val="B60000"/>
          </a:solidFill>
          <a:ln/>
        </p:spPr>
      </p:sp>
      <p:sp>
        <p:nvSpPr>
          <p:cNvPr id="9" name="Text 7"/>
          <p:cNvSpPr txBox="1"/>
          <p:nvPr/>
        </p:nvSpPr>
        <p:spPr>
          <a:xfrm>
            <a:off x="868680" y="2304288"/>
            <a:ext cx="6400800" cy="292608"/>
          </a:xfrm>
          <a:prstGeom prst="rect">
            <a:avLst/>
          </a:prstGeom>
          <a:noFill/>
          <a:ln/>
        </p:spPr>
        <p:txBody>
          <a:bodyPr wrap="square" lIns="0" tIns="0" rIns="0" bIns="0" rtlCol="0" anchor="ctr"/>
          <a:lstStyle/>
          <a:p>
            <a:pPr indent="0" marL="0">
              <a:buNone/>
            </a:pPr>
            <a:r>
              <a:rPr lang="en-US" sz="1100" b="1" dirty="0">
                <a:solidFill>
                  <a:srgbClr val="F2F2F2"/>
                </a:solidFill>
                <a:latin typeface="Courier New" pitchFamily="34" charset="0"/>
                <a:ea typeface="Courier New" pitchFamily="34" charset="-122"/>
                <a:cs typeface="Courier New" pitchFamily="34" charset="-120"/>
              </a:rPr>
              <a:t>stage3.nlogo</a:t>
            </a:r>
            <a:pPr indent="0" marL="0">
              <a:buNone/>
            </a:pPr>
            <a:r>
              <a:rPr lang="en-US" sz="1100" dirty="0">
                <a:solidFill>
                  <a:srgbClr val="8A8A8A"/>
                </a:solidFill>
                <a:latin typeface="Courier New" pitchFamily="34" charset="0"/>
                <a:ea typeface="Courier New" pitchFamily="34" charset="-122"/>
                <a:cs typeface="Courier New" pitchFamily="34" charset="-120"/>
              </a:rPr>
              <a:t>   Interface   Info   </a:t>
            </a:r>
            <a:pPr indent="0" marL="0">
              <a:buNone/>
            </a:pPr>
            <a:r>
              <a:rPr lang="en-US" sz="1100" u="sng" dirty="0">
                <a:solidFill>
                  <a:srgbClr val="F2F2F2"/>
                </a:solidFill>
                <a:uFill>
                  <a:solidFill>
                    <a:srgbClr val="B60000"/>
                  </a:solidFill>
                </a:uFill>
                <a:latin typeface="Courier New" pitchFamily="34" charset="0"/>
                <a:ea typeface="Courier New" pitchFamily="34" charset="-122"/>
                <a:cs typeface="Courier New" pitchFamily="34" charset="-120"/>
              </a:rPr>
              <a:t>Code</a:t>
            </a:r>
            <a:endParaRPr lang="en-US" sz="1100" dirty="0"/>
          </a:p>
        </p:txBody>
      </p:sp>
      <p:sp>
        <p:nvSpPr>
          <p:cNvPr id="10" name="Text 8"/>
          <p:cNvSpPr txBox="1"/>
          <p:nvPr/>
        </p:nvSpPr>
        <p:spPr>
          <a:xfrm>
            <a:off x="868680" y="2788920"/>
            <a:ext cx="6400800" cy="3291840"/>
          </a:xfrm>
          <a:prstGeom prst="rect">
            <a:avLst/>
          </a:prstGeom>
          <a:noFill/>
          <a:ln/>
        </p:spPr>
        <p:txBody>
          <a:bodyPr wrap="square" lIns="0" tIns="0" rIns="0" bIns="0" rtlCol="0" anchor="t"/>
          <a:lstStyle/>
          <a:p>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to</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go</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ask</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one-of</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turtles</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let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me</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F2F2F2"/>
                </a:solidFill>
                <a:latin typeface="Courier New" pitchFamily="34" charset="0"/>
                <a:ea typeface="Courier New" pitchFamily="34" charset="-122"/>
                <a:cs typeface="Courier New" pitchFamily="34" charset="-120"/>
              </a:rPr>
              <a:t>self</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let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pulls</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weight-to</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me</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F2F2F2"/>
                </a:solidFill>
                <a:latin typeface="Courier New" pitchFamily="34" charset="0"/>
                <a:ea typeface="Courier New" pitchFamily="34" charset="-122"/>
                <a:cs typeface="Courier New" pitchFamily="34" charset="-120"/>
              </a:rPr>
              <a:t>of</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me</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F2F2F2"/>
                </a:solidFill>
                <a:latin typeface="Courier New" pitchFamily="34" charset="0"/>
                <a:ea typeface="Courier New" pitchFamily="34" charset="-122"/>
                <a:cs typeface="Courier New" pitchFamily="34" charset="-120"/>
              </a:rPr>
              <a:t>of</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other</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turtles</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i="1" dirty="0">
                <a:solidFill>
                  <a:srgbClr val="9A9A9A"/>
                </a:solidFill>
                <a:latin typeface="Courier New" pitchFamily="34" charset="0"/>
                <a:ea typeface="Courier New" pitchFamily="34" charset="-122"/>
                <a:cs typeface="Courier New" pitchFamily="34" charset="-120"/>
              </a:rPr>
              <a:t>;; weight = 1 - 2 * (opinion gap / 2</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i="1" dirty="0">
                <a:solidFill>
                  <a:srgbClr val="9A9A9A"/>
                </a:solidFill>
                <a:latin typeface="Courier New" pitchFamily="34" charset="0"/>
                <a:ea typeface="Courier New" pitchFamily="34" charset="-122"/>
                <a:cs typeface="Courier New" pitchFamily="34" charset="-120"/>
              </a:rPr>
              <a:t>;;   + demographic gap) / K</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i="1" dirty="0">
                <a:solidFill>
                  <a:srgbClr val="9A9A9A"/>
                </a:solidFill>
                <a:latin typeface="Courier New" pitchFamily="34" charset="0"/>
                <a:ea typeface="Courier New" pitchFamily="34" charset="-122"/>
                <a:cs typeface="Courier New" pitchFamily="34" charset="-120"/>
              </a:rPr>
              <a:t>;; weight &lt; 0: pushed away</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set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clamp</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opinion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rate</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mean</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pulls</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tick</a:t>
            </a:r>
            <a:endParaRPr lang="en-US" sz="1300" dirty="0"/>
          </a:p>
          <a:p>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end</a:t>
            </a:r>
            <a:endParaRPr lang="en-US" sz="1300" dirty="0"/>
          </a:p>
        </p:txBody>
      </p:sp>
      <p:sp>
        <p:nvSpPr>
          <p:cNvPr id="11" name="Shape 9"/>
          <p:cNvSpPr/>
          <p:nvPr/>
        </p:nvSpPr>
        <p:spPr>
          <a:xfrm>
            <a:off x="7726680" y="2240280"/>
            <a:ext cx="3794760" cy="3977640"/>
          </a:xfrm>
          <a:prstGeom prst="rect">
            <a:avLst/>
          </a:prstGeom>
          <a:solidFill>
            <a:srgbClr val="333333"/>
          </a:solidFill>
          <a:ln w="12700">
            <a:solidFill>
              <a:srgbClr val="333333"/>
            </a:solidFill>
            <a:prstDash val="solid"/>
          </a:ln>
        </p:spPr>
      </p:sp>
      <p:sp>
        <p:nvSpPr>
          <p:cNvPr id="12" name="Shape 10"/>
          <p:cNvSpPr/>
          <p:nvPr/>
        </p:nvSpPr>
        <p:spPr>
          <a:xfrm>
            <a:off x="7726680" y="2240280"/>
            <a:ext cx="3794760" cy="45720"/>
          </a:xfrm>
          <a:prstGeom prst="rect">
            <a:avLst/>
          </a:prstGeom>
          <a:solidFill>
            <a:srgbClr val="B60000"/>
          </a:solidFill>
          <a:ln/>
        </p:spPr>
      </p:sp>
      <p:sp>
        <p:nvSpPr>
          <p:cNvPr id="13" name="Text 11"/>
          <p:cNvSpPr txBox="1"/>
          <p:nvPr/>
        </p:nvSpPr>
        <p:spPr>
          <a:xfrm>
            <a:off x="7909560" y="2377440"/>
            <a:ext cx="3383280" cy="320040"/>
          </a:xfrm>
          <a:prstGeom prst="rect">
            <a:avLst/>
          </a:prstGeom>
          <a:noFill/>
          <a:ln/>
        </p:spPr>
        <p:txBody>
          <a:bodyPr wrap="square" lIns="0" tIns="0" rIns="0" bIns="0" rtlCol="0" anchor="ctr"/>
          <a:lstStyle/>
          <a:p>
            <a:pPr indent="0" marL="0">
              <a:buNone/>
            </a:pPr>
            <a:r>
              <a:rPr lang="en-US" sz="1100" b="1" spc="150" kern="0" dirty="0">
                <a:solidFill>
                  <a:srgbClr val="E1E1E1"/>
                </a:solidFill>
                <a:latin typeface="Calibri" pitchFamily="34" charset="0"/>
                <a:ea typeface="Calibri" pitchFamily="34" charset="-122"/>
                <a:cs typeface="Calibri" pitchFamily="34" charset="-120"/>
              </a:rPr>
              <a:t>EXPECTED</a:t>
            </a:r>
            <a:endParaRPr lang="en-US" sz="1100" dirty="0"/>
          </a:p>
        </p:txBody>
      </p:sp>
      <p:sp>
        <p:nvSpPr>
          <p:cNvPr id="14" name="Text 12"/>
          <p:cNvSpPr txBox="1"/>
          <p:nvPr/>
        </p:nvSpPr>
        <p:spPr>
          <a:xfrm>
            <a:off x="7909560" y="2743200"/>
            <a:ext cx="3383280" cy="3337560"/>
          </a:xfrm>
          <a:prstGeom prst="rect">
            <a:avLst/>
          </a:prstGeom>
          <a:noFill/>
          <a:ln/>
        </p:spPr>
        <p:txBody>
          <a:bodyPr wrap="square" lIns="0" tIns="0" rIns="0" bIns="0" rtlCol="0" anchor="ctr"/>
          <a:lstStyle/>
          <a:p>
            <a:pPr indent="0" marL="0">
              <a:lnSpc>
                <a:spcPct val="122000"/>
              </a:lnSpc>
              <a:buNone/>
            </a:pPr>
            <a:r>
              <a:rPr lang="en-US" sz="1800" dirty="0">
                <a:solidFill>
                  <a:srgbClr val="F2F2F2"/>
                </a:solidFill>
                <a:latin typeface="Calibri" pitchFamily="34" charset="0"/>
                <a:ea typeface="Calibri" pitchFamily="34" charset="-122"/>
                <a:cs typeface="Calibri" pitchFamily="34" charset="-120"/>
              </a:rPr>
              <a:t>Crisscrossed attributes: the team usually converges. Aligned attributes: it splits along demographic lines. Same aligned team, but subteams converge before they meet: the split mostly disappears.</a:t>
            </a:r>
            <a:endParaRPr lang="en-US" sz="1800" dirty="0"/>
          </a:p>
        </p:txBody>
      </p:sp>
      <p:sp>
        <p:nvSpPr>
          <p:cNvPr id="15" name="Text 1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E1E1E1"/>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E1E1E1"/>
                </a:solidFill>
                <a:latin typeface="Courier New" pitchFamily="34" charset="0"/>
                <a:ea typeface="Courier New" pitchFamily="34" charset="-122"/>
                <a:cs typeface="Courier New" pitchFamily="34" charset="-120"/>
              </a:rPr>
              <a:t>tick 26</a:t>
            </a:r>
            <a:endParaRPr lang="en-US" sz="1000" dirty="0"/>
          </a:p>
        </p:txBody>
      </p:sp>
      <p:pic>
        <p:nvPicPr>
          <p:cNvPr id="16" name="Image 0" descr="assets/ncite_logo_white.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LIVE BUILD · STAGE 3 RESULT</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000" b="1" dirty="0">
                <a:solidFill>
                  <a:srgbClr val="0E0E0E"/>
                </a:solidFill>
                <a:latin typeface="Calibri" pitchFamily="34" charset="0"/>
                <a:ea typeface="Calibri" pitchFamily="34" charset="-122"/>
                <a:cs typeface="Calibri" pitchFamily="34" charset="-120"/>
              </a:rPr>
              <a:t>Faultlines split teams, unless timing intervenes</a:t>
            </a:r>
            <a:endParaRPr lang="en-US" sz="3000" dirty="0"/>
          </a:p>
        </p:txBody>
      </p:sp>
      <p:pic>
        <p:nvPicPr>
          <p:cNvPr id="5" name="Image 0" descr="figures/stage3_faultlines.png">    </p:cNvPr>
          <p:cNvPicPr>
            <a:picLocks noChangeAspect="1"/>
          </p:cNvPicPr>
          <p:nvPr/>
        </p:nvPicPr>
        <p:blipFill>
          <a:blip r:embed="rId1"/>
          <a:stretch>
            <a:fillRect/>
          </a:stretch>
        </p:blipFill>
        <p:spPr>
          <a:xfrm>
            <a:off x="777240" y="1783080"/>
            <a:ext cx="10607040" cy="3785257"/>
          </a:xfrm>
          <a:prstGeom prst="rect">
            <a:avLst/>
          </a:prstGeom>
        </p:spPr>
      </p:pic>
      <p:sp>
        <p:nvSpPr>
          <p:cNvPr id="6" name="Text 3"/>
          <p:cNvSpPr txBox="1"/>
          <p:nvPr/>
        </p:nvSpPr>
        <p:spPr>
          <a:xfrm>
            <a:off x="640080" y="5897880"/>
            <a:ext cx="10881360" cy="36576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Runs ending split along subgroup lines, 100 seeds each:  crisscrossed 13  ·  aligned 84  ·  aligned, subteams first 16</a:t>
            </a:r>
            <a:endParaRPr lang="en-US" sz="1400" dirty="0"/>
          </a:p>
        </p:txBody>
      </p:sp>
      <p:sp>
        <p:nvSpPr>
          <p:cNvPr id="7" name="Text 4"/>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27</a:t>
            </a:r>
            <a:endParaRPr lang="en-US" sz="1000" dirty="0"/>
          </a:p>
        </p:txBody>
      </p:sp>
      <p:pic>
        <p:nvPicPr>
          <p:cNvPr id="8"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LIVE BUILD · STAGE 3 EXEMPLAR</a:t>
            </a:r>
            <a:endParaRPr lang="en-US" sz="1300" dirty="0"/>
          </a:p>
        </p:txBody>
      </p:sp>
      <p:sp>
        <p:nvSpPr>
          <p:cNvPr id="4" name="Text 2"/>
          <p:cNvSpPr txBox="1"/>
          <p:nvPr/>
        </p:nvSpPr>
        <p:spPr>
          <a:xfrm>
            <a:off x="640080" y="914400"/>
            <a:ext cx="95097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Flache &amp; Mäs (2008)</a:t>
            </a:r>
            <a:endParaRPr lang="en-US" sz="3400" dirty="0"/>
          </a:p>
        </p:txBody>
      </p:sp>
      <p:pic>
        <p:nvPicPr>
          <p:cNvPr id="5" name="Image 0" descr="assets/glyph_network.png">    </p:cNvPr>
          <p:cNvPicPr>
            <a:picLocks noChangeAspect="1"/>
          </p:cNvPicPr>
          <p:nvPr/>
        </p:nvPicPr>
        <p:blipFill>
          <a:blip r:embed="rId1"/>
          <a:stretch>
            <a:fillRect/>
          </a:stretch>
        </p:blipFill>
        <p:spPr>
          <a:xfrm>
            <a:off x="10698480" y="411480"/>
            <a:ext cx="822960" cy="822960"/>
          </a:xfrm>
          <a:prstGeom prst="rect">
            <a:avLst/>
          </a:prstGeom>
        </p:spPr>
      </p:pic>
      <p:sp>
        <p:nvSpPr>
          <p:cNvPr id="6" name="Text 3"/>
          <p:cNvSpPr txBox="1"/>
          <p:nvPr/>
        </p:nvSpPr>
        <p:spPr>
          <a:xfrm>
            <a:off x="640080" y="1645920"/>
            <a:ext cx="10058400" cy="868680"/>
          </a:xfrm>
          <a:prstGeom prst="rect">
            <a:avLst/>
          </a:prstGeom>
          <a:noFill/>
          <a:ln/>
        </p:spPr>
        <p:txBody>
          <a:bodyPr wrap="square" lIns="0" tIns="0" rIns="0" bIns="0" rtlCol="0" anchor="t"/>
          <a:lstStyle/>
          <a:p>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Flache, A., &amp; Mäs, M. (2008). How to get the timing right: A computational model of the effects of the timing of contacts on team cohesion in demographically diverse teams. </a:t>
            </a:r>
            <a:pPr indent="0" marL="0">
              <a:lnSpc>
                <a:spcPct val="115000"/>
              </a:lnSpc>
              <a:buNone/>
            </a:pPr>
            <a:r>
              <a:rPr lang="en-US" sz="1450" i="1" dirty="0">
                <a:solidFill>
                  <a:srgbClr val="333333"/>
                </a:solidFill>
                <a:latin typeface="Times New Roman" pitchFamily="34" charset="0"/>
                <a:ea typeface="Times New Roman" pitchFamily="34" charset="-122"/>
                <a:cs typeface="Times New Roman" pitchFamily="34" charset="-120"/>
              </a:rPr>
              <a:t>Computational and Mathematical Organization Theory, 14</a:t>
            </a:r>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(1), 23-51.</a:t>
            </a:r>
            <a:endParaRPr lang="en-US" sz="1450" dirty="0"/>
          </a:p>
        </p:txBody>
      </p:sp>
      <p:sp>
        <p:nvSpPr>
          <p:cNvPr id="7" name="Shape 4"/>
          <p:cNvSpPr/>
          <p:nvPr/>
        </p:nvSpPr>
        <p:spPr>
          <a:xfrm>
            <a:off x="640080" y="2788920"/>
            <a:ext cx="10881360" cy="3154680"/>
          </a:xfrm>
          <a:prstGeom prst="rect">
            <a:avLst/>
          </a:prstGeom>
          <a:solidFill>
            <a:srgbClr val="E1E1E1"/>
          </a:solidFill>
          <a:ln/>
        </p:spPr>
      </p:sp>
      <p:sp>
        <p:nvSpPr>
          <p:cNvPr id="8" name="Shape 5"/>
          <p:cNvSpPr/>
          <p:nvPr/>
        </p:nvSpPr>
        <p:spPr>
          <a:xfrm>
            <a:off x="640080" y="2788920"/>
            <a:ext cx="82296" cy="3154680"/>
          </a:xfrm>
          <a:prstGeom prst="rect">
            <a:avLst/>
          </a:prstGeom>
          <a:solidFill>
            <a:srgbClr val="B60000"/>
          </a:solidFill>
          <a:ln/>
        </p:spPr>
      </p:sp>
      <p:sp>
        <p:nvSpPr>
          <p:cNvPr id="9" name="Text 6"/>
          <p:cNvSpPr txBox="1"/>
          <p:nvPr/>
        </p:nvSpPr>
        <p:spPr>
          <a:xfrm>
            <a:off x="1005840" y="3063240"/>
            <a:ext cx="9144000" cy="320040"/>
          </a:xfrm>
          <a:prstGeom prst="rect">
            <a:avLst/>
          </a:prstGeom>
          <a:noFill/>
          <a:ln/>
        </p:spPr>
        <p:txBody>
          <a:bodyPr wrap="square" lIns="0" tIns="0" rIns="0" bIns="0" rtlCol="0" anchor="ctr"/>
          <a:lstStyle/>
          <a:p>
            <a:pPr indent="0" marL="0">
              <a:buNone/>
            </a:pPr>
            <a:r>
              <a:rPr lang="en-US" sz="1200" b="1" spc="200" kern="0" dirty="0">
                <a:solidFill>
                  <a:srgbClr val="B60000"/>
                </a:solidFill>
                <a:latin typeface="Calibri" pitchFamily="34" charset="0"/>
                <a:ea typeface="Calibri" pitchFamily="34" charset="-122"/>
                <a:cs typeface="Calibri" pitchFamily="34" charset="-120"/>
              </a:rPr>
              <a:t>WHAT THIS STUDY SHOWED</a:t>
            </a:r>
            <a:endParaRPr lang="en-US" sz="1200" dirty="0"/>
          </a:p>
        </p:txBody>
      </p:sp>
      <p:sp>
        <p:nvSpPr>
          <p:cNvPr id="10" name="Text 7"/>
          <p:cNvSpPr txBox="1"/>
          <p:nvPr/>
        </p:nvSpPr>
        <p:spPr>
          <a:xfrm>
            <a:off x="1005840" y="3474720"/>
            <a:ext cx="10149840" cy="2286000"/>
          </a:xfrm>
          <a:prstGeom prst="rect">
            <a:avLst/>
          </a:prstGeom>
          <a:noFill/>
          <a:ln/>
        </p:spPr>
        <p:txBody>
          <a:bodyPr wrap="square" lIns="0" tIns="0" rIns="0" bIns="0" rtlCol="0" anchor="t"/>
          <a:lstStyle/>
          <a:p>
            <a:pPr indent="0" marL="0">
              <a:lnSpc>
                <a:spcPct val="130000"/>
              </a:lnSpc>
              <a:buNone/>
            </a:pPr>
            <a:r>
              <a:rPr lang="en-US" sz="2100" dirty="0">
                <a:solidFill>
                  <a:srgbClr val="0E0E0E"/>
                </a:solidFill>
                <a:latin typeface="Calibri" pitchFamily="34" charset="0"/>
                <a:ea typeface="Calibri" pitchFamily="34" charset="-122"/>
                <a:cs typeface="Calibri" pitchFamily="34" charset="-120"/>
              </a:rPr>
              <a:t>Formalized faultline theory with homophily, heterophobia, social influence, and rejection, reproduced the claim that strong faultlines undermine cohesion, and showed the timing of contact matters: subteams that reach consensus before merging suffer far less. Mäs et al. (2013) extended the model to crisscrossing demographics.</a:t>
            </a:r>
            <a:endParaRPr lang="en-US" sz="2100" dirty="0"/>
          </a:p>
        </p:txBody>
      </p:sp>
      <p:sp>
        <p:nvSpPr>
          <p:cNvPr id="11"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28</a:t>
            </a:r>
            <a:endParaRPr lang="en-US" sz="1000" dirty="0"/>
          </a:p>
        </p:txBody>
      </p:sp>
      <p:pic>
        <p:nvPicPr>
          <p:cNvPr id="12"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0E0E"/>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E1E1E1"/>
                </a:solidFill>
                <a:latin typeface="Calibri" pitchFamily="34" charset="0"/>
                <a:ea typeface="Calibri" pitchFamily="34" charset="-122"/>
                <a:cs typeface="Calibri" pitchFamily="34" charset="-120"/>
              </a:rPr>
              <a:t>LIVE BUILD · STAGE 4</a:t>
            </a:r>
            <a:endParaRPr lang="en-US" sz="1300" dirty="0"/>
          </a:p>
        </p:txBody>
      </p:sp>
      <p:sp>
        <p:nvSpPr>
          <p:cNvPr id="4" name="Text 2"/>
          <p:cNvSpPr txBox="1"/>
          <p:nvPr/>
        </p:nvSpPr>
        <p:spPr>
          <a:xfrm>
            <a:off x="640080" y="914400"/>
            <a:ext cx="10881360" cy="822960"/>
          </a:xfrm>
          <a:prstGeom prst="rect">
            <a:avLst/>
          </a:prstGeom>
          <a:noFill/>
          <a:ln/>
        </p:spPr>
        <p:txBody>
          <a:bodyPr wrap="square" lIns="0" tIns="0" rIns="0" bIns="0" rtlCol="0" anchor="ctr"/>
          <a:lstStyle/>
          <a:p>
            <a:pPr indent="0" marL="0">
              <a:buNone/>
            </a:pPr>
            <a:r>
              <a:rPr lang="en-US" sz="3000" b="1" dirty="0">
                <a:solidFill>
                  <a:srgbClr val="F2F2F2"/>
                </a:solidFill>
                <a:latin typeface="Calibri" pitchFamily="34" charset="0"/>
                <a:ea typeface="Calibri" pitchFamily="34" charset="-122"/>
                <a:cs typeface="Calibri" pitchFamily="34" charset="-120"/>
              </a:rPr>
              <a:t>Network topology replaces random pairing</a:t>
            </a:r>
            <a:endParaRPr lang="en-US" sz="3000" dirty="0"/>
          </a:p>
        </p:txBody>
      </p:sp>
      <p:sp>
        <p:nvSpPr>
          <p:cNvPr id="5" name="Text 3"/>
          <p:cNvSpPr txBox="1"/>
          <p:nvPr/>
        </p:nvSpPr>
        <p:spPr>
          <a:xfrm>
            <a:off x="640080" y="1600200"/>
            <a:ext cx="10881360" cy="457200"/>
          </a:xfrm>
          <a:prstGeom prst="rect">
            <a:avLst/>
          </a:prstGeom>
          <a:noFill/>
          <a:ln/>
        </p:spPr>
        <p:txBody>
          <a:bodyPr wrap="square" lIns="0" tIns="0" rIns="0" bIns="0" rtlCol="0" anchor="ctr"/>
          <a:lstStyle/>
          <a:p>
            <a:pPr indent="0" marL="0">
              <a:buNone/>
            </a:pPr>
            <a:r>
              <a:rPr lang="en-US" sz="1600" i="1" dirty="0">
                <a:solidFill>
                  <a:srgbClr val="E1E1E1"/>
                </a:solidFill>
                <a:latin typeface="Calibri" pitchFamily="34" charset="0"/>
                <a:ea typeface="Calibri" pitchFamily="34" charset="-122"/>
                <a:cs typeface="Calibri" pitchFamily="34" charset="-120"/>
              </a:rPr>
              <a:t>Who can influence whom is now structural, not random. This is the SNA seminar's variable, used as a model input.</a:t>
            </a:r>
            <a:endParaRPr lang="en-US" sz="1600" dirty="0"/>
          </a:p>
        </p:txBody>
      </p:sp>
      <p:sp>
        <p:nvSpPr>
          <p:cNvPr id="6" name="Shape 4"/>
          <p:cNvSpPr/>
          <p:nvPr/>
        </p:nvSpPr>
        <p:spPr>
          <a:xfrm>
            <a:off x="640080" y="2240280"/>
            <a:ext cx="6858000" cy="3977640"/>
          </a:xfrm>
          <a:prstGeom prst="rect">
            <a:avLst/>
          </a:prstGeom>
          <a:solidFill>
            <a:srgbClr val="333333"/>
          </a:solidFill>
          <a:ln w="12700">
            <a:solidFill>
              <a:srgbClr val="333333"/>
            </a:solidFill>
            <a:prstDash val="solid"/>
          </a:ln>
        </p:spPr>
      </p:sp>
      <p:sp>
        <p:nvSpPr>
          <p:cNvPr id="7" name="Shape 5"/>
          <p:cNvSpPr/>
          <p:nvPr/>
        </p:nvSpPr>
        <p:spPr>
          <a:xfrm>
            <a:off x="640080" y="2240280"/>
            <a:ext cx="6858000" cy="384048"/>
          </a:xfrm>
          <a:prstGeom prst="rect">
            <a:avLst/>
          </a:prstGeom>
          <a:solidFill>
            <a:srgbClr val="262626"/>
          </a:solidFill>
          <a:ln/>
        </p:spPr>
      </p:sp>
      <p:sp>
        <p:nvSpPr>
          <p:cNvPr id="8" name="Shape 6"/>
          <p:cNvSpPr/>
          <p:nvPr/>
        </p:nvSpPr>
        <p:spPr>
          <a:xfrm>
            <a:off x="640080" y="2240280"/>
            <a:ext cx="6858000" cy="45720"/>
          </a:xfrm>
          <a:prstGeom prst="rect">
            <a:avLst/>
          </a:prstGeom>
          <a:solidFill>
            <a:srgbClr val="B60000"/>
          </a:solidFill>
          <a:ln/>
        </p:spPr>
      </p:sp>
      <p:sp>
        <p:nvSpPr>
          <p:cNvPr id="9" name="Text 7"/>
          <p:cNvSpPr txBox="1"/>
          <p:nvPr/>
        </p:nvSpPr>
        <p:spPr>
          <a:xfrm>
            <a:off x="868680" y="2304288"/>
            <a:ext cx="6400800" cy="292608"/>
          </a:xfrm>
          <a:prstGeom prst="rect">
            <a:avLst/>
          </a:prstGeom>
          <a:noFill/>
          <a:ln/>
        </p:spPr>
        <p:txBody>
          <a:bodyPr wrap="square" lIns="0" tIns="0" rIns="0" bIns="0" rtlCol="0" anchor="ctr"/>
          <a:lstStyle/>
          <a:p>
            <a:pPr indent="0" marL="0">
              <a:buNone/>
            </a:pPr>
            <a:r>
              <a:rPr lang="en-US" sz="1100" b="1" dirty="0">
                <a:solidFill>
                  <a:srgbClr val="F2F2F2"/>
                </a:solidFill>
                <a:latin typeface="Courier New" pitchFamily="34" charset="0"/>
                <a:ea typeface="Courier New" pitchFamily="34" charset="-122"/>
                <a:cs typeface="Courier New" pitchFamily="34" charset="-120"/>
              </a:rPr>
              <a:t>stage4.nlogo</a:t>
            </a:r>
            <a:pPr indent="0" marL="0">
              <a:buNone/>
            </a:pPr>
            <a:r>
              <a:rPr lang="en-US" sz="1100" dirty="0">
                <a:solidFill>
                  <a:srgbClr val="8A8A8A"/>
                </a:solidFill>
                <a:latin typeface="Courier New" pitchFamily="34" charset="0"/>
                <a:ea typeface="Courier New" pitchFamily="34" charset="-122"/>
                <a:cs typeface="Courier New" pitchFamily="34" charset="-120"/>
              </a:rPr>
              <a:t>   Interface   Info   </a:t>
            </a:r>
            <a:pPr indent="0" marL="0">
              <a:buNone/>
            </a:pPr>
            <a:r>
              <a:rPr lang="en-US" sz="1100" u="sng" dirty="0">
                <a:solidFill>
                  <a:srgbClr val="F2F2F2"/>
                </a:solidFill>
                <a:uFill>
                  <a:solidFill>
                    <a:srgbClr val="B60000"/>
                  </a:solidFill>
                </a:uFill>
                <a:latin typeface="Courier New" pitchFamily="34" charset="0"/>
                <a:ea typeface="Courier New" pitchFamily="34" charset="-122"/>
                <a:cs typeface="Courier New" pitchFamily="34" charset="-120"/>
              </a:rPr>
              <a:t>Code</a:t>
            </a:r>
            <a:endParaRPr lang="en-US" sz="1100" dirty="0"/>
          </a:p>
        </p:txBody>
      </p:sp>
      <p:sp>
        <p:nvSpPr>
          <p:cNvPr id="10" name="Text 8"/>
          <p:cNvSpPr txBox="1"/>
          <p:nvPr/>
        </p:nvSpPr>
        <p:spPr>
          <a:xfrm>
            <a:off x="868680" y="2788920"/>
            <a:ext cx="6400800" cy="3291840"/>
          </a:xfrm>
          <a:prstGeom prst="rect">
            <a:avLst/>
          </a:prstGeom>
          <a:noFill/>
          <a:ln/>
        </p:spPr>
        <p:txBody>
          <a:bodyPr wrap="square" lIns="0" tIns="0" rIns="0" bIns="0" rtlCol="0" anchor="t"/>
          <a:lstStyle/>
          <a:p>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extensions</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nw</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to</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setup</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nw:generate-watts-strogatz</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turtles</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links</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num-agents</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neighborhood-size</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rewire-prob</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fd</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10</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end</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to</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go</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ask</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turtles</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let</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b</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one-of</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link-neighbors</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  </a:t>
            </a:r>
            <a:pPr indent="0" marL="0">
              <a:lnSpc>
                <a:spcPct val="105000"/>
              </a:lnSpc>
              <a:buNone/>
            </a:pPr>
            <a:r>
              <a:rPr lang="en-US" sz="1300" dirty="0">
                <a:solidFill>
                  <a:srgbClr val="E1E1E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b="1" dirty="0">
                <a:solidFill>
                  <a:srgbClr val="F2F2F2"/>
                </a:solidFill>
                <a:latin typeface="Courier New" pitchFamily="34" charset="0"/>
                <a:ea typeface="Courier New" pitchFamily="34" charset="-122"/>
                <a:cs typeface="Courier New" pitchFamily="34" charset="-120"/>
              </a:rPr>
              <a:t>end</a:t>
            </a:r>
            <a:endParaRPr lang="en-US" sz="1300" dirty="0"/>
          </a:p>
        </p:txBody>
      </p:sp>
      <p:sp>
        <p:nvSpPr>
          <p:cNvPr id="11" name="Shape 9"/>
          <p:cNvSpPr/>
          <p:nvPr/>
        </p:nvSpPr>
        <p:spPr>
          <a:xfrm>
            <a:off x="7726680" y="2240280"/>
            <a:ext cx="3794760" cy="3977640"/>
          </a:xfrm>
          <a:prstGeom prst="rect">
            <a:avLst/>
          </a:prstGeom>
          <a:solidFill>
            <a:srgbClr val="333333"/>
          </a:solidFill>
          <a:ln w="12700">
            <a:solidFill>
              <a:srgbClr val="333333"/>
            </a:solidFill>
            <a:prstDash val="solid"/>
          </a:ln>
        </p:spPr>
      </p:sp>
      <p:sp>
        <p:nvSpPr>
          <p:cNvPr id="12" name="Shape 10"/>
          <p:cNvSpPr/>
          <p:nvPr/>
        </p:nvSpPr>
        <p:spPr>
          <a:xfrm>
            <a:off x="7726680" y="2240280"/>
            <a:ext cx="3794760" cy="45720"/>
          </a:xfrm>
          <a:prstGeom prst="rect">
            <a:avLst/>
          </a:prstGeom>
          <a:solidFill>
            <a:srgbClr val="B60000"/>
          </a:solidFill>
          <a:ln/>
        </p:spPr>
      </p:sp>
      <p:sp>
        <p:nvSpPr>
          <p:cNvPr id="13" name="Text 11"/>
          <p:cNvSpPr txBox="1"/>
          <p:nvPr/>
        </p:nvSpPr>
        <p:spPr>
          <a:xfrm>
            <a:off x="7909560" y="2377440"/>
            <a:ext cx="3383280" cy="320040"/>
          </a:xfrm>
          <a:prstGeom prst="rect">
            <a:avLst/>
          </a:prstGeom>
          <a:noFill/>
          <a:ln/>
        </p:spPr>
        <p:txBody>
          <a:bodyPr wrap="square" lIns="0" tIns="0" rIns="0" bIns="0" rtlCol="0" anchor="ctr"/>
          <a:lstStyle/>
          <a:p>
            <a:pPr indent="0" marL="0">
              <a:buNone/>
            </a:pPr>
            <a:r>
              <a:rPr lang="en-US" sz="1100" b="1" spc="150" kern="0" dirty="0">
                <a:solidFill>
                  <a:srgbClr val="E1E1E1"/>
                </a:solidFill>
                <a:latin typeface="Calibri" pitchFamily="34" charset="0"/>
                <a:ea typeface="Calibri" pitchFamily="34" charset="-122"/>
                <a:cs typeface="Calibri" pitchFamily="34" charset="-120"/>
              </a:rPr>
              <a:t>EXPECTED</a:t>
            </a:r>
            <a:endParaRPr lang="en-US" sz="1100" dirty="0"/>
          </a:p>
        </p:txBody>
      </p:sp>
      <p:sp>
        <p:nvSpPr>
          <p:cNvPr id="14" name="Text 12"/>
          <p:cNvSpPr txBox="1"/>
          <p:nvPr/>
        </p:nvSpPr>
        <p:spPr>
          <a:xfrm>
            <a:off x="7909560" y="2743200"/>
            <a:ext cx="3383280" cy="3337560"/>
          </a:xfrm>
          <a:prstGeom prst="rect">
            <a:avLst/>
          </a:prstGeom>
          <a:noFill/>
          <a:ln/>
        </p:spPr>
        <p:txBody>
          <a:bodyPr wrap="square" lIns="0" tIns="0" rIns="0" bIns="0" rtlCol="0" anchor="ctr"/>
          <a:lstStyle/>
          <a:p>
            <a:pPr indent="0" marL="0">
              <a:lnSpc>
                <a:spcPct val="122000"/>
              </a:lnSpc>
              <a:buNone/>
            </a:pPr>
            <a:r>
              <a:rPr lang="en-US" sz="1800" dirty="0">
                <a:solidFill>
                  <a:srgbClr val="F2F2F2"/>
                </a:solidFill>
                <a:latin typeface="Calibri" pitchFamily="34" charset="0"/>
                <a:ea typeface="Calibri" pitchFamily="34" charset="-122"/>
                <a:cs typeface="Calibri" pitchFamily="34" charset="-120"/>
              </a:rPr>
              <a:t>At rewire-prob 0, a ring lattice: clusters track spatial position. Raise rewire-prob and long-range shortcuts pull distant clusters into contact, changing the outcome with the threshold unchanged.</a:t>
            </a:r>
            <a:endParaRPr lang="en-US" sz="1800" dirty="0"/>
          </a:p>
        </p:txBody>
      </p:sp>
      <p:sp>
        <p:nvSpPr>
          <p:cNvPr id="15" name="Text 1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E1E1E1"/>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E1E1E1"/>
                </a:solidFill>
                <a:latin typeface="Courier New" pitchFamily="34" charset="0"/>
                <a:ea typeface="Courier New" pitchFamily="34" charset="-122"/>
                <a:cs typeface="Courier New" pitchFamily="34" charset="-120"/>
              </a:rPr>
              <a:t>tick 29</a:t>
            </a:r>
            <a:endParaRPr lang="en-US" sz="1000" dirty="0"/>
          </a:p>
        </p:txBody>
      </p:sp>
      <p:pic>
        <p:nvPicPr>
          <p:cNvPr id="16" name="Image 0" descr="assets/ncite_logo_white.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LIVE BUILD · STAGE 4 SETUP</a:t>
            </a:r>
            <a:endParaRPr lang="en-US" sz="1300" dirty="0"/>
          </a:p>
        </p:txBody>
      </p:sp>
      <p:sp>
        <p:nvSpPr>
          <p:cNvPr id="4" name="Text 2"/>
          <p:cNvSpPr txBox="1"/>
          <p:nvPr/>
        </p:nvSpPr>
        <p:spPr>
          <a:xfrm>
            <a:off x="640080" y="914400"/>
            <a:ext cx="10881360" cy="1371600"/>
          </a:xfrm>
          <a:prstGeom prst="rect">
            <a:avLst/>
          </a:prstGeom>
          <a:noFill/>
          <a:ln/>
        </p:spPr>
        <p:txBody>
          <a:bodyPr wrap="square" lIns="0" tIns="0" rIns="0" bIns="0" rtlCol="0" anchor="t"/>
          <a:lstStyle/>
          <a:p>
            <a:pPr indent="0" marL="0">
              <a:buNone/>
            </a:pPr>
            <a:r>
              <a:rPr lang="en-US" sz="2800" b="1" dirty="0">
                <a:solidFill>
                  <a:srgbClr val="0E0E0E"/>
                </a:solidFill>
                <a:latin typeface="Calibri" pitchFamily="34" charset="0"/>
                <a:ea typeface="Calibri" pitchFamily="34" charset="-122"/>
                <a:cs typeface="Calibri" pitchFamily="34" charset="-120"/>
              </a:rPr>
              <a:t>The variable your last seminar measured</a:t>
            </a:r>
            <a:endParaRPr lang="en-US" sz="2800" dirty="0"/>
          </a:p>
          <a:p>
            <a:pPr indent="0" marL="0">
              <a:buNone/>
            </a:pPr>
            <a:r>
              <a:rPr lang="en-US" sz="2800" b="1" dirty="0">
                <a:solidFill>
                  <a:srgbClr val="0E0E0E"/>
                </a:solidFill>
                <a:latin typeface="Calibri" pitchFamily="34" charset="0"/>
                <a:ea typeface="Calibri" pitchFamily="34" charset="-122"/>
                <a:cs typeface="Calibri" pitchFamily="34" charset="-120"/>
              </a:rPr>
              <a:t>is now a dial you set</a:t>
            </a:r>
            <a:endParaRPr lang="en-US" sz="2800" dirty="0"/>
          </a:p>
        </p:txBody>
      </p:sp>
      <p:sp>
        <p:nvSpPr>
          <p:cNvPr id="5" name="Text 3"/>
          <p:cNvSpPr txBox="1"/>
          <p:nvPr/>
        </p:nvSpPr>
        <p:spPr>
          <a:xfrm>
            <a:off x="640080" y="3017520"/>
            <a:ext cx="10424160" cy="1463040"/>
          </a:xfrm>
          <a:prstGeom prst="rect">
            <a:avLst/>
          </a:prstGeom>
          <a:noFill/>
          <a:ln/>
        </p:spPr>
        <p:txBody>
          <a:bodyPr wrap="square" lIns="0" tIns="0" rIns="0" bIns="0" rtlCol="0" anchor="ctr"/>
          <a:lstStyle/>
          <a:p>
            <a:pPr indent="0" marL="0">
              <a:lnSpc>
                <a:spcPct val="140000"/>
              </a:lnSpc>
              <a:buNone/>
            </a:pPr>
            <a:r>
              <a:rPr lang="en-US" sz="1900" dirty="0">
                <a:solidFill>
                  <a:srgbClr val="333333"/>
                </a:solidFill>
                <a:latin typeface="Calibri" pitchFamily="34" charset="0"/>
                <a:ea typeface="Calibri" pitchFamily="34" charset="-122"/>
                <a:cs typeface="Calibri" pitchFamily="34" charset="-120"/>
              </a:rPr>
              <a:t>In an observed network, structure is something you estimate from data. In this model, structure is a parameter: fix the threshold, change only rewire-prob, and watch the same rule produce a different outcome.</a:t>
            </a:r>
            <a:endParaRPr lang="en-US" sz="1900" dirty="0"/>
          </a:p>
        </p:txBody>
      </p:sp>
      <p:sp>
        <p:nvSpPr>
          <p:cNvPr id="6" name="Text 4"/>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30</a:t>
            </a:r>
            <a:endParaRPr lang="en-US" sz="1000" dirty="0"/>
          </a:p>
        </p:txBody>
      </p:sp>
      <p:pic>
        <p:nvPicPr>
          <p:cNvPr id="7"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LIVE BUILD · STAGE 4 RESULT</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000" b="1" dirty="0">
                <a:solidFill>
                  <a:srgbClr val="0E0E0E"/>
                </a:solidFill>
                <a:latin typeface="Calibri" pitchFamily="34" charset="0"/>
                <a:ea typeface="Calibri" pitchFamily="34" charset="-122"/>
                <a:cs typeface="Calibri" pitchFamily="34" charset="-120"/>
              </a:rPr>
              <a:t>Structure changes the outcome</a:t>
            </a:r>
            <a:endParaRPr lang="en-US" sz="3000" dirty="0"/>
          </a:p>
        </p:txBody>
      </p:sp>
      <p:pic>
        <p:nvPicPr>
          <p:cNvPr id="5" name="Image 0" descr="figures/stage4_network.png">    </p:cNvPr>
          <p:cNvPicPr>
            <a:picLocks noChangeAspect="1"/>
          </p:cNvPicPr>
          <p:nvPr/>
        </p:nvPicPr>
        <p:blipFill>
          <a:blip r:embed="rId1"/>
          <a:stretch>
            <a:fillRect/>
          </a:stretch>
        </p:blipFill>
        <p:spPr>
          <a:xfrm>
            <a:off x="1709928" y="1874520"/>
            <a:ext cx="8778240" cy="4309396"/>
          </a:xfrm>
          <a:prstGeom prst="rect">
            <a:avLst/>
          </a:prstGeom>
        </p:spPr>
      </p:pic>
      <p:sp>
        <p:nvSpPr>
          <p:cNvPr id="6" name="Text 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31</a:t>
            </a:r>
            <a:endParaRPr lang="en-US" sz="1000" dirty="0"/>
          </a:p>
        </p:txBody>
      </p:sp>
      <p:pic>
        <p:nvPicPr>
          <p:cNvPr id="7"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LIVE BUILD · STAGE 4 EXEMPLAR</a:t>
            </a:r>
            <a:endParaRPr lang="en-US" sz="1300" dirty="0"/>
          </a:p>
        </p:txBody>
      </p:sp>
      <p:sp>
        <p:nvSpPr>
          <p:cNvPr id="4" name="Text 2"/>
          <p:cNvSpPr txBox="1"/>
          <p:nvPr/>
        </p:nvSpPr>
        <p:spPr>
          <a:xfrm>
            <a:off x="640080" y="914400"/>
            <a:ext cx="95097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Lazer &amp; Friedman (2007)</a:t>
            </a:r>
            <a:endParaRPr lang="en-US" sz="3400" dirty="0"/>
          </a:p>
        </p:txBody>
      </p:sp>
      <p:pic>
        <p:nvPicPr>
          <p:cNvPr id="5" name="Image 0" descr="assets/glyph_network.png">    </p:cNvPr>
          <p:cNvPicPr>
            <a:picLocks noChangeAspect="1"/>
          </p:cNvPicPr>
          <p:nvPr/>
        </p:nvPicPr>
        <p:blipFill>
          <a:blip r:embed="rId1"/>
          <a:stretch>
            <a:fillRect/>
          </a:stretch>
        </p:blipFill>
        <p:spPr>
          <a:xfrm>
            <a:off x="10698480" y="411480"/>
            <a:ext cx="822960" cy="822960"/>
          </a:xfrm>
          <a:prstGeom prst="rect">
            <a:avLst/>
          </a:prstGeom>
        </p:spPr>
      </p:pic>
      <p:sp>
        <p:nvSpPr>
          <p:cNvPr id="6" name="Text 3"/>
          <p:cNvSpPr txBox="1"/>
          <p:nvPr/>
        </p:nvSpPr>
        <p:spPr>
          <a:xfrm>
            <a:off x="640080" y="1645920"/>
            <a:ext cx="10058400" cy="868680"/>
          </a:xfrm>
          <a:prstGeom prst="rect">
            <a:avLst/>
          </a:prstGeom>
          <a:noFill/>
          <a:ln/>
        </p:spPr>
        <p:txBody>
          <a:bodyPr wrap="square" lIns="0" tIns="0" rIns="0" bIns="0" rtlCol="0" anchor="t"/>
          <a:lstStyle/>
          <a:p>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Lazer, D., &amp; Friedman, A. (2007). The network structure of exploration and exploitation. </a:t>
            </a:r>
            <a:pPr indent="0" marL="0">
              <a:lnSpc>
                <a:spcPct val="115000"/>
              </a:lnSpc>
              <a:buNone/>
            </a:pPr>
            <a:r>
              <a:rPr lang="en-US" sz="1450" i="1" dirty="0">
                <a:solidFill>
                  <a:srgbClr val="333333"/>
                </a:solidFill>
                <a:latin typeface="Times New Roman" pitchFamily="34" charset="0"/>
                <a:ea typeface="Times New Roman" pitchFamily="34" charset="-122"/>
                <a:cs typeface="Times New Roman" pitchFamily="34" charset="-120"/>
              </a:rPr>
              <a:t>Administrative Science Quarterly, 52</a:t>
            </a:r>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(4), 667-694.</a:t>
            </a:r>
            <a:endParaRPr lang="en-US" sz="1450" dirty="0"/>
          </a:p>
        </p:txBody>
      </p:sp>
      <p:sp>
        <p:nvSpPr>
          <p:cNvPr id="7" name="Shape 4"/>
          <p:cNvSpPr/>
          <p:nvPr/>
        </p:nvSpPr>
        <p:spPr>
          <a:xfrm>
            <a:off x="640080" y="2788920"/>
            <a:ext cx="10881360" cy="3154680"/>
          </a:xfrm>
          <a:prstGeom prst="rect">
            <a:avLst/>
          </a:prstGeom>
          <a:solidFill>
            <a:srgbClr val="E1E1E1"/>
          </a:solidFill>
          <a:ln/>
        </p:spPr>
      </p:sp>
      <p:sp>
        <p:nvSpPr>
          <p:cNvPr id="8" name="Shape 5"/>
          <p:cNvSpPr/>
          <p:nvPr/>
        </p:nvSpPr>
        <p:spPr>
          <a:xfrm>
            <a:off x="640080" y="2788920"/>
            <a:ext cx="82296" cy="3154680"/>
          </a:xfrm>
          <a:prstGeom prst="rect">
            <a:avLst/>
          </a:prstGeom>
          <a:solidFill>
            <a:srgbClr val="B60000"/>
          </a:solidFill>
          <a:ln/>
        </p:spPr>
      </p:sp>
      <p:sp>
        <p:nvSpPr>
          <p:cNvPr id="9" name="Text 6"/>
          <p:cNvSpPr txBox="1"/>
          <p:nvPr/>
        </p:nvSpPr>
        <p:spPr>
          <a:xfrm>
            <a:off x="1005840" y="3063240"/>
            <a:ext cx="9144000" cy="320040"/>
          </a:xfrm>
          <a:prstGeom prst="rect">
            <a:avLst/>
          </a:prstGeom>
          <a:noFill/>
          <a:ln/>
        </p:spPr>
        <p:txBody>
          <a:bodyPr wrap="square" lIns="0" tIns="0" rIns="0" bIns="0" rtlCol="0" anchor="ctr"/>
          <a:lstStyle/>
          <a:p>
            <a:pPr indent="0" marL="0">
              <a:buNone/>
            </a:pPr>
            <a:r>
              <a:rPr lang="en-US" sz="1200" b="1" spc="200" kern="0" dirty="0">
                <a:solidFill>
                  <a:srgbClr val="B60000"/>
                </a:solidFill>
                <a:latin typeface="Calibri" pitchFamily="34" charset="0"/>
                <a:ea typeface="Calibri" pitchFamily="34" charset="-122"/>
                <a:cs typeface="Calibri" pitchFamily="34" charset="-120"/>
              </a:rPr>
              <a:t>WHAT THIS STUDY SHOWED</a:t>
            </a:r>
            <a:endParaRPr lang="en-US" sz="1200" dirty="0"/>
          </a:p>
        </p:txBody>
      </p:sp>
      <p:sp>
        <p:nvSpPr>
          <p:cNvPr id="10" name="Text 7"/>
          <p:cNvSpPr txBox="1"/>
          <p:nvPr/>
        </p:nvSpPr>
        <p:spPr>
          <a:xfrm>
            <a:off x="1005840" y="3474720"/>
            <a:ext cx="10149840" cy="2286000"/>
          </a:xfrm>
          <a:prstGeom prst="rect">
            <a:avLst/>
          </a:prstGeom>
          <a:noFill/>
          <a:ln/>
        </p:spPr>
        <p:txBody>
          <a:bodyPr wrap="square" lIns="0" tIns="0" rIns="0" bIns="0" rtlCol="0" anchor="t"/>
          <a:lstStyle/>
          <a:p>
            <a:pPr indent="0" marL="0">
              <a:lnSpc>
                <a:spcPct val="130000"/>
              </a:lnSpc>
              <a:buNone/>
            </a:pPr>
            <a:r>
              <a:rPr lang="en-US" sz="2100" dirty="0">
                <a:solidFill>
                  <a:srgbClr val="0E0E0E"/>
                </a:solidFill>
                <a:latin typeface="Calibri" pitchFamily="34" charset="0"/>
                <a:ea typeface="Calibri" pitchFamily="34" charset="-122"/>
                <a:cs typeface="Calibri" pitchFamily="34" charset="-120"/>
              </a:rPr>
              <a:t>Simulated problem-solving groups in which agents imitate better-performing contacts and found that efficient, densely connected networks win in the short run but lose in the long run on complex problems, because less efficient networks preserve the diversity that exploration needs.</a:t>
            </a:r>
            <a:endParaRPr lang="en-US" sz="2100" dirty="0"/>
          </a:p>
        </p:txBody>
      </p:sp>
      <p:sp>
        <p:nvSpPr>
          <p:cNvPr id="11"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32</a:t>
            </a:r>
            <a:endParaRPr lang="en-US" sz="1000" dirty="0"/>
          </a:p>
        </p:txBody>
      </p:sp>
      <p:pic>
        <p:nvPicPr>
          <p:cNvPr id="12"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0E0E"/>
        </a:solidFill>
      </p:bgPr>
    </p:bg>
    <p:spTree>
      <p:nvGrpSpPr>
        <p:cNvPr id="1" name=""/>
        <p:cNvGrpSpPr/>
        <p:nvPr/>
      </p:nvGrpSpPr>
      <p:grpSpPr>
        <a:xfrm>
          <a:off x="0" y="0"/>
          <a:ext cx="0" cy="0"/>
          <a:chOff x="0" y="0"/>
          <a:chExt cx="0" cy="0"/>
        </a:xfrm>
      </p:grpSpPr>
      <p:pic>
        <p:nvPicPr>
          <p:cNvPr id="2" name="Image 0" descr="assets/art_standards.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82296" cy="6858000"/>
          </a:xfrm>
          <a:prstGeom prst="rect">
            <a:avLst/>
          </a:prstGeom>
          <a:solidFill>
            <a:srgbClr val="B60000"/>
          </a:solidFill>
          <a:ln/>
        </p:spPr>
      </p:sp>
      <p:sp>
        <p:nvSpPr>
          <p:cNvPr id="4" name="Text 1"/>
          <p:cNvSpPr txBox="1"/>
          <p:nvPr/>
        </p:nvSpPr>
        <p:spPr>
          <a:xfrm>
            <a:off x="731520" y="685800"/>
            <a:ext cx="4572000" cy="1737360"/>
          </a:xfrm>
          <a:prstGeom prst="rect">
            <a:avLst/>
          </a:prstGeom>
          <a:noFill/>
          <a:ln/>
        </p:spPr>
        <p:txBody>
          <a:bodyPr wrap="square" lIns="0" tIns="0" rIns="0" bIns="0" rtlCol="0" anchor="ctr"/>
          <a:lstStyle/>
          <a:p>
            <a:pPr indent="0" marL="0">
              <a:buNone/>
            </a:pPr>
            <a:r>
              <a:rPr lang="en-US" sz="13200" b="1" dirty="0">
                <a:solidFill>
                  <a:srgbClr val="333333"/>
                </a:solidFill>
                <a:latin typeface="Calibri" pitchFamily="34" charset="0"/>
                <a:ea typeface="Calibri" pitchFamily="34" charset="-122"/>
                <a:cs typeface="Calibri" pitchFamily="34" charset="-120"/>
              </a:rPr>
              <a:t>04</a:t>
            </a:r>
            <a:endParaRPr lang="en-US" sz="13200" dirty="0"/>
          </a:p>
        </p:txBody>
      </p:sp>
      <p:sp>
        <p:nvSpPr>
          <p:cNvPr id="5" name="Text 2"/>
          <p:cNvSpPr txBox="1"/>
          <p:nvPr/>
        </p:nvSpPr>
        <p:spPr>
          <a:xfrm>
            <a:off x="822960" y="2697480"/>
            <a:ext cx="5943600" cy="365760"/>
          </a:xfrm>
          <a:prstGeom prst="rect">
            <a:avLst/>
          </a:prstGeom>
          <a:noFill/>
          <a:ln/>
        </p:spPr>
        <p:txBody>
          <a:bodyPr wrap="square" lIns="0" tIns="0" rIns="0" bIns="0" rtlCol="0" anchor="ctr"/>
          <a:lstStyle/>
          <a:p>
            <a:pPr indent="0" marL="0">
              <a:buNone/>
            </a:pPr>
            <a:r>
              <a:rPr lang="en-US" sz="1400" b="1" spc="300" kern="0" dirty="0">
                <a:solidFill>
                  <a:srgbClr val="E1E1E1"/>
                </a:solidFill>
                <a:latin typeface="Calibri" pitchFamily="34" charset="0"/>
                <a:ea typeface="Calibri" pitchFamily="34" charset="-122"/>
                <a:cs typeface="Calibri" pitchFamily="34" charset="-120"/>
              </a:rPr>
              <a:t>PART 04 · STANDARDS &amp; LIMITS</a:t>
            </a:r>
            <a:endParaRPr lang="en-US" sz="1400" dirty="0"/>
          </a:p>
        </p:txBody>
      </p:sp>
      <p:sp>
        <p:nvSpPr>
          <p:cNvPr id="6" name="Text 3"/>
          <p:cNvSpPr txBox="1"/>
          <p:nvPr/>
        </p:nvSpPr>
        <p:spPr>
          <a:xfrm>
            <a:off x="822960" y="3108960"/>
            <a:ext cx="5669280" cy="1463040"/>
          </a:xfrm>
          <a:prstGeom prst="rect">
            <a:avLst/>
          </a:prstGeom>
          <a:noFill/>
          <a:ln/>
        </p:spPr>
        <p:txBody>
          <a:bodyPr wrap="square" lIns="0" tIns="0" rIns="0" bIns="0" rtlCol="0" anchor="t"/>
          <a:lstStyle/>
          <a:p>
            <a:pPr indent="0" marL="0">
              <a:lnSpc>
                <a:spcPct val="100000"/>
              </a:lnSpc>
              <a:buNone/>
            </a:pPr>
            <a:r>
              <a:rPr lang="en-US" sz="4200" b="1" dirty="0">
                <a:solidFill>
                  <a:srgbClr val="F2F2F2"/>
                </a:solidFill>
                <a:latin typeface="Calibri" pitchFamily="34" charset="0"/>
                <a:ea typeface="Calibri" pitchFamily="34" charset="-122"/>
                <a:cs typeface="Calibri" pitchFamily="34" charset="-120"/>
              </a:rPr>
              <a:t>When should anyone believe a simulation?</a:t>
            </a:r>
            <a:endParaRPr lang="en-US" sz="4200" dirty="0"/>
          </a:p>
        </p:txBody>
      </p:sp>
      <p:sp>
        <p:nvSpPr>
          <p:cNvPr id="7" name="Shape 4"/>
          <p:cNvSpPr/>
          <p:nvPr/>
        </p:nvSpPr>
        <p:spPr>
          <a:xfrm>
            <a:off x="822960" y="4709160"/>
            <a:ext cx="1005840" cy="54864"/>
          </a:xfrm>
          <a:prstGeom prst="rect">
            <a:avLst/>
          </a:prstGeom>
          <a:solidFill>
            <a:srgbClr val="B60000"/>
          </a:solidFill>
          <a:ln/>
        </p:spPr>
      </p:sp>
      <p:sp>
        <p:nvSpPr>
          <p:cNvPr id="8" name="Text 5"/>
          <p:cNvSpPr txBox="1"/>
          <p:nvPr/>
        </p:nvSpPr>
        <p:spPr>
          <a:xfrm>
            <a:off x="822960" y="4937760"/>
            <a:ext cx="5852160" cy="1005840"/>
          </a:xfrm>
          <a:prstGeom prst="rect">
            <a:avLst/>
          </a:prstGeom>
          <a:noFill/>
          <a:ln/>
        </p:spPr>
        <p:txBody>
          <a:bodyPr wrap="square" lIns="0" tIns="0" rIns="0" bIns="0" rtlCol="0" anchor="t"/>
          <a:lstStyle/>
          <a:p>
            <a:pPr indent="0" marL="0">
              <a:lnSpc>
                <a:spcPct val="125000"/>
              </a:lnSpc>
              <a:buNone/>
            </a:pPr>
            <a:r>
              <a:rPr lang="en-US" sz="1700" dirty="0">
                <a:solidFill>
                  <a:srgbClr val="E1E1E1"/>
                </a:solidFill>
                <a:latin typeface="Calibri" pitchFamily="34" charset="0"/>
                <a:ea typeface="Calibri" pitchFamily="34" charset="-122"/>
                <a:cs typeface="Calibri" pitchFamily="34" charset="-120"/>
              </a:rPr>
              <a:t>Verification, validation, sensitivity, reporting, and the honest critique.</a:t>
            </a:r>
            <a:endParaRPr lang="en-US" sz="1700" dirty="0"/>
          </a:p>
        </p:txBody>
      </p:sp>
      <p:sp>
        <p:nvSpPr>
          <p:cNvPr id="9" name="Text 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E1E1E1"/>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E1E1E1"/>
                </a:solidFill>
                <a:latin typeface="Courier New" pitchFamily="34" charset="0"/>
                <a:ea typeface="Courier New" pitchFamily="34" charset="-122"/>
                <a:cs typeface="Courier New" pitchFamily="34" charset="-120"/>
              </a:rPr>
              <a:t>tick 33</a:t>
            </a:r>
            <a:endParaRPr lang="en-US" sz="1000" dirty="0"/>
          </a:p>
        </p:txBody>
      </p:sp>
      <p:pic>
        <p:nvPicPr>
          <p:cNvPr id="10" name="Image 1" descr="assets/ncite_logo_white.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STANDARDS &amp; LIMITS · 1 OF 5</a:t>
            </a:r>
            <a:endParaRPr lang="en-US" sz="1300" dirty="0"/>
          </a:p>
        </p:txBody>
      </p:sp>
      <p:sp>
        <p:nvSpPr>
          <p:cNvPr id="4" name="Text 2"/>
          <p:cNvSpPr txBox="1"/>
          <p:nvPr/>
        </p:nvSpPr>
        <p:spPr>
          <a:xfrm>
            <a:off x="640080" y="914400"/>
            <a:ext cx="10881360" cy="1280160"/>
          </a:xfrm>
          <a:prstGeom prst="rect">
            <a:avLst/>
          </a:prstGeom>
          <a:noFill/>
          <a:ln/>
        </p:spPr>
        <p:txBody>
          <a:bodyPr wrap="square" lIns="0" tIns="0" rIns="0" bIns="0" rtlCol="0" anchor="t"/>
          <a:lstStyle/>
          <a:p>
            <a:pPr indent="0" marL="0">
              <a:buNone/>
            </a:pPr>
            <a:r>
              <a:rPr lang="en-US" sz="2800" b="1" dirty="0">
                <a:solidFill>
                  <a:srgbClr val="0E0E0E"/>
                </a:solidFill>
                <a:latin typeface="Calibri" pitchFamily="34" charset="0"/>
                <a:ea typeface="Calibri" pitchFamily="34" charset="-122"/>
                <a:cs typeface="Calibri" pitchFamily="34" charset="-120"/>
              </a:rPr>
              <a:t>Verification and validation are different questions</a:t>
            </a:r>
            <a:endParaRPr lang="en-US" sz="2800" dirty="0"/>
          </a:p>
        </p:txBody>
      </p:sp>
      <p:sp>
        <p:nvSpPr>
          <p:cNvPr id="5" name="Shape 3"/>
          <p:cNvSpPr/>
          <p:nvPr/>
        </p:nvSpPr>
        <p:spPr>
          <a:xfrm>
            <a:off x="640080" y="2377440"/>
            <a:ext cx="5303520" cy="3566160"/>
          </a:xfrm>
          <a:prstGeom prst="rect">
            <a:avLst/>
          </a:prstGeom>
          <a:solidFill>
            <a:srgbClr val="E1E1E1"/>
          </a:solidFill>
          <a:ln/>
        </p:spPr>
      </p:sp>
      <p:sp>
        <p:nvSpPr>
          <p:cNvPr id="6" name="Text 4"/>
          <p:cNvSpPr txBox="1"/>
          <p:nvPr/>
        </p:nvSpPr>
        <p:spPr>
          <a:xfrm>
            <a:off x="914400" y="2606040"/>
            <a:ext cx="4754880" cy="502920"/>
          </a:xfrm>
          <a:prstGeom prst="rect">
            <a:avLst/>
          </a:prstGeom>
          <a:noFill/>
          <a:ln/>
        </p:spPr>
        <p:txBody>
          <a:bodyPr wrap="square" lIns="0" tIns="0" rIns="0" bIns="0" rtlCol="0" anchor="ctr"/>
          <a:lstStyle/>
          <a:p>
            <a:pPr indent="0" marL="0">
              <a:buNone/>
            </a:pPr>
            <a:r>
              <a:rPr lang="en-US" sz="2200" b="1" dirty="0">
                <a:solidFill>
                  <a:srgbClr val="0E0E0E"/>
                </a:solidFill>
                <a:latin typeface="Calibri" pitchFamily="34" charset="0"/>
                <a:ea typeface="Calibri" pitchFamily="34" charset="-122"/>
                <a:cs typeface="Calibri" pitchFamily="34" charset="-120"/>
              </a:rPr>
              <a:t>Verification</a:t>
            </a:r>
            <a:endParaRPr lang="en-US" sz="2200" dirty="0"/>
          </a:p>
        </p:txBody>
      </p:sp>
      <p:sp>
        <p:nvSpPr>
          <p:cNvPr id="7" name="Text 5"/>
          <p:cNvSpPr txBox="1"/>
          <p:nvPr/>
        </p:nvSpPr>
        <p:spPr>
          <a:xfrm>
            <a:off x="914400" y="3200400"/>
            <a:ext cx="4754880" cy="822960"/>
          </a:xfrm>
          <a:prstGeom prst="rect">
            <a:avLst/>
          </a:prstGeom>
          <a:noFill/>
          <a:ln/>
        </p:spPr>
        <p:txBody>
          <a:bodyPr wrap="square" lIns="0" tIns="0" rIns="0" bIns="0" rtlCol="0" anchor="ctr"/>
          <a:lstStyle/>
          <a:p>
            <a:pPr indent="0" marL="0">
              <a:lnSpc>
                <a:spcPct val="125000"/>
              </a:lnSpc>
              <a:buNone/>
            </a:pPr>
            <a:r>
              <a:rPr lang="en-US" sz="1600" b="1" dirty="0">
                <a:solidFill>
                  <a:srgbClr val="B60000"/>
                </a:solidFill>
                <a:latin typeface="Calibri" pitchFamily="34" charset="0"/>
                <a:ea typeface="Calibri" pitchFamily="34" charset="-122"/>
                <a:cs typeface="Calibri" pitchFamily="34" charset="-120"/>
              </a:rPr>
              <a:t>Does the code correctly implement the model you specified?</a:t>
            </a:r>
            <a:endParaRPr lang="en-US" sz="1600" dirty="0"/>
          </a:p>
        </p:txBody>
      </p:sp>
      <p:sp>
        <p:nvSpPr>
          <p:cNvPr id="8" name="Text 6"/>
          <p:cNvSpPr txBox="1"/>
          <p:nvPr/>
        </p:nvSpPr>
        <p:spPr>
          <a:xfrm>
            <a:off x="914400" y="4069080"/>
            <a:ext cx="4754880" cy="1737360"/>
          </a:xfrm>
          <a:prstGeom prst="rect">
            <a:avLst/>
          </a:prstGeom>
          <a:noFill/>
          <a:ln/>
        </p:spPr>
        <p:txBody>
          <a:bodyPr wrap="square" lIns="0" tIns="0" rIns="0" bIns="0" rtlCol="0" anchor="ctr"/>
          <a:lstStyle/>
          <a:p>
            <a:pPr indent="0" marL="0">
              <a:lnSpc>
                <a:spcPct val="125000"/>
              </a:lnSpc>
              <a:buNone/>
            </a:pPr>
            <a:r>
              <a:rPr lang="en-US" sz="1800" dirty="0">
                <a:solidFill>
                  <a:srgbClr val="333333"/>
                </a:solidFill>
                <a:latin typeface="Calibri" pitchFamily="34" charset="0"/>
                <a:ea typeface="Calibri" pitchFamily="34" charset="-122"/>
                <a:cs typeface="Calibri" pitchFamily="34" charset="-120"/>
              </a:rPr>
              <a:t>Unit tests, code review, checking edge cases against hand calculation.</a:t>
            </a:r>
            <a:endParaRPr lang="en-US" sz="1800" dirty="0"/>
          </a:p>
        </p:txBody>
      </p:sp>
      <p:sp>
        <p:nvSpPr>
          <p:cNvPr id="9" name="Shape 7"/>
          <p:cNvSpPr/>
          <p:nvPr/>
        </p:nvSpPr>
        <p:spPr>
          <a:xfrm>
            <a:off x="6172200" y="2377440"/>
            <a:ext cx="5303520" cy="3566160"/>
          </a:xfrm>
          <a:prstGeom prst="rect">
            <a:avLst/>
          </a:prstGeom>
          <a:solidFill>
            <a:srgbClr val="E1E1E1"/>
          </a:solidFill>
          <a:ln/>
        </p:spPr>
      </p:sp>
      <p:sp>
        <p:nvSpPr>
          <p:cNvPr id="10" name="Text 8"/>
          <p:cNvSpPr txBox="1"/>
          <p:nvPr/>
        </p:nvSpPr>
        <p:spPr>
          <a:xfrm>
            <a:off x="6446520" y="2606040"/>
            <a:ext cx="4754880" cy="502920"/>
          </a:xfrm>
          <a:prstGeom prst="rect">
            <a:avLst/>
          </a:prstGeom>
          <a:noFill/>
          <a:ln/>
        </p:spPr>
        <p:txBody>
          <a:bodyPr wrap="square" lIns="0" tIns="0" rIns="0" bIns="0" rtlCol="0" anchor="ctr"/>
          <a:lstStyle/>
          <a:p>
            <a:pPr indent="0" marL="0">
              <a:buNone/>
            </a:pPr>
            <a:r>
              <a:rPr lang="en-US" sz="2200" b="1" dirty="0">
                <a:solidFill>
                  <a:srgbClr val="0E0E0E"/>
                </a:solidFill>
                <a:latin typeface="Calibri" pitchFamily="34" charset="0"/>
                <a:ea typeface="Calibri" pitchFamily="34" charset="-122"/>
                <a:cs typeface="Calibri" pitchFamily="34" charset="-120"/>
              </a:rPr>
              <a:t>Validation</a:t>
            </a:r>
            <a:endParaRPr lang="en-US" sz="2200" dirty="0"/>
          </a:p>
        </p:txBody>
      </p:sp>
      <p:sp>
        <p:nvSpPr>
          <p:cNvPr id="11" name="Text 9"/>
          <p:cNvSpPr txBox="1"/>
          <p:nvPr/>
        </p:nvSpPr>
        <p:spPr>
          <a:xfrm>
            <a:off x="6446520" y="3200400"/>
            <a:ext cx="4754880" cy="822960"/>
          </a:xfrm>
          <a:prstGeom prst="rect">
            <a:avLst/>
          </a:prstGeom>
          <a:noFill/>
          <a:ln/>
        </p:spPr>
        <p:txBody>
          <a:bodyPr wrap="square" lIns="0" tIns="0" rIns="0" bIns="0" rtlCol="0" anchor="ctr"/>
          <a:lstStyle/>
          <a:p>
            <a:pPr indent="0" marL="0">
              <a:lnSpc>
                <a:spcPct val="125000"/>
              </a:lnSpc>
              <a:buNone/>
            </a:pPr>
            <a:r>
              <a:rPr lang="en-US" sz="1600" b="1" dirty="0">
                <a:solidFill>
                  <a:srgbClr val="B60000"/>
                </a:solidFill>
                <a:latin typeface="Calibri" pitchFamily="34" charset="0"/>
                <a:ea typeface="Calibri" pitchFamily="34" charset="-122"/>
                <a:cs typeface="Calibri" pitchFamily="34" charset="-120"/>
              </a:rPr>
              <a:t>Does the model's behavior correspond to something real?</a:t>
            </a:r>
            <a:endParaRPr lang="en-US" sz="1600" dirty="0"/>
          </a:p>
        </p:txBody>
      </p:sp>
      <p:sp>
        <p:nvSpPr>
          <p:cNvPr id="12" name="Text 10"/>
          <p:cNvSpPr txBox="1"/>
          <p:nvPr/>
        </p:nvSpPr>
        <p:spPr>
          <a:xfrm>
            <a:off x="6446520" y="4069080"/>
            <a:ext cx="4754880" cy="1737360"/>
          </a:xfrm>
          <a:prstGeom prst="rect">
            <a:avLst/>
          </a:prstGeom>
          <a:noFill/>
          <a:ln/>
        </p:spPr>
        <p:txBody>
          <a:bodyPr wrap="square" lIns="0" tIns="0" rIns="0" bIns="0" rtlCol="0" anchor="ctr"/>
          <a:lstStyle/>
          <a:p>
            <a:pPr indent="0" marL="0">
              <a:lnSpc>
                <a:spcPct val="125000"/>
              </a:lnSpc>
              <a:buNone/>
            </a:pPr>
            <a:r>
              <a:rPr lang="en-US" sz="1800" dirty="0">
                <a:solidFill>
                  <a:srgbClr val="333333"/>
                </a:solidFill>
                <a:latin typeface="Calibri" pitchFamily="34" charset="0"/>
                <a:ea typeface="Calibri" pitchFamily="34" charset="-122"/>
                <a:cs typeface="Calibri" pitchFamily="34" charset="-120"/>
              </a:rPr>
              <a:t>Comparison to empirical data, expert judgment, or established theoretical benchmarks.</a:t>
            </a:r>
            <a:endParaRPr lang="en-US" sz="1800" dirty="0"/>
          </a:p>
        </p:txBody>
      </p:sp>
      <p:sp>
        <p:nvSpPr>
          <p:cNvPr id="13" name="Text 11"/>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34</a:t>
            </a:r>
            <a:endParaRPr lang="en-US" sz="1000" dirty="0"/>
          </a:p>
        </p:txBody>
      </p:sp>
      <p:pic>
        <p:nvPicPr>
          <p:cNvPr id="14"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STANDARDS &amp; LIMITS · 2 OF 5</a:t>
            </a:r>
            <a:endParaRPr lang="en-US" sz="1300" dirty="0"/>
          </a:p>
        </p:txBody>
      </p:sp>
      <p:sp>
        <p:nvSpPr>
          <p:cNvPr id="4" name="Text 2"/>
          <p:cNvSpPr txBox="1"/>
          <p:nvPr/>
        </p:nvSpPr>
        <p:spPr>
          <a:xfrm>
            <a:off x="640080" y="914400"/>
            <a:ext cx="10881360" cy="1188720"/>
          </a:xfrm>
          <a:prstGeom prst="rect">
            <a:avLst/>
          </a:prstGeom>
          <a:noFill/>
          <a:ln/>
        </p:spPr>
        <p:txBody>
          <a:bodyPr wrap="square" lIns="0" tIns="0" rIns="0" bIns="0" rtlCol="0" anchor="t"/>
          <a:lstStyle/>
          <a:p>
            <a:pPr indent="0" marL="0">
              <a:buNone/>
            </a:pPr>
            <a:r>
              <a:rPr lang="en-US" sz="2800" b="1" dirty="0">
                <a:solidFill>
                  <a:srgbClr val="0E0E0E"/>
                </a:solidFill>
                <a:latin typeface="Calibri" pitchFamily="34" charset="0"/>
                <a:ea typeface="Calibri" pitchFamily="34" charset="-122"/>
                <a:cs typeface="Calibri" pitchFamily="34" charset="-120"/>
              </a:rPr>
              <a:t>Validation means something different for each</a:t>
            </a:r>
            <a:endParaRPr lang="en-US" sz="2800" dirty="0"/>
          </a:p>
        </p:txBody>
      </p:sp>
      <p:sp>
        <p:nvSpPr>
          <p:cNvPr id="5" name="Shape 3"/>
          <p:cNvSpPr/>
          <p:nvPr/>
        </p:nvSpPr>
        <p:spPr>
          <a:xfrm>
            <a:off x="640080" y="2377440"/>
            <a:ext cx="10881360" cy="1371600"/>
          </a:xfrm>
          <a:prstGeom prst="rect">
            <a:avLst/>
          </a:prstGeom>
          <a:solidFill>
            <a:srgbClr val="E1E1E1"/>
          </a:solidFill>
          <a:ln/>
        </p:spPr>
      </p:sp>
      <p:sp>
        <p:nvSpPr>
          <p:cNvPr id="6" name="Text 4"/>
          <p:cNvSpPr txBox="1"/>
          <p:nvPr/>
        </p:nvSpPr>
        <p:spPr>
          <a:xfrm>
            <a:off x="914400" y="2560320"/>
            <a:ext cx="3931920" cy="1005840"/>
          </a:xfrm>
          <a:prstGeom prst="rect">
            <a:avLst/>
          </a:prstGeom>
          <a:noFill/>
          <a:ln/>
        </p:spPr>
        <p:txBody>
          <a:bodyPr wrap="square" lIns="0" tIns="0" rIns="0" bIns="0" rtlCol="0" anchor="ctr"/>
          <a:lstStyle/>
          <a:p>
            <a:pPr indent="0" marL="0">
              <a:lnSpc>
                <a:spcPct val="120000"/>
              </a:lnSpc>
              <a:buNone/>
            </a:pPr>
            <a:r>
              <a:rPr lang="en-US" sz="1700" b="1" dirty="0">
                <a:solidFill>
                  <a:srgbClr val="0E0E0E"/>
                </a:solidFill>
                <a:latin typeface="Calibri" pitchFamily="34" charset="0"/>
                <a:ea typeface="Calibri" pitchFamily="34" charset="-122"/>
                <a:cs typeface="Calibri" pitchFamily="34" charset="-120"/>
              </a:rPr>
              <a:t>Abstract theoretical model</a:t>
            </a:r>
            <a:endParaRPr lang="en-US" sz="1700" dirty="0"/>
          </a:p>
        </p:txBody>
      </p:sp>
      <p:sp>
        <p:nvSpPr>
          <p:cNvPr id="7" name="Text 5"/>
          <p:cNvSpPr txBox="1"/>
          <p:nvPr/>
        </p:nvSpPr>
        <p:spPr>
          <a:xfrm>
            <a:off x="5029200" y="2560320"/>
            <a:ext cx="6309360" cy="1005840"/>
          </a:xfrm>
          <a:prstGeom prst="rect">
            <a:avLst/>
          </a:prstGeom>
          <a:noFill/>
          <a:ln/>
        </p:spPr>
        <p:txBody>
          <a:bodyPr wrap="square" lIns="0" tIns="0" rIns="0" bIns="0" rtlCol="0" anchor="ctr"/>
          <a:lstStyle/>
          <a:p>
            <a:pPr indent="0" marL="0">
              <a:lnSpc>
                <a:spcPct val="120000"/>
              </a:lnSpc>
              <a:buNone/>
            </a:pPr>
            <a:r>
              <a:rPr lang="en-US" sz="1800" dirty="0">
                <a:solidFill>
                  <a:srgbClr val="333333"/>
                </a:solidFill>
                <a:latin typeface="Calibri" pitchFamily="34" charset="0"/>
                <a:ea typeface="Calibri" pitchFamily="34" charset="-122"/>
                <a:cs typeface="Calibri" pitchFamily="34" charset="-120"/>
              </a:rPr>
              <a:t>internal consistency, comparison to established qualitative patterns, plausibility of assumptions</a:t>
            </a:r>
            <a:endParaRPr lang="en-US" sz="1800" dirty="0"/>
          </a:p>
        </p:txBody>
      </p:sp>
      <p:sp>
        <p:nvSpPr>
          <p:cNvPr id="8" name="Shape 6"/>
          <p:cNvSpPr/>
          <p:nvPr/>
        </p:nvSpPr>
        <p:spPr>
          <a:xfrm>
            <a:off x="640080" y="4023360"/>
            <a:ext cx="10881360" cy="1371600"/>
          </a:xfrm>
          <a:prstGeom prst="rect">
            <a:avLst/>
          </a:prstGeom>
          <a:solidFill>
            <a:srgbClr val="E1E1E1"/>
          </a:solidFill>
          <a:ln/>
        </p:spPr>
      </p:sp>
      <p:sp>
        <p:nvSpPr>
          <p:cNvPr id="9" name="Text 7"/>
          <p:cNvSpPr txBox="1"/>
          <p:nvPr/>
        </p:nvSpPr>
        <p:spPr>
          <a:xfrm>
            <a:off x="914400" y="4206240"/>
            <a:ext cx="3931920" cy="1005840"/>
          </a:xfrm>
          <a:prstGeom prst="rect">
            <a:avLst/>
          </a:prstGeom>
          <a:noFill/>
          <a:ln/>
        </p:spPr>
        <p:txBody>
          <a:bodyPr wrap="square" lIns="0" tIns="0" rIns="0" bIns="0" rtlCol="0" anchor="ctr"/>
          <a:lstStyle/>
          <a:p>
            <a:pPr indent="0" marL="0">
              <a:lnSpc>
                <a:spcPct val="120000"/>
              </a:lnSpc>
              <a:buNone/>
            </a:pPr>
            <a:r>
              <a:rPr lang="en-US" sz="1700" b="1" dirty="0">
                <a:solidFill>
                  <a:srgbClr val="0E0E0E"/>
                </a:solidFill>
                <a:latin typeface="Calibri" pitchFamily="34" charset="0"/>
                <a:ea typeface="Calibri" pitchFamily="34" charset="-122"/>
                <a:cs typeface="Calibri" pitchFamily="34" charset="-120"/>
              </a:rPr>
              <a:t>Empirically calibrated model</a:t>
            </a:r>
            <a:endParaRPr lang="en-US" sz="1700" dirty="0"/>
          </a:p>
        </p:txBody>
      </p:sp>
      <p:sp>
        <p:nvSpPr>
          <p:cNvPr id="10" name="Text 8"/>
          <p:cNvSpPr txBox="1"/>
          <p:nvPr/>
        </p:nvSpPr>
        <p:spPr>
          <a:xfrm>
            <a:off x="5029200" y="4206240"/>
            <a:ext cx="6309360" cy="1005840"/>
          </a:xfrm>
          <a:prstGeom prst="rect">
            <a:avLst/>
          </a:prstGeom>
          <a:noFill/>
          <a:ln/>
        </p:spPr>
        <p:txBody>
          <a:bodyPr wrap="square" lIns="0" tIns="0" rIns="0" bIns="0" rtlCol="0" anchor="ctr"/>
          <a:lstStyle/>
          <a:p>
            <a:pPr indent="0" marL="0">
              <a:lnSpc>
                <a:spcPct val="120000"/>
              </a:lnSpc>
              <a:buNone/>
            </a:pPr>
            <a:r>
              <a:rPr lang="en-US" sz="1800" dirty="0">
                <a:solidFill>
                  <a:srgbClr val="333333"/>
                </a:solidFill>
                <a:latin typeface="Calibri" pitchFamily="34" charset="0"/>
                <a:ea typeface="Calibri" pitchFamily="34" charset="-122"/>
                <a:cs typeface="Calibri" pitchFamily="34" charset="-120"/>
              </a:rPr>
              <a:t>quantitative fit to real data, out-of-sample prediction, parameter recovery</a:t>
            </a:r>
            <a:endParaRPr lang="en-US" sz="1800" dirty="0"/>
          </a:p>
        </p:txBody>
      </p:sp>
      <p:sp>
        <p:nvSpPr>
          <p:cNvPr id="11" name="Text 9"/>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35</a:t>
            </a:r>
            <a:endParaRPr lang="en-US" sz="1000" dirty="0"/>
          </a:p>
        </p:txBody>
      </p:sp>
      <p:pic>
        <p:nvPicPr>
          <p:cNvPr id="12"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STANDARDS &amp; LIMITS · 3 OF 5</a:t>
            </a:r>
            <a:endParaRPr lang="en-US" sz="1300" dirty="0"/>
          </a:p>
        </p:txBody>
      </p:sp>
      <p:sp>
        <p:nvSpPr>
          <p:cNvPr id="4" name="Text 2"/>
          <p:cNvSpPr txBox="1"/>
          <p:nvPr/>
        </p:nvSpPr>
        <p:spPr>
          <a:xfrm>
            <a:off x="640080" y="914400"/>
            <a:ext cx="10881360" cy="1188720"/>
          </a:xfrm>
          <a:prstGeom prst="rect">
            <a:avLst/>
          </a:prstGeom>
          <a:noFill/>
          <a:ln/>
        </p:spPr>
        <p:txBody>
          <a:bodyPr wrap="square" lIns="0" tIns="0" rIns="0" bIns="0" rtlCol="0" anchor="t"/>
          <a:lstStyle/>
          <a:p>
            <a:pPr indent="0" marL="0">
              <a:buNone/>
            </a:pPr>
            <a:r>
              <a:rPr lang="en-US" sz="2600" b="1" dirty="0">
                <a:solidFill>
                  <a:srgbClr val="0E0E0E"/>
                </a:solidFill>
                <a:latin typeface="Calibri" pitchFamily="34" charset="0"/>
                <a:ea typeface="Calibri" pitchFamily="34" charset="-122"/>
                <a:cs typeface="Calibri" pitchFamily="34" charset="-120"/>
              </a:rPr>
              <a:t>Sensitivity analysis is due diligence, not decoration</a:t>
            </a:r>
            <a:endParaRPr lang="en-US" sz="2600" dirty="0"/>
          </a:p>
        </p:txBody>
      </p:sp>
      <p:sp>
        <p:nvSpPr>
          <p:cNvPr id="5" name="Text 3"/>
          <p:cNvSpPr txBox="1"/>
          <p:nvPr/>
        </p:nvSpPr>
        <p:spPr>
          <a:xfrm>
            <a:off x="640080" y="2286000"/>
            <a:ext cx="10424160" cy="914400"/>
          </a:xfrm>
          <a:prstGeom prst="rect">
            <a:avLst/>
          </a:prstGeom>
          <a:noFill/>
          <a:ln/>
        </p:spPr>
        <p:txBody>
          <a:bodyPr wrap="square" lIns="0" tIns="0" rIns="0" bIns="0" rtlCol="0" anchor="ctr"/>
          <a:lstStyle/>
          <a:p>
            <a:pPr indent="0" marL="0">
              <a:lnSpc>
                <a:spcPct val="135000"/>
              </a:lnSpc>
              <a:buNone/>
            </a:pPr>
            <a:r>
              <a:rPr lang="en-US" sz="1900" dirty="0">
                <a:solidFill>
                  <a:srgbClr val="333333"/>
                </a:solidFill>
                <a:latin typeface="Calibri" pitchFamily="34" charset="0"/>
                <a:ea typeface="Calibri" pitchFamily="34" charset="-122"/>
                <a:cs typeface="Calibri" pitchFamily="34" charset="-120"/>
              </a:rPr>
              <a:t>Before trusting a result, vary every parameter you did not sweep, one at a time, and confirm the qualitative conclusion survives.</a:t>
            </a:r>
            <a:endParaRPr lang="en-US" sz="1900" dirty="0"/>
          </a:p>
        </p:txBody>
      </p:sp>
      <p:sp>
        <p:nvSpPr>
          <p:cNvPr id="6" name="Shape 4"/>
          <p:cNvSpPr/>
          <p:nvPr/>
        </p:nvSpPr>
        <p:spPr>
          <a:xfrm>
            <a:off x="822960" y="3502152"/>
            <a:ext cx="256032" cy="256032"/>
          </a:xfrm>
          <a:prstGeom prst="rect">
            <a:avLst/>
          </a:prstGeom>
          <a:ln w="19050">
            <a:solidFill>
              <a:srgbClr val="B60000"/>
            </a:solidFill>
            <a:prstDash val="solid"/>
          </a:ln>
        </p:spPr>
      </p:sp>
      <p:sp>
        <p:nvSpPr>
          <p:cNvPr id="7" name="Text 5"/>
          <p:cNvSpPr txBox="1"/>
          <p:nvPr/>
        </p:nvSpPr>
        <p:spPr>
          <a:xfrm>
            <a:off x="1280160" y="3429000"/>
            <a:ext cx="9875520" cy="502920"/>
          </a:xfrm>
          <a:prstGeom prst="rect">
            <a:avLst/>
          </a:prstGeom>
          <a:noFill/>
          <a:ln/>
        </p:spPr>
        <p:txBody>
          <a:bodyPr wrap="square" lIns="0" tIns="0" rIns="0" bIns="0" rtlCol="0" anchor="ctr"/>
          <a:lstStyle/>
          <a:p>
            <a:pPr indent="0" marL="0">
              <a:buNone/>
            </a:pPr>
            <a:r>
              <a:rPr lang="en-US" sz="1800" dirty="0">
                <a:solidFill>
                  <a:srgbClr val="0E0E0E"/>
                </a:solidFill>
                <a:latin typeface="Calibri" pitchFamily="34" charset="0"/>
                <a:ea typeface="Calibri" pitchFamily="34" charset="-122"/>
                <a:cs typeface="Calibri" pitchFamily="34" charset="-120"/>
              </a:rPr>
              <a:t>Does the result hold at num-agents = 50 and 500, not only 200?</a:t>
            </a:r>
            <a:endParaRPr lang="en-US" sz="1800" dirty="0"/>
          </a:p>
        </p:txBody>
      </p:sp>
      <p:sp>
        <p:nvSpPr>
          <p:cNvPr id="8" name="Shape 6"/>
          <p:cNvSpPr/>
          <p:nvPr/>
        </p:nvSpPr>
        <p:spPr>
          <a:xfrm>
            <a:off x="822960" y="4160520"/>
            <a:ext cx="256032" cy="256032"/>
          </a:xfrm>
          <a:prstGeom prst="rect">
            <a:avLst/>
          </a:prstGeom>
          <a:ln w="19050">
            <a:solidFill>
              <a:srgbClr val="B60000"/>
            </a:solidFill>
            <a:prstDash val="solid"/>
          </a:ln>
        </p:spPr>
      </p:sp>
      <p:sp>
        <p:nvSpPr>
          <p:cNvPr id="9" name="Text 7"/>
          <p:cNvSpPr txBox="1"/>
          <p:nvPr/>
        </p:nvSpPr>
        <p:spPr>
          <a:xfrm>
            <a:off x="1280160" y="4087368"/>
            <a:ext cx="9875520" cy="502920"/>
          </a:xfrm>
          <a:prstGeom prst="rect">
            <a:avLst/>
          </a:prstGeom>
          <a:noFill/>
          <a:ln/>
        </p:spPr>
        <p:txBody>
          <a:bodyPr wrap="square" lIns="0" tIns="0" rIns="0" bIns="0" rtlCol="0" anchor="ctr"/>
          <a:lstStyle/>
          <a:p>
            <a:pPr indent="0" marL="0">
              <a:buNone/>
            </a:pPr>
            <a:r>
              <a:rPr lang="en-US" sz="1800" dirty="0">
                <a:solidFill>
                  <a:srgbClr val="0E0E0E"/>
                </a:solidFill>
                <a:latin typeface="Calibri" pitchFamily="34" charset="0"/>
                <a:ea typeface="Calibri" pitchFamily="34" charset="-122"/>
                <a:cs typeface="Calibri" pitchFamily="34" charset="-120"/>
              </a:rPr>
              <a:t>Does it hold at mu = 0.1 and mu = 0.4, not only 0.25?</a:t>
            </a:r>
            <a:endParaRPr lang="en-US" sz="1800" dirty="0"/>
          </a:p>
        </p:txBody>
      </p:sp>
      <p:sp>
        <p:nvSpPr>
          <p:cNvPr id="10" name="Shape 8"/>
          <p:cNvSpPr/>
          <p:nvPr/>
        </p:nvSpPr>
        <p:spPr>
          <a:xfrm>
            <a:off x="822960" y="4818888"/>
            <a:ext cx="256032" cy="256032"/>
          </a:xfrm>
          <a:prstGeom prst="rect">
            <a:avLst/>
          </a:prstGeom>
          <a:ln w="19050">
            <a:solidFill>
              <a:srgbClr val="B60000"/>
            </a:solidFill>
            <a:prstDash val="solid"/>
          </a:ln>
        </p:spPr>
      </p:sp>
      <p:sp>
        <p:nvSpPr>
          <p:cNvPr id="11" name="Text 9"/>
          <p:cNvSpPr txBox="1"/>
          <p:nvPr/>
        </p:nvSpPr>
        <p:spPr>
          <a:xfrm>
            <a:off x="1280160" y="4745736"/>
            <a:ext cx="9875520" cy="502920"/>
          </a:xfrm>
          <a:prstGeom prst="rect">
            <a:avLst/>
          </a:prstGeom>
          <a:noFill/>
          <a:ln/>
        </p:spPr>
        <p:txBody>
          <a:bodyPr wrap="square" lIns="0" tIns="0" rIns="0" bIns="0" rtlCol="0" anchor="ctr"/>
          <a:lstStyle/>
          <a:p>
            <a:pPr indent="0" marL="0">
              <a:buNone/>
            </a:pPr>
            <a:r>
              <a:rPr lang="en-US" sz="1800" dirty="0">
                <a:solidFill>
                  <a:srgbClr val="0E0E0E"/>
                </a:solidFill>
                <a:latin typeface="Calibri" pitchFamily="34" charset="0"/>
                <a:ea typeface="Calibri" pitchFamily="34" charset="-122"/>
                <a:cs typeface="Calibri" pitchFamily="34" charset="-120"/>
              </a:rPr>
              <a:t>Does it hold across different random seeds at the same parameter values?</a:t>
            </a:r>
            <a:endParaRPr lang="en-US" sz="1800" dirty="0"/>
          </a:p>
        </p:txBody>
      </p:sp>
      <p:sp>
        <p:nvSpPr>
          <p:cNvPr id="12" name="Text 10"/>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36</a:t>
            </a:r>
            <a:endParaRPr lang="en-US" sz="1000" dirty="0"/>
          </a:p>
        </p:txBody>
      </p:sp>
      <p:pic>
        <p:nvPicPr>
          <p:cNvPr id="13"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STANDARDS &amp; LIMITS · 4 OF 5 · REPORTING STANDARD</a:t>
            </a:r>
            <a:endParaRPr lang="en-US" sz="1300" dirty="0"/>
          </a:p>
        </p:txBody>
      </p:sp>
      <p:sp>
        <p:nvSpPr>
          <p:cNvPr id="4" name="Text 2"/>
          <p:cNvSpPr txBox="1"/>
          <p:nvPr/>
        </p:nvSpPr>
        <p:spPr>
          <a:xfrm>
            <a:off x="640080" y="914400"/>
            <a:ext cx="95097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Grimm et al. (2020)</a:t>
            </a:r>
            <a:endParaRPr lang="en-US" sz="3400" dirty="0"/>
          </a:p>
        </p:txBody>
      </p:sp>
      <p:pic>
        <p:nvPicPr>
          <p:cNvPr id="5" name="Image 0" descr="assets/glyph_network.png">    </p:cNvPr>
          <p:cNvPicPr>
            <a:picLocks noChangeAspect="1"/>
          </p:cNvPicPr>
          <p:nvPr/>
        </p:nvPicPr>
        <p:blipFill>
          <a:blip r:embed="rId1"/>
          <a:stretch>
            <a:fillRect/>
          </a:stretch>
        </p:blipFill>
        <p:spPr>
          <a:xfrm>
            <a:off x="10698480" y="411480"/>
            <a:ext cx="822960" cy="822960"/>
          </a:xfrm>
          <a:prstGeom prst="rect">
            <a:avLst/>
          </a:prstGeom>
        </p:spPr>
      </p:pic>
      <p:sp>
        <p:nvSpPr>
          <p:cNvPr id="6" name="Text 3"/>
          <p:cNvSpPr txBox="1"/>
          <p:nvPr/>
        </p:nvSpPr>
        <p:spPr>
          <a:xfrm>
            <a:off x="640080" y="1645920"/>
            <a:ext cx="10058400" cy="868680"/>
          </a:xfrm>
          <a:prstGeom prst="rect">
            <a:avLst/>
          </a:prstGeom>
          <a:noFill/>
          <a:ln/>
        </p:spPr>
        <p:txBody>
          <a:bodyPr wrap="square" lIns="0" tIns="0" rIns="0" bIns="0" rtlCol="0" anchor="t"/>
          <a:lstStyle/>
          <a:p>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Grimm, V., Railsback, S. F., Vincenot, C. E., Berger, U., Gallagher, C., DeAngelis, D. L., ... Ayllon, D. (2020). The ODD protocol for describing agent-based and other simulation models: A second update to improve clarity, replication, and structural realism. </a:t>
            </a:r>
            <a:pPr indent="0" marL="0">
              <a:lnSpc>
                <a:spcPct val="115000"/>
              </a:lnSpc>
              <a:buNone/>
            </a:pPr>
            <a:r>
              <a:rPr lang="en-US" sz="1450" i="1" dirty="0">
                <a:solidFill>
                  <a:srgbClr val="333333"/>
                </a:solidFill>
                <a:latin typeface="Times New Roman" pitchFamily="34" charset="0"/>
                <a:ea typeface="Times New Roman" pitchFamily="34" charset="-122"/>
                <a:cs typeface="Times New Roman" pitchFamily="34" charset="-120"/>
              </a:rPr>
              <a:t>Journal of Artificial Societies and Social Simulation, 23</a:t>
            </a:r>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(2), 7.</a:t>
            </a:r>
            <a:endParaRPr lang="en-US" sz="1450" dirty="0"/>
          </a:p>
        </p:txBody>
      </p:sp>
      <p:sp>
        <p:nvSpPr>
          <p:cNvPr id="7" name="Shape 4"/>
          <p:cNvSpPr/>
          <p:nvPr/>
        </p:nvSpPr>
        <p:spPr>
          <a:xfrm>
            <a:off x="640080" y="2788920"/>
            <a:ext cx="10881360" cy="3154680"/>
          </a:xfrm>
          <a:prstGeom prst="rect">
            <a:avLst/>
          </a:prstGeom>
          <a:solidFill>
            <a:srgbClr val="E1E1E1"/>
          </a:solidFill>
          <a:ln/>
        </p:spPr>
      </p:sp>
      <p:sp>
        <p:nvSpPr>
          <p:cNvPr id="8" name="Shape 5"/>
          <p:cNvSpPr/>
          <p:nvPr/>
        </p:nvSpPr>
        <p:spPr>
          <a:xfrm>
            <a:off x="640080" y="2788920"/>
            <a:ext cx="82296" cy="3154680"/>
          </a:xfrm>
          <a:prstGeom prst="rect">
            <a:avLst/>
          </a:prstGeom>
          <a:solidFill>
            <a:srgbClr val="B60000"/>
          </a:solidFill>
          <a:ln/>
        </p:spPr>
      </p:sp>
      <p:sp>
        <p:nvSpPr>
          <p:cNvPr id="9" name="Text 6"/>
          <p:cNvSpPr txBox="1"/>
          <p:nvPr/>
        </p:nvSpPr>
        <p:spPr>
          <a:xfrm>
            <a:off x="1005840" y="3063240"/>
            <a:ext cx="9144000" cy="320040"/>
          </a:xfrm>
          <a:prstGeom prst="rect">
            <a:avLst/>
          </a:prstGeom>
          <a:noFill/>
          <a:ln/>
        </p:spPr>
        <p:txBody>
          <a:bodyPr wrap="square" lIns="0" tIns="0" rIns="0" bIns="0" rtlCol="0" anchor="ctr"/>
          <a:lstStyle/>
          <a:p>
            <a:pPr indent="0" marL="0">
              <a:buNone/>
            </a:pPr>
            <a:r>
              <a:rPr lang="en-US" sz="1200" b="1" spc="200" kern="0" dirty="0">
                <a:solidFill>
                  <a:srgbClr val="B60000"/>
                </a:solidFill>
                <a:latin typeface="Calibri" pitchFamily="34" charset="0"/>
                <a:ea typeface="Calibri" pitchFamily="34" charset="-122"/>
                <a:cs typeface="Calibri" pitchFamily="34" charset="-120"/>
              </a:rPr>
              <a:t>WHAT THIS STUDY SHOWED</a:t>
            </a:r>
            <a:endParaRPr lang="en-US" sz="1200" dirty="0"/>
          </a:p>
        </p:txBody>
      </p:sp>
      <p:sp>
        <p:nvSpPr>
          <p:cNvPr id="10" name="Text 7"/>
          <p:cNvSpPr txBox="1"/>
          <p:nvPr/>
        </p:nvSpPr>
        <p:spPr>
          <a:xfrm>
            <a:off x="1005840" y="3474720"/>
            <a:ext cx="10149840" cy="2286000"/>
          </a:xfrm>
          <a:prstGeom prst="rect">
            <a:avLst/>
          </a:prstGeom>
          <a:noFill/>
          <a:ln/>
        </p:spPr>
        <p:txBody>
          <a:bodyPr wrap="square" lIns="0" tIns="0" rIns="0" bIns="0" rtlCol="0" anchor="t"/>
          <a:lstStyle/>
          <a:p>
            <a:pPr indent="0" marL="0">
              <a:lnSpc>
                <a:spcPct val="130000"/>
              </a:lnSpc>
              <a:buNone/>
            </a:pPr>
            <a:r>
              <a:rPr lang="en-US" sz="2100" dirty="0">
                <a:solidFill>
                  <a:srgbClr val="0E0E0E"/>
                </a:solidFill>
                <a:latin typeface="Calibri" pitchFamily="34" charset="0"/>
                <a:ea typeface="Calibri" pitchFamily="34" charset="-122"/>
                <a:cs typeface="Calibri" pitchFamily="34" charset="-120"/>
              </a:rPr>
              <a:t>Established a standardized reporting structure, Overview, Design concepts, Details, that lets an independent team read a model description and actually rebuild it, addressing a replication gap that unstructured methods sections routinely left open.</a:t>
            </a:r>
            <a:endParaRPr lang="en-US" sz="2100" dirty="0"/>
          </a:p>
        </p:txBody>
      </p:sp>
      <p:sp>
        <p:nvSpPr>
          <p:cNvPr id="11"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37</a:t>
            </a:r>
            <a:endParaRPr lang="en-US" sz="1000" dirty="0"/>
          </a:p>
        </p:txBody>
      </p:sp>
      <p:pic>
        <p:nvPicPr>
          <p:cNvPr id="12"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STANDARDS &amp; LIMITS · 5 OF 5 · THE HONEST CRITIQUE</a:t>
            </a:r>
            <a:endParaRPr lang="en-US" sz="1300" dirty="0"/>
          </a:p>
        </p:txBody>
      </p:sp>
      <p:sp>
        <p:nvSpPr>
          <p:cNvPr id="4" name="Text 2"/>
          <p:cNvSpPr txBox="1"/>
          <p:nvPr/>
        </p:nvSpPr>
        <p:spPr>
          <a:xfrm>
            <a:off x="640080" y="914400"/>
            <a:ext cx="9509760" cy="1005840"/>
          </a:xfrm>
          <a:prstGeom prst="rect">
            <a:avLst/>
          </a:prstGeom>
          <a:noFill/>
          <a:ln/>
        </p:spPr>
        <p:txBody>
          <a:bodyPr wrap="square" lIns="0" tIns="0" rIns="0" bIns="0" rtlCol="0" anchor="t"/>
          <a:lstStyle/>
          <a:p>
            <a:pPr indent="0" marL="0">
              <a:buNone/>
            </a:pPr>
            <a:r>
              <a:rPr lang="en-US" sz="3400" b="1" dirty="0">
                <a:solidFill>
                  <a:srgbClr val="0E0E0E"/>
                </a:solidFill>
                <a:latin typeface="Calibri" pitchFamily="34" charset="0"/>
                <a:ea typeface="Calibri" pitchFamily="34" charset="-122"/>
                <a:cs typeface="Calibri" pitchFamily="34" charset="-120"/>
              </a:rPr>
              <a:t>Smith &amp; Conrey (2007)</a:t>
            </a:r>
            <a:endParaRPr lang="en-US" sz="3400" dirty="0"/>
          </a:p>
        </p:txBody>
      </p:sp>
      <p:pic>
        <p:nvPicPr>
          <p:cNvPr id="5" name="Image 0" descr="assets/glyph_network.png">    </p:cNvPr>
          <p:cNvPicPr>
            <a:picLocks noChangeAspect="1"/>
          </p:cNvPicPr>
          <p:nvPr/>
        </p:nvPicPr>
        <p:blipFill>
          <a:blip r:embed="rId1"/>
          <a:stretch>
            <a:fillRect/>
          </a:stretch>
        </p:blipFill>
        <p:spPr>
          <a:xfrm>
            <a:off x="10698480" y="411480"/>
            <a:ext cx="822960" cy="822960"/>
          </a:xfrm>
          <a:prstGeom prst="rect">
            <a:avLst/>
          </a:prstGeom>
        </p:spPr>
      </p:pic>
      <p:sp>
        <p:nvSpPr>
          <p:cNvPr id="6" name="Text 3"/>
          <p:cNvSpPr txBox="1"/>
          <p:nvPr/>
        </p:nvSpPr>
        <p:spPr>
          <a:xfrm>
            <a:off x="640080" y="1645920"/>
            <a:ext cx="10058400" cy="868680"/>
          </a:xfrm>
          <a:prstGeom prst="rect">
            <a:avLst/>
          </a:prstGeom>
          <a:noFill/>
          <a:ln/>
        </p:spPr>
        <p:txBody>
          <a:bodyPr wrap="square" lIns="0" tIns="0" rIns="0" bIns="0" rtlCol="0" anchor="t"/>
          <a:lstStyle/>
          <a:p>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Smith, E. R., &amp; Conrey, F. R. (2007). Agent-based modeling: A new approach for theory building in social psychology. </a:t>
            </a:r>
            <a:pPr indent="0" marL="0">
              <a:lnSpc>
                <a:spcPct val="115000"/>
              </a:lnSpc>
              <a:buNone/>
            </a:pPr>
            <a:r>
              <a:rPr lang="en-US" sz="1450" i="1" dirty="0">
                <a:solidFill>
                  <a:srgbClr val="333333"/>
                </a:solidFill>
                <a:latin typeface="Times New Roman" pitchFamily="34" charset="0"/>
                <a:ea typeface="Times New Roman" pitchFamily="34" charset="-122"/>
                <a:cs typeface="Times New Roman" pitchFamily="34" charset="-120"/>
              </a:rPr>
              <a:t>Personality and Social Psychology Review, 11</a:t>
            </a:r>
            <a:pPr indent="0" marL="0">
              <a:lnSpc>
                <a:spcPct val="115000"/>
              </a:lnSpc>
              <a:buNone/>
            </a:pPr>
            <a:r>
              <a:rPr lang="en-US" sz="1450" dirty="0">
                <a:solidFill>
                  <a:srgbClr val="333333"/>
                </a:solidFill>
                <a:latin typeface="Times New Roman" pitchFamily="34" charset="0"/>
                <a:ea typeface="Times New Roman" pitchFamily="34" charset="-122"/>
                <a:cs typeface="Times New Roman" pitchFamily="34" charset="-120"/>
              </a:rPr>
              <a:t>(1), 87-104.</a:t>
            </a:r>
            <a:endParaRPr lang="en-US" sz="1450" dirty="0"/>
          </a:p>
        </p:txBody>
      </p:sp>
      <p:sp>
        <p:nvSpPr>
          <p:cNvPr id="7" name="Shape 4"/>
          <p:cNvSpPr/>
          <p:nvPr/>
        </p:nvSpPr>
        <p:spPr>
          <a:xfrm>
            <a:off x="640080" y="2788920"/>
            <a:ext cx="10881360" cy="3154680"/>
          </a:xfrm>
          <a:prstGeom prst="rect">
            <a:avLst/>
          </a:prstGeom>
          <a:solidFill>
            <a:srgbClr val="E1E1E1"/>
          </a:solidFill>
          <a:ln/>
        </p:spPr>
      </p:sp>
      <p:sp>
        <p:nvSpPr>
          <p:cNvPr id="8" name="Shape 5"/>
          <p:cNvSpPr/>
          <p:nvPr/>
        </p:nvSpPr>
        <p:spPr>
          <a:xfrm>
            <a:off x="640080" y="2788920"/>
            <a:ext cx="82296" cy="3154680"/>
          </a:xfrm>
          <a:prstGeom prst="rect">
            <a:avLst/>
          </a:prstGeom>
          <a:solidFill>
            <a:srgbClr val="B60000"/>
          </a:solidFill>
          <a:ln/>
        </p:spPr>
      </p:sp>
      <p:sp>
        <p:nvSpPr>
          <p:cNvPr id="9" name="Text 6"/>
          <p:cNvSpPr txBox="1"/>
          <p:nvPr/>
        </p:nvSpPr>
        <p:spPr>
          <a:xfrm>
            <a:off x="1005840" y="3063240"/>
            <a:ext cx="9144000" cy="320040"/>
          </a:xfrm>
          <a:prstGeom prst="rect">
            <a:avLst/>
          </a:prstGeom>
          <a:noFill/>
          <a:ln/>
        </p:spPr>
        <p:txBody>
          <a:bodyPr wrap="square" lIns="0" tIns="0" rIns="0" bIns="0" rtlCol="0" anchor="ctr"/>
          <a:lstStyle/>
          <a:p>
            <a:pPr indent="0" marL="0">
              <a:buNone/>
            </a:pPr>
            <a:r>
              <a:rPr lang="en-US" sz="1200" b="1" spc="200" kern="0" dirty="0">
                <a:solidFill>
                  <a:srgbClr val="B60000"/>
                </a:solidFill>
                <a:latin typeface="Calibri" pitchFamily="34" charset="0"/>
                <a:ea typeface="Calibri" pitchFamily="34" charset="-122"/>
                <a:cs typeface="Calibri" pitchFamily="34" charset="-120"/>
              </a:rPr>
              <a:t>WHAT THIS STUDY SHOWED</a:t>
            </a:r>
            <a:endParaRPr lang="en-US" sz="1200" dirty="0"/>
          </a:p>
        </p:txBody>
      </p:sp>
      <p:sp>
        <p:nvSpPr>
          <p:cNvPr id="10" name="Text 7"/>
          <p:cNvSpPr txBox="1"/>
          <p:nvPr/>
        </p:nvSpPr>
        <p:spPr>
          <a:xfrm>
            <a:off x="1005840" y="3474720"/>
            <a:ext cx="10149840" cy="2286000"/>
          </a:xfrm>
          <a:prstGeom prst="rect">
            <a:avLst/>
          </a:prstGeom>
          <a:noFill/>
          <a:ln/>
        </p:spPr>
        <p:txBody>
          <a:bodyPr wrap="square" lIns="0" tIns="0" rIns="0" bIns="0" rtlCol="0" anchor="t"/>
          <a:lstStyle/>
          <a:p>
            <a:pPr indent="0" marL="0">
              <a:lnSpc>
                <a:spcPct val="130000"/>
              </a:lnSpc>
              <a:buNone/>
            </a:pPr>
            <a:r>
              <a:rPr lang="en-US" sz="2100" dirty="0">
                <a:solidFill>
                  <a:srgbClr val="0E0E0E"/>
                </a:solidFill>
                <a:latin typeface="Calibri" pitchFamily="34" charset="0"/>
                <a:ea typeface="Calibri" pitchFamily="34" charset="-122"/>
                <a:cs typeface="Calibri" pitchFamily="34" charset="-120"/>
              </a:rPr>
              <a:t>Argued that ABM's core advantage over variable-based causal modeling is representing dynamic, interactive processes structurally, while acknowledging directly that the same representational flexibility is what invites the standard overfitting objection.</a:t>
            </a:r>
            <a:endParaRPr lang="en-US" sz="2100" dirty="0"/>
          </a:p>
        </p:txBody>
      </p:sp>
      <p:sp>
        <p:nvSpPr>
          <p:cNvPr id="11"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38</a:t>
            </a:r>
            <a:endParaRPr lang="en-US" sz="1000" dirty="0"/>
          </a:p>
        </p:txBody>
      </p:sp>
      <p:pic>
        <p:nvPicPr>
          <p:cNvPr id="12" name="Image 1" descr="assets/ncite_logo.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E0E0E"/>
        </a:solidFill>
      </p:bgPr>
    </p:bg>
    <p:spTree>
      <p:nvGrpSpPr>
        <p:cNvPr id="1" name=""/>
        <p:cNvGrpSpPr/>
        <p:nvPr/>
      </p:nvGrpSpPr>
      <p:grpSpPr>
        <a:xfrm>
          <a:off x="0" y="0"/>
          <a:ext cx="0" cy="0"/>
          <a:chOff x="0" y="0"/>
          <a:chExt cx="0" cy="0"/>
        </a:xfrm>
      </p:grpSpPr>
      <p:pic>
        <p:nvPicPr>
          <p:cNvPr id="2" name="Image 0" descr="assets/art_interlud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82296" cy="6858000"/>
          </a:xfrm>
          <a:prstGeom prst="rect">
            <a:avLst/>
          </a:prstGeom>
          <a:solidFill>
            <a:srgbClr val="B60000"/>
          </a:solidFill>
          <a:ln/>
        </p:spPr>
      </p:sp>
      <p:sp>
        <p:nvSpPr>
          <p:cNvPr id="4" name="Text 1"/>
          <p:cNvSpPr txBox="1"/>
          <p:nvPr/>
        </p:nvSpPr>
        <p:spPr>
          <a:xfrm>
            <a:off x="731520" y="685800"/>
            <a:ext cx="4572000" cy="1737360"/>
          </a:xfrm>
          <a:prstGeom prst="rect">
            <a:avLst/>
          </a:prstGeom>
          <a:noFill/>
          <a:ln/>
        </p:spPr>
        <p:txBody>
          <a:bodyPr wrap="square" lIns="0" tIns="0" rIns="0" bIns="0" rtlCol="0" anchor="ctr"/>
          <a:lstStyle/>
          <a:p>
            <a:pPr indent="0" marL="0">
              <a:buNone/>
            </a:pPr>
            <a:endParaRPr lang="en-US" sz="13200" dirty="0"/>
          </a:p>
        </p:txBody>
      </p:sp>
      <p:sp>
        <p:nvSpPr>
          <p:cNvPr id="5" name="Text 2"/>
          <p:cNvSpPr txBox="1"/>
          <p:nvPr/>
        </p:nvSpPr>
        <p:spPr>
          <a:xfrm>
            <a:off x="822960" y="2697480"/>
            <a:ext cx="5943600" cy="365760"/>
          </a:xfrm>
          <a:prstGeom prst="rect">
            <a:avLst/>
          </a:prstGeom>
          <a:noFill/>
          <a:ln/>
        </p:spPr>
        <p:txBody>
          <a:bodyPr wrap="square" lIns="0" tIns="0" rIns="0" bIns="0" rtlCol="0" anchor="ctr"/>
          <a:lstStyle/>
          <a:p>
            <a:pPr indent="0" marL="0">
              <a:buNone/>
            </a:pPr>
            <a:r>
              <a:rPr lang="en-US" sz="1400" b="1" spc="300" kern="0" dirty="0">
                <a:solidFill>
                  <a:srgbClr val="E1E1E1"/>
                </a:solidFill>
                <a:latin typeface="Calibri" pitchFamily="34" charset="0"/>
                <a:ea typeface="Calibri" pitchFamily="34" charset="-122"/>
                <a:cs typeface="Calibri" pitchFamily="34" charset="-120"/>
              </a:rPr>
              <a:t>INTERLUDE · APPLICATIONS</a:t>
            </a:r>
            <a:endParaRPr lang="en-US" sz="1400" dirty="0"/>
          </a:p>
        </p:txBody>
      </p:sp>
      <p:sp>
        <p:nvSpPr>
          <p:cNvPr id="6" name="Text 3"/>
          <p:cNvSpPr txBox="1"/>
          <p:nvPr/>
        </p:nvSpPr>
        <p:spPr>
          <a:xfrm>
            <a:off x="822960" y="3108960"/>
            <a:ext cx="5669280" cy="1463040"/>
          </a:xfrm>
          <a:prstGeom prst="rect">
            <a:avLst/>
          </a:prstGeom>
          <a:noFill/>
          <a:ln/>
        </p:spPr>
        <p:txBody>
          <a:bodyPr wrap="square" lIns="0" tIns="0" rIns="0" bIns="0" rtlCol="0" anchor="t"/>
          <a:lstStyle/>
          <a:p>
            <a:pPr indent="0" marL="0">
              <a:lnSpc>
                <a:spcPct val="100000"/>
              </a:lnSpc>
              <a:buNone/>
            </a:pPr>
            <a:r>
              <a:rPr lang="en-US" sz="4200" b="1" dirty="0">
                <a:solidFill>
                  <a:srgbClr val="F2F2F2"/>
                </a:solidFill>
                <a:latin typeface="Calibri" pitchFamily="34" charset="0"/>
                <a:ea typeface="Calibri" pitchFamily="34" charset="-122"/>
                <a:cs typeface="Calibri" pitchFamily="34" charset="-120"/>
              </a:rPr>
              <a:t>Four places these tools are already working</a:t>
            </a:r>
            <a:endParaRPr lang="en-US" sz="4200" dirty="0"/>
          </a:p>
        </p:txBody>
      </p:sp>
      <p:sp>
        <p:nvSpPr>
          <p:cNvPr id="7" name="Shape 4"/>
          <p:cNvSpPr/>
          <p:nvPr/>
        </p:nvSpPr>
        <p:spPr>
          <a:xfrm>
            <a:off x="822960" y="4709160"/>
            <a:ext cx="1005840" cy="54864"/>
          </a:xfrm>
          <a:prstGeom prst="rect">
            <a:avLst/>
          </a:prstGeom>
          <a:solidFill>
            <a:srgbClr val="B60000"/>
          </a:solidFill>
          <a:ln/>
        </p:spPr>
      </p:sp>
      <p:sp>
        <p:nvSpPr>
          <p:cNvPr id="8" name="Text 5"/>
          <p:cNvSpPr txBox="1"/>
          <p:nvPr/>
        </p:nvSpPr>
        <p:spPr>
          <a:xfrm>
            <a:off x="822960" y="4937760"/>
            <a:ext cx="5852160" cy="1005840"/>
          </a:xfrm>
          <a:prstGeom prst="rect">
            <a:avLst/>
          </a:prstGeom>
          <a:noFill/>
          <a:ln/>
        </p:spPr>
        <p:txBody>
          <a:bodyPr wrap="square" lIns="0" tIns="0" rIns="0" bIns="0" rtlCol="0" anchor="t"/>
          <a:lstStyle/>
          <a:p>
            <a:pPr indent="0" marL="0">
              <a:lnSpc>
                <a:spcPct val="125000"/>
              </a:lnSpc>
              <a:buNone/>
            </a:pPr>
            <a:r>
              <a:rPr lang="en-US" sz="1700" dirty="0">
                <a:solidFill>
                  <a:srgbClr val="E1E1E1"/>
                </a:solidFill>
                <a:latin typeface="Calibri" pitchFamily="34" charset="0"/>
                <a:ea typeface="Calibri" pitchFamily="34" charset="-122"/>
                <a:cs typeface="Calibri" pitchFamily="34" charset="-120"/>
              </a:rPr>
              <a:t>A brief survey of current applied work, not a findings talk.</a:t>
            </a:r>
            <a:endParaRPr lang="en-US" sz="1700" dirty="0"/>
          </a:p>
        </p:txBody>
      </p:sp>
      <p:sp>
        <p:nvSpPr>
          <p:cNvPr id="9" name="Text 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E1E1E1"/>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E1E1E1"/>
                </a:solidFill>
                <a:latin typeface="Courier New" pitchFamily="34" charset="0"/>
                <a:ea typeface="Courier New" pitchFamily="34" charset="-122"/>
                <a:cs typeface="Courier New" pitchFamily="34" charset="-120"/>
              </a:rPr>
              <a:t>tick 39</a:t>
            </a:r>
            <a:endParaRPr lang="en-US" sz="1000" dirty="0"/>
          </a:p>
        </p:txBody>
      </p:sp>
      <p:pic>
        <p:nvPicPr>
          <p:cNvPr id="10" name="Image 1" descr="assets/ncite_logo_white.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APPLICATIONS · 1 OF 4</a:t>
            </a:r>
            <a:endParaRPr lang="en-US" sz="1300" dirty="0"/>
          </a:p>
        </p:txBody>
      </p:sp>
      <p:sp>
        <p:nvSpPr>
          <p:cNvPr id="4" name="Text 2"/>
          <p:cNvSpPr txBox="1"/>
          <p:nvPr/>
        </p:nvSpPr>
        <p:spPr>
          <a:xfrm>
            <a:off x="640080" y="914400"/>
            <a:ext cx="10881360" cy="1097280"/>
          </a:xfrm>
          <a:prstGeom prst="rect">
            <a:avLst/>
          </a:prstGeom>
          <a:noFill/>
          <a:ln/>
        </p:spPr>
        <p:txBody>
          <a:bodyPr wrap="square" lIns="0" tIns="0" rIns="0" bIns="0" rtlCol="0" anchor="t"/>
          <a:lstStyle/>
          <a:p>
            <a:pPr indent="0" marL="0">
              <a:buNone/>
            </a:pPr>
            <a:r>
              <a:rPr lang="en-US" sz="2700" b="1" dirty="0">
                <a:solidFill>
                  <a:srgbClr val="0E0E0E"/>
                </a:solidFill>
                <a:latin typeface="Calibri" pitchFamily="34" charset="0"/>
                <a:ea typeface="Calibri" pitchFamily="34" charset="-122"/>
                <a:cs typeface="Calibri" pitchFamily="34" charset="-120"/>
              </a:rPr>
              <a:t>An NK-landscape model of aspiration architecture in AI-augmented team learning</a:t>
            </a:r>
            <a:endParaRPr lang="en-US" sz="2700" dirty="0"/>
          </a:p>
        </p:txBody>
      </p:sp>
      <p:sp>
        <p:nvSpPr>
          <p:cNvPr id="5" name="Text 3"/>
          <p:cNvSpPr txBox="1"/>
          <p:nvPr/>
        </p:nvSpPr>
        <p:spPr>
          <a:xfrm>
            <a:off x="640080" y="2651760"/>
            <a:ext cx="10424160" cy="1828800"/>
          </a:xfrm>
          <a:prstGeom prst="rect">
            <a:avLst/>
          </a:prstGeom>
          <a:noFill/>
          <a:ln/>
        </p:spPr>
        <p:txBody>
          <a:bodyPr wrap="square" lIns="0" tIns="0" rIns="0" bIns="0" rtlCol="0" anchor="ctr"/>
          <a:lstStyle/>
          <a:p>
            <a:pPr indent="0" marL="0">
              <a:lnSpc>
                <a:spcPct val="140000"/>
              </a:lnSpc>
              <a:buNone/>
            </a:pPr>
            <a:r>
              <a:rPr lang="en-US" sz="1900" dirty="0">
                <a:solidFill>
                  <a:srgbClr val="333333"/>
                </a:solidFill>
                <a:latin typeface="Calibri" pitchFamily="34" charset="0"/>
                <a:ea typeface="Calibri" pitchFamily="34" charset="-122"/>
                <a:cs typeface="Calibri" pitchFamily="34" charset="-120"/>
              </a:rPr>
              <a:t>Extends the classic exploration-exploitation and rugged-landscape traditions to ask how a team's aspiration level, not just its search strategy, shapes learning when an AI tool changes what exploration costs.</a:t>
            </a:r>
            <a:endParaRPr lang="en-US" sz="1900" dirty="0"/>
          </a:p>
        </p:txBody>
      </p:sp>
      <p:sp>
        <p:nvSpPr>
          <p:cNvPr id="6" name="Shape 4"/>
          <p:cNvSpPr/>
          <p:nvPr/>
        </p:nvSpPr>
        <p:spPr>
          <a:xfrm>
            <a:off x="640080" y="4754880"/>
            <a:ext cx="10881360" cy="0"/>
          </a:xfrm>
          <a:prstGeom prst="line">
            <a:avLst/>
          </a:prstGeom>
          <a:noFill/>
          <a:ln w="12700">
            <a:solidFill>
              <a:srgbClr val="E1E1E1"/>
            </a:solidFill>
            <a:prstDash val="solid"/>
          </a:ln>
        </p:spPr>
      </p:sp>
      <p:sp>
        <p:nvSpPr>
          <p:cNvPr id="7" name="Text 5"/>
          <p:cNvSpPr txBox="1"/>
          <p:nvPr/>
        </p:nvSpPr>
        <p:spPr>
          <a:xfrm>
            <a:off x="640080" y="4937760"/>
            <a:ext cx="10424160" cy="548640"/>
          </a:xfrm>
          <a:prstGeom prst="rect">
            <a:avLst/>
          </a:prstGeom>
          <a:noFill/>
          <a:ln/>
        </p:spPr>
        <p:txBody>
          <a:bodyPr wrap="square" lIns="0" tIns="0" rIns="0" bIns="0" rtlCol="0" anchor="ctr"/>
          <a:lstStyle/>
          <a:p>
            <a:pPr indent="0" marL="0">
              <a:buNone/>
            </a:pPr>
            <a:r>
              <a:rPr lang="en-US" sz="1350" i="1" dirty="0">
                <a:solidFill>
                  <a:srgbClr val="333333"/>
                </a:solidFill>
                <a:latin typeface="Calibri" pitchFamily="34" charset="0"/>
                <a:ea typeface="Calibri" pitchFamily="34" charset="-122"/>
                <a:cs typeface="Calibri" pitchFamily="34" charset="-120"/>
              </a:rPr>
              <a:t>Closest published lineage: March (1991); Levinthal (1997).</a:t>
            </a:r>
            <a:endParaRPr lang="en-US" sz="1350" dirty="0"/>
          </a:p>
        </p:txBody>
      </p:sp>
      <p:sp>
        <p:nvSpPr>
          <p:cNvPr id="8" name="Text 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40</a:t>
            </a:r>
            <a:endParaRPr lang="en-US" sz="1000" dirty="0"/>
          </a:p>
        </p:txBody>
      </p:sp>
      <p:pic>
        <p:nvPicPr>
          <p:cNvPr id="9"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APPLICATIONS · 2 OF 4</a:t>
            </a:r>
            <a:endParaRPr lang="en-US" sz="1300" dirty="0"/>
          </a:p>
        </p:txBody>
      </p:sp>
      <p:sp>
        <p:nvSpPr>
          <p:cNvPr id="4" name="Text 2"/>
          <p:cNvSpPr txBox="1"/>
          <p:nvPr/>
        </p:nvSpPr>
        <p:spPr>
          <a:xfrm>
            <a:off x="640080" y="914400"/>
            <a:ext cx="10881360" cy="1097280"/>
          </a:xfrm>
          <a:prstGeom prst="rect">
            <a:avLst/>
          </a:prstGeom>
          <a:noFill/>
          <a:ln/>
        </p:spPr>
        <p:txBody>
          <a:bodyPr wrap="square" lIns="0" tIns="0" rIns="0" bIns="0" rtlCol="0" anchor="t"/>
          <a:lstStyle/>
          <a:p>
            <a:pPr indent="0" marL="0">
              <a:buNone/>
            </a:pPr>
            <a:r>
              <a:rPr lang="en-US" sz="2700" b="1" dirty="0">
                <a:solidFill>
                  <a:srgbClr val="0E0E0E"/>
                </a:solidFill>
                <a:latin typeface="Calibri" pitchFamily="34" charset="0"/>
                <a:ea typeface="Calibri" pitchFamily="34" charset="-122"/>
                <a:cs typeface="Calibri" pitchFamily="34" charset="-120"/>
              </a:rPr>
              <a:t>A Kalman-filter model of shared mental model convergence in multiteam systems</a:t>
            </a:r>
            <a:endParaRPr lang="en-US" sz="2700" dirty="0"/>
          </a:p>
        </p:txBody>
      </p:sp>
      <p:sp>
        <p:nvSpPr>
          <p:cNvPr id="5" name="Text 3"/>
          <p:cNvSpPr txBox="1"/>
          <p:nvPr/>
        </p:nvSpPr>
        <p:spPr>
          <a:xfrm>
            <a:off x="640080" y="2651760"/>
            <a:ext cx="10424160" cy="1828800"/>
          </a:xfrm>
          <a:prstGeom prst="rect">
            <a:avLst/>
          </a:prstGeom>
          <a:noFill/>
          <a:ln/>
        </p:spPr>
        <p:txBody>
          <a:bodyPr wrap="square" lIns="0" tIns="0" rIns="0" bIns="0" rtlCol="0" anchor="ctr"/>
          <a:lstStyle/>
          <a:p>
            <a:pPr indent="0" marL="0">
              <a:lnSpc>
                <a:spcPct val="140000"/>
              </a:lnSpc>
              <a:buNone/>
            </a:pPr>
            <a:r>
              <a:rPr lang="en-US" sz="1900" dirty="0">
                <a:solidFill>
                  <a:srgbClr val="333333"/>
                </a:solidFill>
                <a:latin typeface="Calibri" pitchFamily="34" charset="0"/>
                <a:ea typeface="Calibri" pitchFamily="34" charset="-122"/>
                <a:cs typeface="Calibri" pitchFamily="34" charset="-120"/>
              </a:rPr>
              <a:t>Treats shared mental model convergence as a filtering problem across interdependent teams, extending organizational-learning simulation traditions from the single-team case to a multiteam system.</a:t>
            </a:r>
            <a:endParaRPr lang="en-US" sz="1900" dirty="0"/>
          </a:p>
        </p:txBody>
      </p:sp>
      <p:sp>
        <p:nvSpPr>
          <p:cNvPr id="6" name="Shape 4"/>
          <p:cNvSpPr/>
          <p:nvPr/>
        </p:nvSpPr>
        <p:spPr>
          <a:xfrm>
            <a:off x="640080" y="4754880"/>
            <a:ext cx="10881360" cy="0"/>
          </a:xfrm>
          <a:prstGeom prst="line">
            <a:avLst/>
          </a:prstGeom>
          <a:noFill/>
          <a:ln w="12700">
            <a:solidFill>
              <a:srgbClr val="E1E1E1"/>
            </a:solidFill>
            <a:prstDash val="solid"/>
          </a:ln>
        </p:spPr>
      </p:sp>
      <p:sp>
        <p:nvSpPr>
          <p:cNvPr id="7" name="Text 5"/>
          <p:cNvSpPr txBox="1"/>
          <p:nvPr/>
        </p:nvSpPr>
        <p:spPr>
          <a:xfrm>
            <a:off x="640080" y="4937760"/>
            <a:ext cx="10424160" cy="548640"/>
          </a:xfrm>
          <a:prstGeom prst="rect">
            <a:avLst/>
          </a:prstGeom>
          <a:noFill/>
          <a:ln/>
        </p:spPr>
        <p:txBody>
          <a:bodyPr wrap="square" lIns="0" tIns="0" rIns="0" bIns="0" rtlCol="0" anchor="ctr"/>
          <a:lstStyle/>
          <a:p>
            <a:pPr indent="0" marL="0">
              <a:buNone/>
            </a:pPr>
            <a:r>
              <a:rPr lang="en-US" sz="1350" i="1" dirty="0">
                <a:solidFill>
                  <a:srgbClr val="333333"/>
                </a:solidFill>
                <a:latin typeface="Calibri" pitchFamily="34" charset="0"/>
                <a:ea typeface="Calibri" pitchFamily="34" charset="-122"/>
                <a:cs typeface="Calibri" pitchFamily="34" charset="-120"/>
              </a:rPr>
              <a:t>Closest published lineage: Carley (1992); Dionne et al. (2010).</a:t>
            </a:r>
            <a:endParaRPr lang="en-US" sz="1350" dirty="0"/>
          </a:p>
        </p:txBody>
      </p:sp>
      <p:sp>
        <p:nvSpPr>
          <p:cNvPr id="8" name="Text 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41</a:t>
            </a:r>
            <a:endParaRPr lang="en-US" sz="1000" dirty="0"/>
          </a:p>
        </p:txBody>
      </p:sp>
      <p:pic>
        <p:nvPicPr>
          <p:cNvPr id="9"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APPLICATIONS · 3 OF 4</a:t>
            </a:r>
            <a:endParaRPr lang="en-US" sz="1300" dirty="0"/>
          </a:p>
        </p:txBody>
      </p:sp>
      <p:sp>
        <p:nvSpPr>
          <p:cNvPr id="4" name="Text 2"/>
          <p:cNvSpPr txBox="1"/>
          <p:nvPr/>
        </p:nvSpPr>
        <p:spPr>
          <a:xfrm>
            <a:off x="640080" y="914400"/>
            <a:ext cx="10881360" cy="1097280"/>
          </a:xfrm>
          <a:prstGeom prst="rect">
            <a:avLst/>
          </a:prstGeom>
          <a:noFill/>
          <a:ln/>
        </p:spPr>
        <p:txBody>
          <a:bodyPr wrap="square" lIns="0" tIns="0" rIns="0" bIns="0" rtlCol="0" anchor="t"/>
          <a:lstStyle/>
          <a:p>
            <a:pPr indent="0" marL="0">
              <a:buNone/>
            </a:pPr>
            <a:r>
              <a:rPr lang="en-US" sz="2700" b="1" dirty="0">
                <a:solidFill>
                  <a:srgbClr val="0E0E0E"/>
                </a:solidFill>
                <a:latin typeface="Calibri" pitchFamily="34" charset="0"/>
                <a:ea typeface="Calibri" pitchFamily="34" charset="-122"/>
                <a:cs typeface="Calibri" pitchFamily="34" charset="-120"/>
              </a:rPr>
              <a:t>A particle swarm optimization extension on power disparity in teams</a:t>
            </a:r>
            <a:endParaRPr lang="en-US" sz="2700" dirty="0"/>
          </a:p>
        </p:txBody>
      </p:sp>
      <p:sp>
        <p:nvSpPr>
          <p:cNvPr id="5" name="Text 3"/>
          <p:cNvSpPr txBox="1"/>
          <p:nvPr/>
        </p:nvSpPr>
        <p:spPr>
          <a:xfrm>
            <a:off x="640080" y="2651760"/>
            <a:ext cx="10424160" cy="1828800"/>
          </a:xfrm>
          <a:prstGeom prst="rect">
            <a:avLst/>
          </a:prstGeom>
          <a:noFill/>
          <a:ln/>
        </p:spPr>
        <p:txBody>
          <a:bodyPr wrap="square" lIns="0" tIns="0" rIns="0" bIns="0" rtlCol="0" anchor="ctr"/>
          <a:lstStyle/>
          <a:p>
            <a:pPr indent="0" marL="0">
              <a:lnSpc>
                <a:spcPct val="140000"/>
              </a:lnSpc>
              <a:buNone/>
            </a:pPr>
            <a:r>
              <a:rPr lang="en-US" sz="1900" dirty="0">
                <a:solidFill>
                  <a:srgbClr val="333333"/>
                </a:solidFill>
                <a:latin typeface="Calibri" pitchFamily="34" charset="0"/>
                <a:ea typeface="Calibri" pitchFamily="34" charset="-122"/>
                <a:cs typeface="Calibri" pitchFamily="34" charset="-120"/>
              </a:rPr>
              <a:t>Borrows a search-based optimization algorithm to model how unequal influence among team members changes the team's ability to find good solutions on an interdependent task landscape.</a:t>
            </a:r>
            <a:endParaRPr lang="en-US" sz="1900" dirty="0"/>
          </a:p>
        </p:txBody>
      </p:sp>
      <p:sp>
        <p:nvSpPr>
          <p:cNvPr id="6" name="Shape 4"/>
          <p:cNvSpPr/>
          <p:nvPr/>
        </p:nvSpPr>
        <p:spPr>
          <a:xfrm>
            <a:off x="640080" y="4754880"/>
            <a:ext cx="10881360" cy="0"/>
          </a:xfrm>
          <a:prstGeom prst="line">
            <a:avLst/>
          </a:prstGeom>
          <a:noFill/>
          <a:ln w="12700">
            <a:solidFill>
              <a:srgbClr val="E1E1E1"/>
            </a:solidFill>
            <a:prstDash val="solid"/>
          </a:ln>
        </p:spPr>
      </p:sp>
      <p:sp>
        <p:nvSpPr>
          <p:cNvPr id="7" name="Text 5"/>
          <p:cNvSpPr txBox="1"/>
          <p:nvPr/>
        </p:nvSpPr>
        <p:spPr>
          <a:xfrm>
            <a:off x="640080" y="4937760"/>
            <a:ext cx="10424160" cy="548640"/>
          </a:xfrm>
          <a:prstGeom prst="rect">
            <a:avLst/>
          </a:prstGeom>
          <a:noFill/>
          <a:ln/>
        </p:spPr>
        <p:txBody>
          <a:bodyPr wrap="square" lIns="0" tIns="0" rIns="0" bIns="0" rtlCol="0" anchor="ctr"/>
          <a:lstStyle/>
          <a:p>
            <a:pPr indent="0" marL="0">
              <a:buNone/>
            </a:pPr>
            <a:r>
              <a:rPr lang="en-US" sz="1350" i="1" dirty="0">
                <a:solidFill>
                  <a:srgbClr val="333333"/>
                </a:solidFill>
                <a:latin typeface="Calibri" pitchFamily="34" charset="0"/>
                <a:ea typeface="Calibri" pitchFamily="34" charset="-122"/>
                <a:cs typeface="Calibri" pitchFamily="34" charset="-120"/>
              </a:rPr>
              <a:t>Closest published lineage: Tarakci et al. (2016); Rivkin &amp; Siggelkow (2003).</a:t>
            </a:r>
            <a:endParaRPr lang="en-US" sz="1350" dirty="0"/>
          </a:p>
        </p:txBody>
      </p:sp>
      <p:sp>
        <p:nvSpPr>
          <p:cNvPr id="8" name="Text 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42</a:t>
            </a:r>
            <a:endParaRPr lang="en-US" sz="1000" dirty="0"/>
          </a:p>
        </p:txBody>
      </p:sp>
      <p:pic>
        <p:nvPicPr>
          <p:cNvPr id="9"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APPLICATIONS · 4 OF 4</a:t>
            </a:r>
            <a:endParaRPr lang="en-US" sz="1300" dirty="0"/>
          </a:p>
        </p:txBody>
      </p:sp>
      <p:sp>
        <p:nvSpPr>
          <p:cNvPr id="4" name="Text 2"/>
          <p:cNvSpPr txBox="1"/>
          <p:nvPr/>
        </p:nvSpPr>
        <p:spPr>
          <a:xfrm>
            <a:off x="640080" y="914400"/>
            <a:ext cx="10881360" cy="1097280"/>
          </a:xfrm>
          <a:prstGeom prst="rect">
            <a:avLst/>
          </a:prstGeom>
          <a:noFill/>
          <a:ln/>
        </p:spPr>
        <p:txBody>
          <a:bodyPr wrap="square" lIns="0" tIns="0" rIns="0" bIns="0" rtlCol="0" anchor="t"/>
          <a:lstStyle/>
          <a:p>
            <a:pPr indent="0" marL="0">
              <a:buNone/>
            </a:pPr>
            <a:r>
              <a:rPr lang="en-US" sz="2700" b="1" dirty="0">
                <a:solidFill>
                  <a:srgbClr val="0E0E0E"/>
                </a:solidFill>
                <a:latin typeface="Calibri" pitchFamily="34" charset="0"/>
                <a:ea typeface="Calibri" pitchFamily="34" charset="-122"/>
                <a:cs typeface="Calibri" pitchFamily="34" charset="-120"/>
              </a:rPr>
              <a:t>A network model of strategic consensus formation</a:t>
            </a:r>
            <a:endParaRPr lang="en-US" sz="2700" dirty="0"/>
          </a:p>
        </p:txBody>
      </p:sp>
      <p:sp>
        <p:nvSpPr>
          <p:cNvPr id="5" name="Text 3"/>
          <p:cNvSpPr txBox="1"/>
          <p:nvPr/>
        </p:nvSpPr>
        <p:spPr>
          <a:xfrm>
            <a:off x="640080" y="2651760"/>
            <a:ext cx="10424160" cy="1828800"/>
          </a:xfrm>
          <a:prstGeom prst="rect">
            <a:avLst/>
          </a:prstGeom>
          <a:noFill/>
          <a:ln/>
        </p:spPr>
        <p:txBody>
          <a:bodyPr wrap="square" lIns="0" tIns="0" rIns="0" bIns="0" rtlCol="0" anchor="ctr"/>
          <a:lstStyle/>
          <a:p>
            <a:pPr indent="0" marL="0">
              <a:lnSpc>
                <a:spcPct val="140000"/>
              </a:lnSpc>
              <a:buNone/>
            </a:pPr>
            <a:r>
              <a:rPr lang="en-US" sz="1900" dirty="0">
                <a:solidFill>
                  <a:srgbClr val="333333"/>
                </a:solidFill>
                <a:latin typeface="Calibri" pitchFamily="34" charset="0"/>
                <a:ea typeface="Calibri" pitchFamily="34" charset="-122"/>
                <a:cs typeface="Calibri" pitchFamily="34" charset="-120"/>
              </a:rPr>
              <a:t>Extends the dissertation's processual theory of strategic consensus into a network-structured agent-based model, directly continuing today's Stage 4 move from random pairing to network topology.</a:t>
            </a:r>
            <a:endParaRPr lang="en-US" sz="1900" dirty="0"/>
          </a:p>
        </p:txBody>
      </p:sp>
      <p:sp>
        <p:nvSpPr>
          <p:cNvPr id="6" name="Shape 4"/>
          <p:cNvSpPr/>
          <p:nvPr/>
        </p:nvSpPr>
        <p:spPr>
          <a:xfrm>
            <a:off x="640080" y="4754880"/>
            <a:ext cx="10881360" cy="0"/>
          </a:xfrm>
          <a:prstGeom prst="line">
            <a:avLst/>
          </a:prstGeom>
          <a:noFill/>
          <a:ln w="12700">
            <a:solidFill>
              <a:srgbClr val="E1E1E1"/>
            </a:solidFill>
            <a:prstDash val="solid"/>
          </a:ln>
        </p:spPr>
      </p:sp>
      <p:sp>
        <p:nvSpPr>
          <p:cNvPr id="7" name="Text 5"/>
          <p:cNvSpPr txBox="1"/>
          <p:nvPr/>
        </p:nvSpPr>
        <p:spPr>
          <a:xfrm>
            <a:off x="640080" y="4937760"/>
            <a:ext cx="10424160" cy="548640"/>
          </a:xfrm>
          <a:prstGeom prst="rect">
            <a:avLst/>
          </a:prstGeom>
          <a:noFill/>
          <a:ln/>
        </p:spPr>
        <p:txBody>
          <a:bodyPr wrap="square" lIns="0" tIns="0" rIns="0" bIns="0" rtlCol="0" anchor="ctr"/>
          <a:lstStyle/>
          <a:p>
            <a:pPr indent="0" marL="0">
              <a:buNone/>
            </a:pPr>
            <a:r>
              <a:rPr lang="en-US" sz="1350" i="1" dirty="0">
                <a:solidFill>
                  <a:srgbClr val="333333"/>
                </a:solidFill>
                <a:latin typeface="Calibri" pitchFamily="34" charset="0"/>
                <a:ea typeface="Calibri" pitchFamily="34" charset="-122"/>
                <a:cs typeface="Calibri" pitchFamily="34" charset="-120"/>
              </a:rPr>
              <a:t>Closest published lineage: Cao et al. (2020).</a:t>
            </a:r>
            <a:endParaRPr lang="en-US" sz="1350" dirty="0"/>
          </a:p>
        </p:txBody>
      </p:sp>
      <p:sp>
        <p:nvSpPr>
          <p:cNvPr id="8" name="Text 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43</a:t>
            </a:r>
            <a:endParaRPr lang="en-US" sz="1000" dirty="0"/>
          </a:p>
        </p:txBody>
      </p:sp>
      <p:pic>
        <p:nvPicPr>
          <p:cNvPr id="9"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GOING FURTHER</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200" b="1" dirty="0">
                <a:solidFill>
                  <a:srgbClr val="0E0E0E"/>
                </a:solidFill>
                <a:latin typeface="Calibri" pitchFamily="34" charset="0"/>
                <a:ea typeface="Calibri" pitchFamily="34" charset="-122"/>
                <a:cs typeface="Calibri" pitchFamily="34" charset="-120"/>
              </a:rPr>
              <a:t>Where to keep building</a:t>
            </a:r>
            <a:endParaRPr lang="en-US" sz="3200" dirty="0"/>
          </a:p>
        </p:txBody>
      </p:sp>
      <p:sp>
        <p:nvSpPr>
          <p:cNvPr id="5" name="Shape 3"/>
          <p:cNvSpPr/>
          <p:nvPr/>
        </p:nvSpPr>
        <p:spPr>
          <a:xfrm>
            <a:off x="640080" y="2011680"/>
            <a:ext cx="3520440" cy="4023360"/>
          </a:xfrm>
          <a:prstGeom prst="rect">
            <a:avLst/>
          </a:prstGeom>
          <a:solidFill>
            <a:srgbClr val="E1E1E1"/>
          </a:solidFill>
          <a:ln/>
        </p:spPr>
      </p:sp>
      <p:sp>
        <p:nvSpPr>
          <p:cNvPr id="6" name="Shape 4"/>
          <p:cNvSpPr/>
          <p:nvPr/>
        </p:nvSpPr>
        <p:spPr>
          <a:xfrm>
            <a:off x="640080" y="2011680"/>
            <a:ext cx="3520440" cy="64008"/>
          </a:xfrm>
          <a:prstGeom prst="rect">
            <a:avLst/>
          </a:prstGeom>
          <a:solidFill>
            <a:srgbClr val="B60000"/>
          </a:solidFill>
          <a:ln/>
        </p:spPr>
      </p:sp>
      <p:sp>
        <p:nvSpPr>
          <p:cNvPr id="7" name="Text 5"/>
          <p:cNvSpPr txBox="1"/>
          <p:nvPr/>
        </p:nvSpPr>
        <p:spPr>
          <a:xfrm>
            <a:off x="914400" y="2331720"/>
            <a:ext cx="2971800" cy="822960"/>
          </a:xfrm>
          <a:prstGeom prst="rect">
            <a:avLst/>
          </a:prstGeom>
          <a:noFill/>
          <a:ln/>
        </p:spPr>
        <p:txBody>
          <a:bodyPr wrap="square" lIns="0" tIns="0" rIns="0" bIns="0" rtlCol="0" anchor="t"/>
          <a:lstStyle/>
          <a:p>
            <a:pPr indent="0" marL="0">
              <a:buNone/>
            </a:pPr>
            <a:r>
              <a:rPr lang="en-US" sz="2000" b="1" dirty="0">
                <a:solidFill>
                  <a:srgbClr val="0E0E0E"/>
                </a:solidFill>
                <a:latin typeface="Calibri" pitchFamily="34" charset="0"/>
                <a:ea typeface="Calibri" pitchFamily="34" charset="-122"/>
                <a:cs typeface="Calibri" pitchFamily="34" charset="-120"/>
              </a:rPr>
              <a:t>Models of Social Dynamics</a:t>
            </a:r>
            <a:endParaRPr lang="en-US" sz="2000" dirty="0"/>
          </a:p>
        </p:txBody>
      </p:sp>
      <p:sp>
        <p:nvSpPr>
          <p:cNvPr id="8" name="Text 6"/>
          <p:cNvSpPr txBox="1"/>
          <p:nvPr/>
        </p:nvSpPr>
        <p:spPr>
          <a:xfrm>
            <a:off x="914400" y="3154680"/>
            <a:ext cx="2971800" cy="365760"/>
          </a:xfrm>
          <a:prstGeom prst="rect">
            <a:avLst/>
          </a:prstGeom>
          <a:noFill/>
          <a:ln/>
        </p:spPr>
        <p:txBody>
          <a:bodyPr wrap="square" lIns="0" tIns="0" rIns="0" bIns="0" rtlCol="0" anchor="ctr"/>
          <a:lstStyle/>
          <a:p>
            <a:pPr indent="0" marL="0">
              <a:buNone/>
            </a:pPr>
            <a:r>
              <a:rPr lang="en-US" sz="1400" b="1" dirty="0">
                <a:solidFill>
                  <a:srgbClr val="B60000"/>
                </a:solidFill>
                <a:latin typeface="Calibri" pitchFamily="34" charset="0"/>
                <a:ea typeface="Calibri" pitchFamily="34" charset="-122"/>
                <a:cs typeface="Calibri" pitchFamily="34" charset="-120"/>
              </a:rPr>
              <a:t>Smaldino, Cultural Evolution Society</a:t>
            </a:r>
            <a:endParaRPr lang="en-US" sz="1400" dirty="0"/>
          </a:p>
        </p:txBody>
      </p:sp>
      <p:sp>
        <p:nvSpPr>
          <p:cNvPr id="9" name="Text 7"/>
          <p:cNvSpPr txBox="1"/>
          <p:nvPr/>
        </p:nvSpPr>
        <p:spPr>
          <a:xfrm>
            <a:off x="914400" y="3611880"/>
            <a:ext cx="2971800" cy="1737360"/>
          </a:xfrm>
          <a:prstGeom prst="rect">
            <a:avLst/>
          </a:prstGeom>
          <a:noFill/>
          <a:ln/>
        </p:spPr>
        <p:txBody>
          <a:bodyPr wrap="square" lIns="0" tIns="0" rIns="0" bIns="0" rtlCol="0" anchor="t"/>
          <a:lstStyle/>
          <a:p>
            <a:pPr indent="0" marL="0">
              <a:lnSpc>
                <a:spcPct val="130000"/>
              </a:lnSpc>
              <a:buNone/>
            </a:pPr>
            <a:r>
              <a:rPr lang="en-US" sz="1500" dirty="0">
                <a:solidFill>
                  <a:srgbClr val="333333"/>
                </a:solidFill>
                <a:latin typeface="Calibri" pitchFamily="34" charset="0"/>
                <a:ea typeface="Calibri" pitchFamily="34" charset="-122"/>
                <a:cs typeface="Calibri" pitchFamily="34" charset="-120"/>
              </a:rPr>
              <a:t>Seven free units with NetLogo models, slides, and exercises. Unit 3, Opinions and Polarization, covers today's Stages 1 to 3. CC BY-NC-SA 4.0.</a:t>
            </a:r>
            <a:endParaRPr lang="en-US" sz="1500" dirty="0"/>
          </a:p>
        </p:txBody>
      </p:sp>
      <p:sp>
        <p:nvSpPr>
          <p:cNvPr id="10" name="Text 8"/>
          <p:cNvSpPr txBox="1"/>
          <p:nvPr/>
        </p:nvSpPr>
        <p:spPr>
          <a:xfrm>
            <a:off x="914400" y="5486400"/>
            <a:ext cx="2971800" cy="320040"/>
          </a:xfrm>
          <a:prstGeom prst="rect">
            <a:avLst/>
          </a:prstGeom>
          <a:noFill/>
          <a:ln/>
        </p:spPr>
        <p:txBody>
          <a:bodyPr wrap="square" lIns="0" tIns="0" rIns="0" bIns="0" rtlCol="0" anchor="ctr"/>
          <a:lstStyle/>
          <a:p>
            <a:pPr indent="0" marL="0">
              <a:buNone/>
            </a:pPr>
            <a:r>
              <a:rPr lang="en-US" sz="1300" i="1" dirty="0">
                <a:solidFill>
                  <a:srgbClr val="333333"/>
                </a:solidFill>
                <a:latin typeface="Calibri" pitchFamily="34" charset="0"/>
                <a:ea typeface="Calibri" pitchFamily="34" charset="-122"/>
                <a:cs typeface="Calibri" pitchFamily="34" charset="-120"/>
              </a:rPr>
              <a:t>learn.culturalevolutionsociety.org</a:t>
            </a:r>
            <a:endParaRPr lang="en-US" sz="1300" dirty="0"/>
          </a:p>
        </p:txBody>
      </p:sp>
      <p:sp>
        <p:nvSpPr>
          <p:cNvPr id="11" name="Shape 9"/>
          <p:cNvSpPr/>
          <p:nvPr/>
        </p:nvSpPr>
        <p:spPr>
          <a:xfrm>
            <a:off x="4343400" y="2011680"/>
            <a:ext cx="3520440" cy="4023360"/>
          </a:xfrm>
          <a:prstGeom prst="rect">
            <a:avLst/>
          </a:prstGeom>
          <a:solidFill>
            <a:srgbClr val="E1E1E1"/>
          </a:solidFill>
          <a:ln/>
        </p:spPr>
      </p:sp>
      <p:sp>
        <p:nvSpPr>
          <p:cNvPr id="12" name="Shape 10"/>
          <p:cNvSpPr/>
          <p:nvPr/>
        </p:nvSpPr>
        <p:spPr>
          <a:xfrm>
            <a:off x="4343400" y="2011680"/>
            <a:ext cx="3520440" cy="64008"/>
          </a:xfrm>
          <a:prstGeom prst="rect">
            <a:avLst/>
          </a:prstGeom>
          <a:solidFill>
            <a:srgbClr val="B60000"/>
          </a:solidFill>
          <a:ln/>
        </p:spPr>
      </p:sp>
      <p:sp>
        <p:nvSpPr>
          <p:cNvPr id="13" name="Text 11"/>
          <p:cNvSpPr txBox="1"/>
          <p:nvPr/>
        </p:nvSpPr>
        <p:spPr>
          <a:xfrm>
            <a:off x="4617720" y="2331720"/>
            <a:ext cx="2971800" cy="822960"/>
          </a:xfrm>
          <a:prstGeom prst="rect">
            <a:avLst/>
          </a:prstGeom>
          <a:noFill/>
          <a:ln/>
        </p:spPr>
        <p:txBody>
          <a:bodyPr wrap="square" lIns="0" tIns="0" rIns="0" bIns="0" rtlCol="0" anchor="t"/>
          <a:lstStyle/>
          <a:p>
            <a:pPr indent="0" marL="0">
              <a:buNone/>
            </a:pPr>
            <a:r>
              <a:rPr lang="en-US" sz="2000" b="1" dirty="0">
                <a:solidFill>
                  <a:srgbClr val="0E0E0E"/>
                </a:solidFill>
                <a:latin typeface="Calibri" pitchFamily="34" charset="0"/>
                <a:ea typeface="Calibri" pitchFamily="34" charset="-122"/>
                <a:cs typeface="Calibri" pitchFamily="34" charset="-120"/>
              </a:rPr>
              <a:t>Models of social influence</a:t>
            </a:r>
            <a:endParaRPr lang="en-US" sz="2000" dirty="0"/>
          </a:p>
        </p:txBody>
      </p:sp>
      <p:sp>
        <p:nvSpPr>
          <p:cNvPr id="14" name="Text 12"/>
          <p:cNvSpPr txBox="1"/>
          <p:nvPr/>
        </p:nvSpPr>
        <p:spPr>
          <a:xfrm>
            <a:off x="4617720" y="3154680"/>
            <a:ext cx="2971800" cy="365760"/>
          </a:xfrm>
          <a:prstGeom prst="rect">
            <a:avLst/>
          </a:prstGeom>
          <a:noFill/>
          <a:ln/>
        </p:spPr>
        <p:txBody>
          <a:bodyPr wrap="square" lIns="0" tIns="0" rIns="0" bIns="0" rtlCol="0" anchor="ctr"/>
          <a:lstStyle/>
          <a:p>
            <a:pPr indent="0" marL="0">
              <a:buNone/>
            </a:pPr>
            <a:r>
              <a:rPr lang="en-US" sz="1400" b="1" dirty="0">
                <a:solidFill>
                  <a:srgbClr val="B60000"/>
                </a:solidFill>
                <a:latin typeface="Calibri" pitchFamily="34" charset="0"/>
                <a:ea typeface="Calibri" pitchFamily="34" charset="-122"/>
                <a:cs typeface="Calibri" pitchFamily="34" charset="-120"/>
              </a:rPr>
              <a:t>Flache et al. (2017)</a:t>
            </a:r>
            <a:endParaRPr lang="en-US" sz="1400" dirty="0"/>
          </a:p>
        </p:txBody>
      </p:sp>
      <p:sp>
        <p:nvSpPr>
          <p:cNvPr id="15" name="Text 13"/>
          <p:cNvSpPr txBox="1"/>
          <p:nvPr/>
        </p:nvSpPr>
        <p:spPr>
          <a:xfrm>
            <a:off x="4617720" y="3611880"/>
            <a:ext cx="2971800" cy="1737360"/>
          </a:xfrm>
          <a:prstGeom prst="rect">
            <a:avLst/>
          </a:prstGeom>
          <a:noFill/>
          <a:ln/>
        </p:spPr>
        <p:txBody>
          <a:bodyPr wrap="square" lIns="0" tIns="0" rIns="0" bIns="0" rtlCol="0" anchor="t"/>
          <a:lstStyle/>
          <a:p>
            <a:pPr indent="0" marL="0">
              <a:lnSpc>
                <a:spcPct val="130000"/>
              </a:lnSpc>
              <a:buNone/>
            </a:pPr>
            <a:r>
              <a:rPr lang="en-US" sz="1500" dirty="0">
                <a:solidFill>
                  <a:srgbClr val="333333"/>
                </a:solidFill>
                <a:latin typeface="Calibri" pitchFamily="34" charset="0"/>
                <a:ea typeface="Calibri" pitchFamily="34" charset="-122"/>
                <a:cs typeface="Calibri" pitchFamily="34" charset="-120"/>
              </a:rPr>
              <a:t>A map of the assimilation, similarity-bias, and repulsion families of influence models and the open problems in each.</a:t>
            </a:r>
            <a:endParaRPr lang="en-US" sz="1500" dirty="0"/>
          </a:p>
        </p:txBody>
      </p:sp>
      <p:sp>
        <p:nvSpPr>
          <p:cNvPr id="16" name="Text 14"/>
          <p:cNvSpPr txBox="1"/>
          <p:nvPr/>
        </p:nvSpPr>
        <p:spPr>
          <a:xfrm>
            <a:off x="4617720" y="5486400"/>
            <a:ext cx="2971800" cy="320040"/>
          </a:xfrm>
          <a:prstGeom prst="rect">
            <a:avLst/>
          </a:prstGeom>
          <a:noFill/>
          <a:ln/>
        </p:spPr>
        <p:txBody>
          <a:bodyPr wrap="square" lIns="0" tIns="0" rIns="0" bIns="0" rtlCol="0" anchor="ctr"/>
          <a:lstStyle/>
          <a:p>
            <a:pPr indent="0" marL="0">
              <a:buNone/>
            </a:pPr>
            <a:r>
              <a:rPr lang="en-US" sz="1300" i="1" dirty="0">
                <a:solidFill>
                  <a:srgbClr val="333333"/>
                </a:solidFill>
                <a:latin typeface="Calibri" pitchFamily="34" charset="0"/>
                <a:ea typeface="Calibri" pitchFamily="34" charset="-122"/>
                <a:cs typeface="Calibri" pitchFamily="34" charset="-120"/>
              </a:rPr>
              <a:t>JASSS, 20(4), 2</a:t>
            </a:r>
            <a:endParaRPr lang="en-US" sz="1300" dirty="0"/>
          </a:p>
        </p:txBody>
      </p:sp>
      <p:sp>
        <p:nvSpPr>
          <p:cNvPr id="17" name="Shape 15"/>
          <p:cNvSpPr/>
          <p:nvPr/>
        </p:nvSpPr>
        <p:spPr>
          <a:xfrm>
            <a:off x="8046720" y="2011680"/>
            <a:ext cx="3520440" cy="4023360"/>
          </a:xfrm>
          <a:prstGeom prst="rect">
            <a:avLst/>
          </a:prstGeom>
          <a:solidFill>
            <a:srgbClr val="E1E1E1"/>
          </a:solidFill>
          <a:ln/>
        </p:spPr>
      </p:sp>
      <p:sp>
        <p:nvSpPr>
          <p:cNvPr id="18" name="Shape 16"/>
          <p:cNvSpPr/>
          <p:nvPr/>
        </p:nvSpPr>
        <p:spPr>
          <a:xfrm>
            <a:off x="8046720" y="2011680"/>
            <a:ext cx="3520440" cy="64008"/>
          </a:xfrm>
          <a:prstGeom prst="rect">
            <a:avLst/>
          </a:prstGeom>
          <a:solidFill>
            <a:srgbClr val="B60000"/>
          </a:solidFill>
          <a:ln/>
        </p:spPr>
      </p:sp>
      <p:sp>
        <p:nvSpPr>
          <p:cNvPr id="19" name="Text 17"/>
          <p:cNvSpPr txBox="1"/>
          <p:nvPr/>
        </p:nvSpPr>
        <p:spPr>
          <a:xfrm>
            <a:off x="8321040" y="2331720"/>
            <a:ext cx="2971800" cy="822960"/>
          </a:xfrm>
          <a:prstGeom prst="rect">
            <a:avLst/>
          </a:prstGeom>
          <a:noFill/>
          <a:ln/>
        </p:spPr>
        <p:txBody>
          <a:bodyPr wrap="square" lIns="0" tIns="0" rIns="0" bIns="0" rtlCol="0" anchor="t"/>
          <a:lstStyle/>
          <a:p>
            <a:pPr indent="0" marL="0">
              <a:buNone/>
            </a:pPr>
            <a:r>
              <a:rPr lang="en-US" sz="2000" b="1" dirty="0">
                <a:solidFill>
                  <a:srgbClr val="0E0E0E"/>
                </a:solidFill>
                <a:latin typeface="Calibri" pitchFamily="34" charset="0"/>
                <a:ea typeface="Calibri" pitchFamily="34" charset="-122"/>
                <a:cs typeface="Calibri" pitchFamily="34" charset="-120"/>
              </a:rPr>
              <a:t>Models are stupid</a:t>
            </a:r>
            <a:endParaRPr lang="en-US" sz="2000" dirty="0"/>
          </a:p>
        </p:txBody>
      </p:sp>
      <p:sp>
        <p:nvSpPr>
          <p:cNvPr id="20" name="Text 18"/>
          <p:cNvSpPr txBox="1"/>
          <p:nvPr/>
        </p:nvSpPr>
        <p:spPr>
          <a:xfrm>
            <a:off x="8321040" y="3154680"/>
            <a:ext cx="2971800" cy="365760"/>
          </a:xfrm>
          <a:prstGeom prst="rect">
            <a:avLst/>
          </a:prstGeom>
          <a:noFill/>
          <a:ln/>
        </p:spPr>
        <p:txBody>
          <a:bodyPr wrap="square" lIns="0" tIns="0" rIns="0" bIns="0" rtlCol="0" anchor="ctr"/>
          <a:lstStyle/>
          <a:p>
            <a:pPr indent="0" marL="0">
              <a:buNone/>
            </a:pPr>
            <a:r>
              <a:rPr lang="en-US" sz="1400" b="1" dirty="0">
                <a:solidFill>
                  <a:srgbClr val="B60000"/>
                </a:solidFill>
                <a:latin typeface="Calibri" pitchFamily="34" charset="0"/>
                <a:ea typeface="Calibri" pitchFamily="34" charset="-122"/>
                <a:cs typeface="Calibri" pitchFamily="34" charset="-120"/>
              </a:rPr>
              <a:t>Smaldino (2017)</a:t>
            </a:r>
            <a:endParaRPr lang="en-US" sz="1400" dirty="0"/>
          </a:p>
        </p:txBody>
      </p:sp>
      <p:sp>
        <p:nvSpPr>
          <p:cNvPr id="21" name="Text 19"/>
          <p:cNvSpPr txBox="1"/>
          <p:nvPr/>
        </p:nvSpPr>
        <p:spPr>
          <a:xfrm>
            <a:off x="8321040" y="3611880"/>
            <a:ext cx="2971800" cy="1737360"/>
          </a:xfrm>
          <a:prstGeom prst="rect">
            <a:avLst/>
          </a:prstGeom>
          <a:noFill/>
          <a:ln/>
        </p:spPr>
        <p:txBody>
          <a:bodyPr wrap="square" lIns="0" tIns="0" rIns="0" bIns="0" rtlCol="0" anchor="t"/>
          <a:lstStyle/>
          <a:p>
            <a:pPr indent="0" marL="0">
              <a:lnSpc>
                <a:spcPct val="130000"/>
              </a:lnSpc>
              <a:buNone/>
            </a:pPr>
            <a:r>
              <a:rPr lang="en-US" sz="1500" dirty="0">
                <a:solidFill>
                  <a:srgbClr val="333333"/>
                </a:solidFill>
                <a:latin typeface="Calibri" pitchFamily="34" charset="0"/>
                <a:ea typeface="Calibri" pitchFamily="34" charset="-122"/>
                <a:cs typeface="Calibri" pitchFamily="34" charset="-120"/>
              </a:rPr>
              <a:t>The short case for simple, deliberately incomplete models as tools for thinking, written for social psychologists.</a:t>
            </a:r>
            <a:endParaRPr lang="en-US" sz="1500" dirty="0"/>
          </a:p>
        </p:txBody>
      </p:sp>
      <p:sp>
        <p:nvSpPr>
          <p:cNvPr id="22" name="Text 20"/>
          <p:cNvSpPr txBox="1"/>
          <p:nvPr/>
        </p:nvSpPr>
        <p:spPr>
          <a:xfrm>
            <a:off x="8321040" y="5486400"/>
            <a:ext cx="2971800" cy="320040"/>
          </a:xfrm>
          <a:prstGeom prst="rect">
            <a:avLst/>
          </a:prstGeom>
          <a:noFill/>
          <a:ln/>
        </p:spPr>
        <p:txBody>
          <a:bodyPr wrap="square" lIns="0" tIns="0" rIns="0" bIns="0" rtlCol="0" anchor="ctr"/>
          <a:lstStyle/>
          <a:p>
            <a:pPr indent="0" marL="0">
              <a:buNone/>
            </a:pPr>
            <a:r>
              <a:rPr lang="en-US" sz="1300" i="1" dirty="0">
                <a:solidFill>
                  <a:srgbClr val="333333"/>
                </a:solidFill>
                <a:latin typeface="Calibri" pitchFamily="34" charset="0"/>
                <a:ea typeface="Calibri" pitchFamily="34" charset="-122"/>
                <a:cs typeface="Calibri" pitchFamily="34" charset="-120"/>
              </a:rPr>
              <a:t>Computational Social Psychology</a:t>
            </a:r>
            <a:endParaRPr lang="en-US" sz="1300" dirty="0"/>
          </a:p>
        </p:txBody>
      </p:sp>
      <p:sp>
        <p:nvSpPr>
          <p:cNvPr id="23" name="Text 21"/>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44</a:t>
            </a:r>
            <a:endParaRPr lang="en-US" sz="1000" dirty="0"/>
          </a:p>
        </p:txBody>
      </p:sp>
      <p:pic>
        <p:nvPicPr>
          <p:cNvPr id="24"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50292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PART 05 · DISCUSSION · 18 MINUTES</a:t>
            </a:r>
            <a:endParaRPr lang="en-US" sz="1300" dirty="0"/>
          </a:p>
        </p:txBody>
      </p:sp>
      <p:sp>
        <p:nvSpPr>
          <p:cNvPr id="4" name="Text 2"/>
          <p:cNvSpPr txBox="1"/>
          <p:nvPr/>
        </p:nvSpPr>
        <p:spPr>
          <a:xfrm>
            <a:off x="640080" y="914400"/>
            <a:ext cx="10881360" cy="1005840"/>
          </a:xfrm>
          <a:prstGeom prst="rect">
            <a:avLst/>
          </a:prstGeom>
          <a:noFill/>
          <a:ln/>
        </p:spPr>
        <p:txBody>
          <a:bodyPr wrap="square" lIns="0" tIns="0" rIns="0" bIns="0" rtlCol="0" anchor="t"/>
          <a:lstStyle/>
          <a:p>
            <a:pPr indent="0" marL="0">
              <a:buNone/>
            </a:pPr>
            <a:r>
              <a:rPr lang="en-US" sz="3200" b="1" dirty="0">
                <a:solidFill>
                  <a:srgbClr val="0E0E0E"/>
                </a:solidFill>
                <a:latin typeface="Calibri" pitchFamily="34" charset="0"/>
                <a:ea typeface="Calibri" pitchFamily="34" charset="-122"/>
                <a:cs typeface="Calibri" pitchFamily="34" charset="-120"/>
              </a:rPr>
              <a:t>Back to your own designs</a:t>
            </a:r>
            <a:endParaRPr lang="en-US" sz="3200" dirty="0"/>
          </a:p>
        </p:txBody>
      </p:sp>
      <p:sp>
        <p:nvSpPr>
          <p:cNvPr id="5" name="Shape 3"/>
          <p:cNvSpPr/>
          <p:nvPr/>
        </p:nvSpPr>
        <p:spPr>
          <a:xfrm>
            <a:off x="640080" y="2331720"/>
            <a:ext cx="502920" cy="502920"/>
          </a:xfrm>
          <a:prstGeom prst="ellipse">
            <a:avLst/>
          </a:prstGeom>
          <a:solidFill>
            <a:srgbClr val="0E0E0E"/>
          </a:solidFill>
          <a:ln/>
        </p:spPr>
      </p:sp>
      <p:sp>
        <p:nvSpPr>
          <p:cNvPr id="6" name="Text 4"/>
          <p:cNvSpPr txBox="1"/>
          <p:nvPr/>
        </p:nvSpPr>
        <p:spPr>
          <a:xfrm>
            <a:off x="640080" y="2331720"/>
            <a:ext cx="502920" cy="502920"/>
          </a:xfrm>
          <a:prstGeom prst="rect">
            <a:avLst/>
          </a:prstGeom>
          <a:noFill/>
          <a:ln/>
        </p:spPr>
        <p:txBody>
          <a:bodyPr wrap="square" lIns="0" tIns="0" rIns="0" bIns="0" rtlCol="0" anchor="ctr"/>
          <a:lstStyle/>
          <a:p>
            <a:pPr algn="ctr" indent="0" marL="0">
              <a:buNone/>
            </a:pPr>
            <a:r>
              <a:rPr lang="en-US" sz="1800" b="1" dirty="0">
                <a:solidFill>
                  <a:srgbClr val="F2F2F2"/>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371600" y="2286000"/>
            <a:ext cx="9966960" cy="914400"/>
          </a:xfrm>
          <a:prstGeom prst="rect">
            <a:avLst/>
          </a:prstGeom>
          <a:noFill/>
          <a:ln/>
        </p:spPr>
        <p:txBody>
          <a:bodyPr wrap="square" lIns="0" tIns="0" rIns="0" bIns="0" rtlCol="0" anchor="ctr"/>
          <a:lstStyle/>
          <a:p>
            <a:pPr indent="0" marL="0">
              <a:lnSpc>
                <a:spcPct val="130000"/>
              </a:lnSpc>
              <a:buNone/>
            </a:pPr>
            <a:r>
              <a:rPr lang="en-US" sz="1800" dirty="0">
                <a:solidFill>
                  <a:srgbClr val="0E0E0E"/>
                </a:solidFill>
                <a:latin typeface="Calibri" pitchFamily="34" charset="0"/>
                <a:ea typeface="Calibri" pitchFamily="34" charset="-122"/>
                <a:cs typeface="Calibri" pitchFamily="34" charset="-120"/>
              </a:rPr>
              <a:t>For a theory you study with a cross-sectional or single-timepoint design, what would an agent-based model of it need to specify explicitly?</a:t>
            </a:r>
            <a:endParaRPr lang="en-US" sz="1800" dirty="0"/>
          </a:p>
        </p:txBody>
      </p:sp>
      <p:sp>
        <p:nvSpPr>
          <p:cNvPr id="8" name="Shape 6"/>
          <p:cNvSpPr/>
          <p:nvPr/>
        </p:nvSpPr>
        <p:spPr>
          <a:xfrm>
            <a:off x="640080" y="3566160"/>
            <a:ext cx="502920" cy="502920"/>
          </a:xfrm>
          <a:prstGeom prst="ellipse">
            <a:avLst/>
          </a:prstGeom>
          <a:solidFill>
            <a:srgbClr val="0E0E0E"/>
          </a:solidFill>
          <a:ln/>
        </p:spPr>
      </p:sp>
      <p:sp>
        <p:nvSpPr>
          <p:cNvPr id="9" name="Text 7"/>
          <p:cNvSpPr txBox="1"/>
          <p:nvPr/>
        </p:nvSpPr>
        <p:spPr>
          <a:xfrm>
            <a:off x="640080" y="3566160"/>
            <a:ext cx="502920" cy="502920"/>
          </a:xfrm>
          <a:prstGeom prst="rect">
            <a:avLst/>
          </a:prstGeom>
          <a:noFill/>
          <a:ln/>
        </p:spPr>
        <p:txBody>
          <a:bodyPr wrap="square" lIns="0" tIns="0" rIns="0" bIns="0" rtlCol="0" anchor="ctr"/>
          <a:lstStyle/>
          <a:p>
            <a:pPr algn="ctr" indent="0" marL="0">
              <a:buNone/>
            </a:pPr>
            <a:r>
              <a:rPr lang="en-US" sz="1800" b="1" dirty="0">
                <a:solidFill>
                  <a:srgbClr val="F2F2F2"/>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371600" y="3520440"/>
            <a:ext cx="9966960" cy="914400"/>
          </a:xfrm>
          <a:prstGeom prst="rect">
            <a:avLst/>
          </a:prstGeom>
          <a:noFill/>
          <a:ln/>
        </p:spPr>
        <p:txBody>
          <a:bodyPr wrap="square" lIns="0" tIns="0" rIns="0" bIns="0" rtlCol="0" anchor="ctr"/>
          <a:lstStyle/>
          <a:p>
            <a:pPr indent="0" marL="0">
              <a:lnSpc>
                <a:spcPct val="130000"/>
              </a:lnSpc>
              <a:buNone/>
            </a:pPr>
            <a:r>
              <a:rPr lang="en-US" sz="1800" dirty="0">
                <a:solidFill>
                  <a:srgbClr val="0E0E0E"/>
                </a:solidFill>
                <a:latin typeface="Calibri" pitchFamily="34" charset="0"/>
                <a:ea typeface="Calibri" pitchFamily="34" charset="-122"/>
                <a:cs typeface="Calibri" pitchFamily="34" charset="-120"/>
              </a:rPr>
              <a:t>When is empirical calibration necessary to persuade reviewers in your field, and when is an uncalibrated model sufficient?</a:t>
            </a:r>
            <a:endParaRPr lang="en-US" sz="1800" dirty="0"/>
          </a:p>
        </p:txBody>
      </p:sp>
      <p:sp>
        <p:nvSpPr>
          <p:cNvPr id="11" name="Shape 9"/>
          <p:cNvSpPr/>
          <p:nvPr/>
        </p:nvSpPr>
        <p:spPr>
          <a:xfrm>
            <a:off x="640080" y="4800600"/>
            <a:ext cx="502920" cy="502920"/>
          </a:xfrm>
          <a:prstGeom prst="ellipse">
            <a:avLst/>
          </a:prstGeom>
          <a:solidFill>
            <a:srgbClr val="0E0E0E"/>
          </a:solidFill>
          <a:ln/>
        </p:spPr>
      </p:sp>
      <p:sp>
        <p:nvSpPr>
          <p:cNvPr id="12" name="Text 10"/>
          <p:cNvSpPr txBox="1"/>
          <p:nvPr/>
        </p:nvSpPr>
        <p:spPr>
          <a:xfrm>
            <a:off x="640080" y="4800600"/>
            <a:ext cx="502920" cy="502920"/>
          </a:xfrm>
          <a:prstGeom prst="rect">
            <a:avLst/>
          </a:prstGeom>
          <a:noFill/>
          <a:ln/>
        </p:spPr>
        <p:txBody>
          <a:bodyPr wrap="square" lIns="0" tIns="0" rIns="0" bIns="0" rtlCol="0" anchor="ctr"/>
          <a:lstStyle/>
          <a:p>
            <a:pPr algn="ctr" indent="0" marL="0">
              <a:buNone/>
            </a:pPr>
            <a:r>
              <a:rPr lang="en-US" sz="1800" b="1" dirty="0">
                <a:solidFill>
                  <a:srgbClr val="F2F2F2"/>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371600" y="4754880"/>
            <a:ext cx="9966960" cy="914400"/>
          </a:xfrm>
          <a:prstGeom prst="rect">
            <a:avLst/>
          </a:prstGeom>
          <a:noFill/>
          <a:ln/>
        </p:spPr>
        <p:txBody>
          <a:bodyPr wrap="square" lIns="0" tIns="0" rIns="0" bIns="0" rtlCol="0" anchor="ctr"/>
          <a:lstStyle/>
          <a:p>
            <a:pPr indent="0" marL="0">
              <a:lnSpc>
                <a:spcPct val="130000"/>
              </a:lnSpc>
              <a:buNone/>
            </a:pPr>
            <a:r>
              <a:rPr lang="en-US" sz="1800" dirty="0">
                <a:solidFill>
                  <a:srgbClr val="0E0E0E"/>
                </a:solidFill>
                <a:latin typeface="Calibri" pitchFamily="34" charset="0"/>
                <a:ea typeface="Calibri" pitchFamily="34" charset="-122"/>
                <a:cs typeface="Calibri" pitchFamily="34" charset="-120"/>
              </a:rPr>
              <a:t>What would convince you a model's fit to a pattern reflects a real mechanism, not just enough free parameters?</a:t>
            </a:r>
            <a:endParaRPr lang="en-US" sz="1800" dirty="0"/>
          </a:p>
        </p:txBody>
      </p:sp>
      <p:sp>
        <p:nvSpPr>
          <p:cNvPr id="14" name="Text 12"/>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45</a:t>
            </a:r>
            <a:endParaRPr lang="en-US" sz="1000" dirty="0"/>
          </a:p>
        </p:txBody>
      </p:sp>
      <p:pic>
        <p:nvPicPr>
          <p:cNvPr id="15"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E0E0E"/>
        </a:solidFill>
      </p:bgPr>
    </p:bg>
    <p:spTree>
      <p:nvGrpSpPr>
        <p:cNvPr id="1" name=""/>
        <p:cNvGrpSpPr/>
        <p:nvPr/>
      </p:nvGrpSpPr>
      <p:grpSpPr>
        <a:xfrm>
          <a:off x="0" y="0"/>
          <a:ext cx="0" cy="0"/>
          <a:chOff x="0" y="0"/>
          <a:chExt cx="0" cy="0"/>
        </a:xfrm>
      </p:grpSpPr>
      <p:pic>
        <p:nvPicPr>
          <p:cNvPr id="2" name="Image 0" descr="assets/art_cover.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82296" cy="6858000"/>
          </a:xfrm>
          <a:prstGeom prst="rect">
            <a:avLst/>
          </a:prstGeom>
          <a:solidFill>
            <a:srgbClr val="B60000"/>
          </a:solidFill>
          <a:ln/>
        </p:spPr>
      </p:sp>
      <p:sp>
        <p:nvSpPr>
          <p:cNvPr id="4" name="Text 1"/>
          <p:cNvSpPr txBox="1"/>
          <p:nvPr/>
        </p:nvSpPr>
        <p:spPr>
          <a:xfrm>
            <a:off x="822960" y="1188720"/>
            <a:ext cx="10515600" cy="457200"/>
          </a:xfrm>
          <a:prstGeom prst="rect">
            <a:avLst/>
          </a:prstGeom>
          <a:noFill/>
          <a:ln/>
        </p:spPr>
        <p:txBody>
          <a:bodyPr wrap="square" lIns="0" tIns="0" rIns="0" bIns="0" rtlCol="0" anchor="ctr"/>
          <a:lstStyle/>
          <a:p>
            <a:pPr indent="0" marL="0">
              <a:buNone/>
            </a:pPr>
            <a:r>
              <a:rPr lang="en-US" sz="1500" b="1" spc="200" kern="0" dirty="0">
                <a:solidFill>
                  <a:srgbClr val="E1E1E1"/>
                </a:solidFill>
                <a:latin typeface="Calibri" pitchFamily="34" charset="0"/>
                <a:ea typeface="Calibri" pitchFamily="34" charset="-122"/>
                <a:cs typeface="Calibri" pitchFamily="34" charset="-120"/>
              </a:rPr>
              <a:t>THANK YOU</a:t>
            </a:r>
            <a:endParaRPr lang="en-US" sz="1500" dirty="0"/>
          </a:p>
        </p:txBody>
      </p:sp>
      <p:sp>
        <p:nvSpPr>
          <p:cNvPr id="5" name="Text 2"/>
          <p:cNvSpPr txBox="1"/>
          <p:nvPr/>
        </p:nvSpPr>
        <p:spPr>
          <a:xfrm>
            <a:off x="822960" y="1645920"/>
            <a:ext cx="10515600" cy="822960"/>
          </a:xfrm>
          <a:prstGeom prst="rect">
            <a:avLst/>
          </a:prstGeom>
          <a:noFill/>
          <a:ln/>
        </p:spPr>
        <p:txBody>
          <a:bodyPr wrap="square" lIns="0" tIns="0" rIns="0" bIns="0" rtlCol="0" anchor="ctr"/>
          <a:lstStyle/>
          <a:p>
            <a:pPr indent="0" marL="0">
              <a:buNone/>
            </a:pPr>
            <a:r>
              <a:rPr lang="en-US" sz="3400" b="1" dirty="0">
                <a:solidFill>
                  <a:srgbClr val="F2F2F2"/>
                </a:solidFill>
                <a:latin typeface="Calibri" pitchFamily="34" charset="0"/>
                <a:ea typeface="Calibri" pitchFamily="34" charset="-122"/>
                <a:cs typeface="Calibri" pitchFamily="34" charset="-120"/>
              </a:rPr>
              <a:t>Code, slides, and figures</a:t>
            </a:r>
            <a:endParaRPr lang="en-US" sz="3400" dirty="0"/>
          </a:p>
        </p:txBody>
      </p:sp>
      <p:sp>
        <p:nvSpPr>
          <p:cNvPr id="6" name="Text 3"/>
          <p:cNvSpPr txBox="1"/>
          <p:nvPr/>
        </p:nvSpPr>
        <p:spPr>
          <a:xfrm>
            <a:off x="822960" y="2651760"/>
            <a:ext cx="10515600" cy="457200"/>
          </a:xfrm>
          <a:prstGeom prst="rect">
            <a:avLst/>
          </a:prstGeom>
          <a:noFill/>
          <a:ln/>
        </p:spPr>
        <p:txBody>
          <a:bodyPr wrap="square" lIns="0" tIns="0" rIns="0" bIns="0" rtlCol="0" anchor="ctr"/>
          <a:lstStyle/>
          <a:p>
            <a:pPr indent="0" marL="0">
              <a:buNone/>
            </a:pPr>
            <a:r>
              <a:rPr lang="en-US" sz="1800" dirty="0">
                <a:solidFill>
                  <a:srgbClr val="E1E1E1"/>
                </a:solidFill>
                <a:latin typeface="Courier New" pitchFamily="34" charset="0"/>
                <a:ea typeface="Courier New" pitchFamily="34" charset="-122"/>
                <a:cs typeface="Courier New" pitchFamily="34" charset="-120"/>
              </a:rPr>
              <a:t>github.com/justmj/[repository-placeholder]</a:t>
            </a:r>
            <a:endParaRPr lang="en-US" sz="1800" dirty="0"/>
          </a:p>
        </p:txBody>
      </p:sp>
      <p:sp>
        <p:nvSpPr>
          <p:cNvPr id="7" name="Text 4"/>
          <p:cNvSpPr txBox="1"/>
          <p:nvPr/>
        </p:nvSpPr>
        <p:spPr>
          <a:xfrm>
            <a:off x="822960" y="3154680"/>
            <a:ext cx="10515600" cy="548640"/>
          </a:xfrm>
          <a:prstGeom prst="rect">
            <a:avLst/>
          </a:prstGeom>
          <a:noFill/>
          <a:ln/>
        </p:spPr>
        <p:txBody>
          <a:bodyPr wrap="square" lIns="0" tIns="0" rIns="0" bIns="0" rtlCol="0" anchor="ctr"/>
          <a:lstStyle/>
          <a:p>
            <a:pPr indent="0" marL="0">
              <a:buNone/>
            </a:pPr>
            <a:r>
              <a:rPr lang="en-US" sz="1400" dirty="0">
                <a:solidFill>
                  <a:srgbClr val="E1E1E1"/>
                </a:solidFill>
                <a:latin typeface="Calibri" pitchFamily="34" charset="0"/>
                <a:ea typeface="Calibri" pitchFamily="34" charset="-122"/>
                <a:cs typeface="Calibri" pitchFamily="34" charset="-120"/>
              </a:rPr>
              <a:t>Includes the four staged .nlogo files, an R port, a Python port, and a README for each.</a:t>
            </a:r>
            <a:endParaRPr lang="en-US" sz="1400" dirty="0"/>
          </a:p>
        </p:txBody>
      </p:sp>
      <p:sp>
        <p:nvSpPr>
          <p:cNvPr id="8" name="Shape 5"/>
          <p:cNvSpPr/>
          <p:nvPr/>
        </p:nvSpPr>
        <p:spPr>
          <a:xfrm>
            <a:off x="822960" y="3977640"/>
            <a:ext cx="5120640" cy="0"/>
          </a:xfrm>
          <a:prstGeom prst="line">
            <a:avLst/>
          </a:prstGeom>
          <a:noFill/>
          <a:ln w="12700">
            <a:solidFill>
              <a:srgbClr val="333333"/>
            </a:solidFill>
            <a:prstDash val="solid"/>
          </a:ln>
        </p:spPr>
      </p:sp>
      <p:sp>
        <p:nvSpPr>
          <p:cNvPr id="9" name="Text 6"/>
          <p:cNvSpPr txBox="1"/>
          <p:nvPr/>
        </p:nvSpPr>
        <p:spPr>
          <a:xfrm>
            <a:off x="822960" y="4206240"/>
            <a:ext cx="10515600" cy="411480"/>
          </a:xfrm>
          <a:prstGeom prst="rect">
            <a:avLst/>
          </a:prstGeom>
          <a:noFill/>
          <a:ln/>
        </p:spPr>
        <p:txBody>
          <a:bodyPr wrap="square" lIns="0" tIns="0" rIns="0" bIns="0" rtlCol="0" anchor="ctr"/>
          <a:lstStyle/>
          <a:p>
            <a:pPr indent="0" marL="0">
              <a:buNone/>
            </a:pPr>
            <a:r>
              <a:rPr lang="en-US" sz="1800" b="1" dirty="0">
                <a:solidFill>
                  <a:srgbClr val="F2F2F2"/>
                </a:solidFill>
                <a:latin typeface="Calibri" pitchFamily="34" charset="0"/>
                <a:ea typeface="Calibri" pitchFamily="34" charset="-122"/>
                <a:cs typeface="Calibri" pitchFamily="34" charset="-120"/>
              </a:rPr>
              <a:t>Justin M. Jones, Ph.D.</a:t>
            </a:r>
            <a:endParaRPr lang="en-US" sz="1800" dirty="0"/>
          </a:p>
        </p:txBody>
      </p:sp>
      <p:sp>
        <p:nvSpPr>
          <p:cNvPr id="10" name="Text 7"/>
          <p:cNvSpPr txBox="1"/>
          <p:nvPr/>
        </p:nvSpPr>
        <p:spPr>
          <a:xfrm>
            <a:off x="822960" y="4617720"/>
            <a:ext cx="10515600" cy="822960"/>
          </a:xfrm>
          <a:prstGeom prst="rect">
            <a:avLst/>
          </a:prstGeom>
          <a:noFill/>
          <a:ln/>
        </p:spPr>
        <p:txBody>
          <a:bodyPr wrap="square" lIns="0" tIns="0" rIns="0" bIns="0" rtlCol="0" anchor="ctr"/>
          <a:lstStyle/>
          <a:p>
            <a:pPr indent="0" marL="0">
              <a:lnSpc>
                <a:spcPct val="130000"/>
              </a:lnSpc>
              <a:buNone/>
            </a:pPr>
            <a:r>
              <a:rPr lang="en-US" sz="1450" dirty="0">
                <a:solidFill>
                  <a:srgbClr val="E1E1E1"/>
                </a:solidFill>
                <a:latin typeface="Calibri" pitchFamily="34" charset="0"/>
                <a:ea typeface="Calibri" pitchFamily="34" charset="-122"/>
                <a:cs typeface="Calibri" pitchFamily="34" charset="-120"/>
              </a:rPr>
              <a:t>Research Specialist, NCITE, University of Nebraska at Omaha</a:t>
            </a:r>
            <a:endParaRPr lang="en-US" sz="1450" dirty="0"/>
          </a:p>
          <a:p>
            <a:pPr indent="0" marL="0">
              <a:lnSpc>
                <a:spcPct val="130000"/>
              </a:lnSpc>
              <a:buNone/>
            </a:pPr>
            <a:r>
              <a:rPr lang="en-US" sz="1450" dirty="0">
                <a:solidFill>
                  <a:srgbClr val="E1E1E1"/>
                </a:solidFill>
                <a:latin typeface="Calibri" pitchFamily="34" charset="0"/>
                <a:ea typeface="Calibri" pitchFamily="34" charset="-122"/>
                <a:cs typeface="Calibri" pitchFamily="34" charset="-120"/>
              </a:rPr>
              <a:t>jjones188@unomaha.edu  ·  justmj.github.io</a:t>
            </a:r>
            <a:endParaRPr lang="en-US" sz="1450" dirty="0"/>
          </a:p>
        </p:txBody>
      </p:sp>
      <p:sp>
        <p:nvSpPr>
          <p:cNvPr id="11" name="Text 8"/>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E1E1E1"/>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E1E1E1"/>
                </a:solidFill>
                <a:latin typeface="Courier New" pitchFamily="34" charset="0"/>
                <a:ea typeface="Courier New" pitchFamily="34" charset="-122"/>
                <a:cs typeface="Courier New" pitchFamily="34" charset="-120"/>
              </a:rPr>
              <a:t>tick 46</a:t>
            </a:r>
            <a:endParaRPr lang="en-US" sz="1000" dirty="0"/>
          </a:p>
        </p:txBody>
      </p:sp>
      <p:pic>
        <p:nvPicPr>
          <p:cNvPr id="12" name="Image 1" descr="assets/ncite_logo_white.png">    </p:cNvPr>
          <p:cNvPicPr>
            <a:picLocks noChangeAspect="1"/>
          </p:cNvPicPr>
          <p:nvPr/>
        </p:nvPicPr>
        <p:blipFill>
          <a:blip r:embed="rId2"/>
          <a:stretch>
            <a:fillRect/>
          </a:stretch>
        </p:blipFill>
        <p:spPr>
          <a:xfrm>
            <a:off x="9789991" y="6400800"/>
            <a:ext cx="1990224" cy="31089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41148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REFERENCES (APA 7) · 1 OF 2</a:t>
            </a:r>
            <a:endParaRPr lang="en-US" sz="1300" dirty="0"/>
          </a:p>
        </p:txBody>
      </p:sp>
      <p:sp>
        <p:nvSpPr>
          <p:cNvPr id="4" name="Text 2"/>
          <p:cNvSpPr txBox="1"/>
          <p:nvPr/>
        </p:nvSpPr>
        <p:spPr>
          <a:xfrm>
            <a:off x="640080" y="868680"/>
            <a:ext cx="10881360" cy="5440680"/>
          </a:xfrm>
          <a:prstGeom prst="rect">
            <a:avLst/>
          </a:prstGeom>
          <a:noFill/>
          <a:ln/>
        </p:spPr>
        <p:txBody>
          <a:bodyPr wrap="square" lIns="0" tIns="0" rIns="0" bIns="0" rtlCol="0" anchor="t"/>
          <a:lstStyle/>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Cao, S., MacLaren, N. G., Cao, Y., Dong, Y., Sayama, H., Yammarino, F. J., Dionne, S. D., Mumford, M. D., Connelly, S., Martin, R., Standish, C. J., &amp; Newbo, T. R. (2020). An agent-based model of leader emergence and leadership perception within a collective.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Complexity, 2020</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 Article 6857891.</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Carley, K. M. (1992). Organizational learning and personnel turnover.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Organization Science, 3</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(1), 20-46.</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Deffuant, G., Neau, D., Amblard, F., &amp; Weisbuch, G. (2000). Mixing beliefs among interacting agents.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Advances in Complex Systems, 3</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 87-98.</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Dionne, S. D., Sayama, H., Hao, C., &amp; Bush, B. J. (2010). The role of leadership in shared mental model convergence and team performance improvement: An agent-based computational model.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The Leadership Quarterly, 21</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(6), 1035-1049.</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Epstein, J. M. (1999). Agent-based computational models and generative social science.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Complexity, 4</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(5), 41-60.</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Flache, A., &amp; Mäs, M. (2008). How to get the timing right: A computational model of the effects of the timing of contacts on team cohesion in demographically diverse teams.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Computational and Mathematical Organization Theory, 14</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(1), 23-51.</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Flache, A., Mäs, M., Feliciani, T., Chattoe-Brown, E., Deffuant, G., Huet, S., &amp; Lorenz, J. (2017). Models of social influence: Towards the next frontiers.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Journal of Artificial Societies and Social Simulation, 20</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(4), 2.</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Grand, J. A., Braun, M. T., Kuljanin, G., Kozlowski, S. W. J., &amp; Chao, G. T. (2016). The dynamics of team cognition: A process-oriented theory of knowledge emergence in teams.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Journal of Applied Psychology, 101</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(10), 1353-1385.</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Grimm, V., Railsback, S. F., Vincenot, C. E., Berger, U., Gallagher, C., DeAngelis, D. L., ... Ayllon, D. (2020). The ODD protocol for describing agent-based and other simulation models: A second update to improve clarity, replication, and structural realism.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Journal of Artificial Societies and Social Simulation, 23</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(2), 7.</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Kozlowski, S. W. J., Chao, G. T., Grand, J. A., Braun, M. T., &amp; Kuljanin, G. (2013). Advancing multilevel research design: Capturing the dynamics of emergence.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Organizational Research Methods, 16</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(4), 581-615.</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Kozlowski, S. W. J., Chao, G. T., Grand, J. A., Braun, M. T., &amp; Kuljanin, G. (2016). Capturing the multilevel dynamics of emergence: Computational modeling, simulation, and virtual experimentation.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Organizational Psychology Review, 6</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(1), 3-33.</a:t>
            </a:r>
            <a:endParaRPr lang="en-US" sz="1200" dirty="0"/>
          </a:p>
        </p:txBody>
      </p:sp>
      <p:sp>
        <p:nvSpPr>
          <p:cNvPr id="5" name="Text 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47</a:t>
            </a:r>
            <a:endParaRPr lang="en-US" sz="1000" dirty="0"/>
          </a:p>
        </p:txBody>
      </p:sp>
      <p:pic>
        <p:nvPicPr>
          <p:cNvPr id="6"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B60000"/>
          </a:solidFill>
          <a:ln/>
        </p:spPr>
      </p:sp>
      <p:sp>
        <p:nvSpPr>
          <p:cNvPr id="3" name="Text 1"/>
          <p:cNvSpPr txBox="1"/>
          <p:nvPr/>
        </p:nvSpPr>
        <p:spPr>
          <a:xfrm>
            <a:off x="640080" y="411480"/>
            <a:ext cx="10881360" cy="365760"/>
          </a:xfrm>
          <a:prstGeom prst="rect">
            <a:avLst/>
          </a:prstGeom>
          <a:noFill/>
          <a:ln/>
        </p:spPr>
        <p:txBody>
          <a:bodyPr wrap="square" lIns="0" tIns="0" rIns="0" bIns="0" rtlCol="0" anchor="ctr"/>
          <a:lstStyle/>
          <a:p>
            <a:pPr indent="0" marL="0">
              <a:buNone/>
            </a:pPr>
            <a:r>
              <a:rPr lang="en-US" sz="1300" b="1" spc="200" kern="0" dirty="0">
                <a:solidFill>
                  <a:srgbClr val="B60000"/>
                </a:solidFill>
                <a:latin typeface="Calibri" pitchFamily="34" charset="0"/>
                <a:ea typeface="Calibri" pitchFamily="34" charset="-122"/>
                <a:cs typeface="Calibri" pitchFamily="34" charset="-120"/>
              </a:rPr>
              <a:t>REFERENCES (APA 7) · 2 OF 2</a:t>
            </a:r>
            <a:endParaRPr lang="en-US" sz="1300" dirty="0"/>
          </a:p>
        </p:txBody>
      </p:sp>
      <p:sp>
        <p:nvSpPr>
          <p:cNvPr id="4" name="Text 2"/>
          <p:cNvSpPr txBox="1"/>
          <p:nvPr/>
        </p:nvSpPr>
        <p:spPr>
          <a:xfrm>
            <a:off x="640080" y="868680"/>
            <a:ext cx="10881360" cy="5440680"/>
          </a:xfrm>
          <a:prstGeom prst="rect">
            <a:avLst/>
          </a:prstGeom>
          <a:noFill/>
          <a:ln/>
        </p:spPr>
        <p:txBody>
          <a:bodyPr wrap="square" lIns="0" tIns="0" rIns="0" bIns="0" rtlCol="0" anchor="t"/>
          <a:lstStyle/>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Lazer, D., &amp; Friedman, A. (2007). The network structure of exploration and exploitation.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Administrative Science Quarterly, 52</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(4), 667-694.</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Levinthal, D. A. (1997). Adaptation on rugged landscapes.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Management Science, 43</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(7), 934-950.</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March, J. G. (1991). Exploration and exploitation in organizational learning.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Organization Science, 2</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(1), 71-87.</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Mäs, M., Flache, A., Takács, K., &amp; Jehn, K. A. (2013). In the short term we divide, in the long term we unite: Demographic crisscrossing and the effects of faultlines on subgroup polarization.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Organization Science, 24</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(3), 716-736.</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Rivkin, J. W., &amp; Siggelkow, N. (2003). Balancing search and stability: Interdependencies among elements of organizational design.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Management Science, 49</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(3), 290-311.</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Smaldino, P. E. (2017). Models are stupid, and we need more of them. In R. R. Vallacher, S. J. Read, &amp; A. Nowak (Eds.),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Computational social psychology</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 (pp. 311-331). Psychology Press.</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Smaldino, P. E. (n.d.).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Models of social dynamics: An introductory module</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 [Online tutorial]. Cultural Evolution Society. https://learn.culturalevolutionsociety.org/social_dynamics_module/</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Smith, E. R., &amp; Conrey, F. R. (2007). Agent-based modeling: A new approach for theory building in social psychology.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Personality and Social Psychology Review, 11</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(1), 87-104.</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Tarakci, M., Greer, L. L., &amp; Groenen, P. J. F. (2016). When does power disparity help or hurt group performance?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Journal of Applied Psychology, 101</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(3), 415-429.</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Vancouver, J. B., &amp; Weinhardt, J. M. (2012). Modeling the mind and the milieu: Computational modeling for micro-level organizational researchers.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Organizational Research Methods, 15</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(4), 602-623.</a:t>
            </a:r>
            <a:endParaRPr lang="en-US" sz="1200" dirty="0"/>
          </a:p>
          <a:p>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Vancouver, J. B., Weinhardt, J. M., &amp; Schmidt, A. M. (2010). A formal, computational theory of multiple-goal pursuit: Integrating goal-choice and goal-striving processes. </a:t>
            </a:r>
            <a:pPr indent="0" marL="0">
              <a:lnSpc>
                <a:spcPct val="110000"/>
              </a:lnSpc>
              <a:spcAft>
                <a:spcPts val="600"/>
              </a:spcAft>
              <a:buNone/>
            </a:pPr>
            <a:r>
              <a:rPr lang="en-US" sz="1200" i="1" dirty="0">
                <a:solidFill>
                  <a:srgbClr val="0E0E0E"/>
                </a:solidFill>
                <a:latin typeface="Times New Roman" pitchFamily="34" charset="0"/>
                <a:ea typeface="Times New Roman" pitchFamily="34" charset="-122"/>
                <a:cs typeface="Times New Roman" pitchFamily="34" charset="-120"/>
              </a:rPr>
              <a:t>Journal of Applied Psychology, 95</a:t>
            </a:r>
            <a:pPr indent="0" marL="0">
              <a:lnSpc>
                <a:spcPct val="110000"/>
              </a:lnSpc>
              <a:spcAft>
                <a:spcPts val="600"/>
              </a:spcAft>
              <a:buNone/>
            </a:pPr>
            <a:r>
              <a:rPr lang="en-US" sz="1200" dirty="0">
                <a:solidFill>
                  <a:srgbClr val="0E0E0E"/>
                </a:solidFill>
                <a:latin typeface="Times New Roman" pitchFamily="34" charset="0"/>
                <a:ea typeface="Times New Roman" pitchFamily="34" charset="-122"/>
                <a:cs typeface="Times New Roman" pitchFamily="34" charset="-120"/>
              </a:rPr>
              <a:t>(6), 985-1008.</a:t>
            </a:r>
            <a:endParaRPr lang="en-US" sz="1200" dirty="0"/>
          </a:p>
        </p:txBody>
      </p:sp>
      <p:sp>
        <p:nvSpPr>
          <p:cNvPr id="5" name="Text 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INGroup Method Seminar    </a:t>
            </a:r>
            <a:pPr indent="0" marL="0">
              <a:buNone/>
            </a:pPr>
            <a:r>
              <a:rPr lang="en-US" sz="1000" dirty="0">
                <a:solidFill>
                  <a:srgbClr val="B60000"/>
                </a:solidFill>
                <a:latin typeface="Calibri" pitchFamily="34" charset="0"/>
                <a:ea typeface="Calibri" pitchFamily="34" charset="-122"/>
                <a:cs typeface="Calibri" pitchFamily="34" charset="-120"/>
              </a:rPr>
              <a:t>● </a:t>
            </a:r>
            <a:pPr indent="0" marL="0">
              <a:buNone/>
            </a:pPr>
            <a:r>
              <a:rPr lang="en-US" sz="1000" dirty="0">
                <a:solidFill>
                  <a:srgbClr val="333333"/>
                </a:solidFill>
                <a:latin typeface="Courier New" pitchFamily="34" charset="0"/>
                <a:ea typeface="Courier New" pitchFamily="34" charset="-122"/>
                <a:cs typeface="Courier New" pitchFamily="34" charset="-120"/>
              </a:rPr>
              <a:t>tick 48</a:t>
            </a:r>
            <a:endParaRPr lang="en-US" sz="1000" dirty="0"/>
          </a:p>
        </p:txBody>
      </p:sp>
      <p:pic>
        <p:nvPicPr>
          <p:cNvPr id="6" name="Image 0" descr="assets/ncite_logo.png">    </p:cNvPr>
          <p:cNvPicPr>
            <a:picLocks noChangeAspect="1"/>
          </p:cNvPicPr>
          <p:nvPr/>
        </p:nvPicPr>
        <p:blipFill>
          <a:blip r:embed="rId1"/>
          <a:stretch>
            <a:fillRect/>
          </a:stretch>
        </p:blipFill>
        <p:spPr>
          <a:xfrm>
            <a:off x="9789991" y="6400800"/>
            <a:ext cx="1990224" cy="3108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2026-10-13T02:25:10Z</dcterms:created>
  <dcterms:modified xsi:type="dcterms:W3CDTF">2026-10-13T02:25:10Z</dcterms:modified>
</cp:coreProperties>
</file>