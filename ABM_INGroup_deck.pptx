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301" r:id="rId40"/>
    <p:sldId id="302" r:id="rId41"/>
    <p:sldId id="303" r:id="rId4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29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stin Jones" userId="dadafd40-be56-4ed4-9609-74a70bffdab6" providerId="ADAL" clId="{2CA5228B-DA80-5FA4-84C3-5AE2C43375C1}"/>
    <pc:docChg chg="undo custSel delSld modSld">
      <pc:chgData name="Justin Jones" userId="dadafd40-be56-4ed4-9609-74a70bffdab6" providerId="ADAL" clId="{2CA5228B-DA80-5FA4-84C3-5AE2C43375C1}" dt="2026-10-29T21:13:54.364" v="19" actId="2696"/>
      <pc:docMkLst>
        <pc:docMk/>
      </pc:docMkLst>
      <pc:sldChg chg="delSp mod">
        <pc:chgData name="Justin Jones" userId="dadafd40-be56-4ed4-9609-74a70bffdab6" providerId="ADAL" clId="{2CA5228B-DA80-5FA4-84C3-5AE2C43375C1}" dt="2026-10-29T21:11:46.031" v="0" actId="478"/>
        <pc:sldMkLst>
          <pc:docMk/>
          <pc:sldMk cId="0" sldId="259"/>
        </pc:sldMkLst>
        <pc:spChg chg="del">
          <ac:chgData name="Justin Jones" userId="dadafd40-be56-4ed4-9609-74a70bffdab6" providerId="ADAL" clId="{2CA5228B-DA80-5FA4-84C3-5AE2C43375C1}" dt="2026-10-29T21:11:46.031" v="0" actId="478"/>
          <ac:spMkLst>
            <pc:docMk/>
            <pc:sldMk cId="0" sldId="259"/>
            <ac:spMk id="7" creationId="{00000000-0000-0000-0000-000000000000}"/>
          </ac:spMkLst>
        </pc:spChg>
      </pc:sldChg>
      <pc:sldChg chg="modSp mod">
        <pc:chgData name="Justin Jones" userId="dadafd40-be56-4ed4-9609-74a70bffdab6" providerId="ADAL" clId="{2CA5228B-DA80-5FA4-84C3-5AE2C43375C1}" dt="2026-10-29T21:13:14.039" v="12" actId="20577"/>
        <pc:sldMkLst>
          <pc:docMk/>
          <pc:sldMk cId="0" sldId="285"/>
        </pc:sldMkLst>
        <pc:spChg chg="mod">
          <ac:chgData name="Justin Jones" userId="dadafd40-be56-4ed4-9609-74a70bffdab6" providerId="ADAL" clId="{2CA5228B-DA80-5FA4-84C3-5AE2C43375C1}" dt="2026-10-29T21:13:14.039" v="12" actId="20577"/>
          <ac:spMkLst>
            <pc:docMk/>
            <pc:sldMk cId="0" sldId="285"/>
            <ac:spMk id="4" creationId="{00000000-0000-0000-0000-000000000000}"/>
          </ac:spMkLst>
        </pc:spChg>
      </pc:sldChg>
      <pc:sldChg chg="del">
        <pc:chgData name="Justin Jones" userId="dadafd40-be56-4ed4-9609-74a70bffdab6" providerId="ADAL" clId="{2CA5228B-DA80-5FA4-84C3-5AE2C43375C1}" dt="2026-10-29T21:13:40.925" v="13" actId="2696"/>
        <pc:sldMkLst>
          <pc:docMk/>
          <pc:sldMk cId="0" sldId="294"/>
        </pc:sldMkLst>
      </pc:sldChg>
      <pc:sldChg chg="del">
        <pc:chgData name="Justin Jones" userId="dadafd40-be56-4ed4-9609-74a70bffdab6" providerId="ADAL" clId="{2CA5228B-DA80-5FA4-84C3-5AE2C43375C1}" dt="2026-10-29T21:13:40.941" v="17" actId="2696"/>
        <pc:sldMkLst>
          <pc:docMk/>
          <pc:sldMk cId="0" sldId="295"/>
        </pc:sldMkLst>
      </pc:sldChg>
      <pc:sldChg chg="del">
        <pc:chgData name="Justin Jones" userId="dadafd40-be56-4ed4-9609-74a70bffdab6" providerId="ADAL" clId="{2CA5228B-DA80-5FA4-84C3-5AE2C43375C1}" dt="2026-10-29T21:13:40.929" v="15" actId="2696"/>
        <pc:sldMkLst>
          <pc:docMk/>
          <pc:sldMk cId="0" sldId="296"/>
        </pc:sldMkLst>
      </pc:sldChg>
      <pc:sldChg chg="del">
        <pc:chgData name="Justin Jones" userId="dadafd40-be56-4ed4-9609-74a70bffdab6" providerId="ADAL" clId="{2CA5228B-DA80-5FA4-84C3-5AE2C43375C1}" dt="2026-10-29T21:13:40.928" v="14" actId="2696"/>
        <pc:sldMkLst>
          <pc:docMk/>
          <pc:sldMk cId="0" sldId="297"/>
        </pc:sldMkLst>
      </pc:sldChg>
      <pc:sldChg chg="del">
        <pc:chgData name="Justin Jones" userId="dadafd40-be56-4ed4-9609-74a70bffdab6" providerId="ADAL" clId="{2CA5228B-DA80-5FA4-84C3-5AE2C43375C1}" dt="2026-10-29T21:13:40.930" v="16" actId="2696"/>
        <pc:sldMkLst>
          <pc:docMk/>
          <pc:sldMk cId="0" sldId="298"/>
        </pc:sldMkLst>
      </pc:sldChg>
      <pc:sldChg chg="del">
        <pc:chgData name="Justin Jones" userId="dadafd40-be56-4ed4-9609-74a70bffdab6" providerId="ADAL" clId="{2CA5228B-DA80-5FA4-84C3-5AE2C43375C1}" dt="2026-10-29T21:13:49.974" v="18" actId="2696"/>
        <pc:sldMkLst>
          <pc:docMk/>
          <pc:sldMk cId="0" sldId="299"/>
        </pc:sldMkLst>
      </pc:sldChg>
      <pc:sldChg chg="del">
        <pc:chgData name="Justin Jones" userId="dadafd40-be56-4ed4-9609-74a70bffdab6" providerId="ADAL" clId="{2CA5228B-DA80-5FA4-84C3-5AE2C43375C1}" dt="2026-10-29T21:13:54.364" v="19" actId="2696"/>
        <pc:sldMkLst>
          <pc:docMk/>
          <pc:sldMk cId="0" sldId="30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5168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20s] Welcome attendees as they join. State the title and affiliation once the room has settled, and note that slides will be shared afterward along with the code repository, so no one needs to transcribe anything during the live demonstrations.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Walk through the five blocks at a glance without reading every word on screen. Flag up front that the same model gets built incrementally across the build-and-sweep block, so attendees are not tracking four unrelated demos.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One sentence: we start with the mismatch between the theories this room writes and the designs it runs.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90s] Name this tension directly, using language attendees already use in their own papers: emergence, bottom-up processes, path dependence. Point out that almost none of that language survives contact with a cross-sectional design, and that this gap, not a general enthusiasm for computation, is the reason to spend ninety minutes on ABM.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Move through the mapping quickly, letting the last row land as the session's organizing claim stated plainly for the first time on screen. Everything for the next seventy minutes elaborates this one idea.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foundational citation for the whole session's logic and was on the pre-reading, so treat it as a callback rather than new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This paper is written by people this audience already reads, in the audience's own journal, making the same argument the session has just made. Let that land as corroboration rather than repetition.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same group's applied follow-through on the 2013 paradigm paper, and it sets up Grand et al. (2016) in the anatomy block, which is the model this program produced. Verify the one-sentence summary against the abstract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The red agent is the unit of analysis; everything else on the slide is what a model has to specify about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State plainly that none of these six is exotic. Every one of them is a decision attendees make, at least implicitly, whenever they write a specific theoretical claim rather than a vague 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75s] Walk the sentence apart live. This example is drawn loosely from process-oriented theories of team knowledge emergence such as Grand and colleagues' work, cited on the next slide, where the theoretical claim already implies most of a model's components before anyone writes a line of code.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Point back to the previous slide's worked example; this is the kind of theory that example was standing in for, made concrete and computational.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50s] Read this as the six-part anatomy in a published teams model: members are the agents, expertise and interest are attributes, opinion sharing and evaluation are the rules, and the leadership network is the environment. It also previews Stage 4, where network structure becomes a parameter.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Bridge line into the live build: the fastest way to find out whether a favorite theory actually holds together is to try to write it down precisely enough for a machine to run it, which is exactly what happens for the next forty minutes.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before the live build. Switch screens to NetLogo after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Switch to the pre-built stage1.nlogo file. Do not type this live; reveal it already open and press setup, then go. Narrate the rule once in one sentence before pressing go.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outcome is the same every run, which is the point: it establishes the baseline before Stage 2 introduces the threshold that makes the outcome genuinely uncertain and history-dependent.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Run the high-threshold version first as a callback to Stage 1, then the low-threshold version from the same seed. The side-by-side contrast is the entire teaching point of this stage.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Keep this slide up while the second run plays out on the shared NetLogo window, so attendees can hold both conditions in mind at once.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Every line is one agent's opinion over time. Point out the flat, permanent lines on the left once fragmentation happens; there is no mechanism in this model for a cluster to later re-merge, which is itself a modeling assumption worth naming.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50s] This slide is the pivot of the whole session: everything before it built the model, everything after it treats the model's output the way attendees already treat any other dataset.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Show this configuration dialog live for a few seconds on the actual BehaviorSpace window, but do not run it: 300 runs is too slow for a video call, and the output is already on the next slide as a pre-generated figure.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50s] This is a real run of the threshold-sweep experiment above, not an illustration. Note where the curve is steepest, around threshold 0.05 to 0.15, and connect that back to the two demonstration values just shown live.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55s] State the square-root relationship once in plain language, then immediately point back at the previous slide's error bars as the concrete referent, so the equation is not left floating in the abstract.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sweep-and-replicate logic applied to a different, individual-level substantive area, useful for any attendee whose interest is motivation rather than teams specifically.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Two changes from Stage 2, both straight from the teams literature: influence now depends on demographic similarity as well as opinion similarity, and sufficiently dissimilar teammates push each other apart instead of being ignored. Opinions here are three issues, not one. The negative-influence step is the same move Smaldino's Unit 3 uses to get from clustering to polarization.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Same sixteen members and the same rule in all three panels; only the alignment of demographics and the timing of contact change. Red and gray are the two subgroups. Point at the middle panel as the faultline prediction made mechanical, then at the right panel as the counterintuitive timing result from Flache and Mäs: let subteams settle internally first and the later merger no longer polarizes.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model Stage 3 simplifies. For anyone studying diversity or faultlines, it is the clearest example in the teams literature of an ABM generating a design recommendation, about sequencing contact, that a cross-sectional study could not have produced.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35s] This is the riskiest live segment. Have the two pre-recorded clips ready and cut to them if the layout algorithm or the shared screen lags; narrate over the recording rather than waiting on a live render.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Keep this general rather than citing specifics of the prior SNA seminar, which this session was not present for; the point stands regardless of exactly what that seminar covered.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55s] Color encodes final opinion on a continuous scale from gray to red; darker islands in the ring lattice are visible local consensus, and the shortcuts on the right are what pull otherwise-separate regions of the ring into eventual agreement.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Stage 4's lesson at the scale of organizations: structure is not neutral plumbing. It also connects forward to the NK-landscape application in a few minutes.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The demos are over; this block is about what reviewers will ask.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A model can be perfectly verified and still invalid, and the reverse is rarer but possible too. Keep the two questions visibly separate rather than letting them blur into one general notion of a model being good.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The bounded-confidence model built today is the abstract case throughout: it was never calibrated to a specific dataset, and that is a legitimate, common choice, not a shortcut, as long as it is stated plainly in the write-up.</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Name today's model's own unchecked assumption honestly: the fixed convergence rate mu was never swept in the demonstrations, which is exactly the kind of thing sensitivity analysis exists to catch before publication.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When reviewing an ABM manuscript as a referee, this protocol is a legitimate checklist to ask for explicitly if a submission's methods section is vague about any of its three sections.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55s] State the objection in one sentence before opening it to the room as the third discussion prompt later: a sufficiently flexible model can reproduce nearly any pattern, so fit to a target pattern alone is not evidence the mechanism is right.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15s] Confirm the repository link will be live and emailed to the INGroup list within a day or two, since attendees install nothing during the session itself.</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0s] Leave the references on screen briefly at the very end and note they will also be in the emailed slide deck, since no one should be transcribing a reference list in real time.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0s] Second half of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E0E"/>
        </a:solidFill>
        <a:effectLst/>
      </p:bgPr>
    </p:bg>
    <p:spTree>
      <p:nvGrpSpPr>
        <p:cNvPr id="1" name=""/>
        <p:cNvGrpSpPr/>
        <p:nvPr/>
      </p:nvGrpSpPr>
      <p:grpSpPr>
        <a:xfrm>
          <a:off x="0" y="0"/>
          <a:ext cx="0" cy="0"/>
          <a:chOff x="0" y="0"/>
          <a:chExt cx="0" cy="0"/>
        </a:xfrm>
      </p:grpSpPr>
      <p:pic>
        <p:nvPicPr>
          <p:cNvPr id="2" name="Image 0" descr="assets/art_cover.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txBody>
          <a:bodyPr/>
          <a:lstStyle/>
          <a:p>
            <a:endParaRPr lang="en-US"/>
          </a:p>
        </p:txBody>
      </p:sp>
      <p:sp>
        <p:nvSpPr>
          <p:cNvPr id="4" name="Text 1"/>
          <p:cNvSpPr txBox="1"/>
          <p:nvPr/>
        </p:nvSpPr>
        <p:spPr>
          <a:xfrm>
            <a:off x="822960" y="1828800"/>
            <a:ext cx="10515600" cy="457200"/>
          </a:xfrm>
          <a:prstGeom prst="rect">
            <a:avLst/>
          </a:prstGeom>
          <a:noFill/>
          <a:ln/>
        </p:spPr>
        <p:txBody>
          <a:bodyPr wrap="square" lIns="0" tIns="0" rIns="0" bIns="0" rtlCol="0" anchor="ctr"/>
          <a:lstStyle/>
          <a:p>
            <a:pPr marL="0" indent="0">
              <a:buNone/>
            </a:pPr>
            <a:r>
              <a:rPr lang="en-US" sz="1500" b="1" kern="0" spc="200" dirty="0">
                <a:solidFill>
                  <a:srgbClr val="E1E1E1"/>
                </a:solidFill>
                <a:latin typeface="Calibri" pitchFamily="34" charset="0"/>
                <a:ea typeface="Calibri" pitchFamily="34" charset="-122"/>
                <a:cs typeface="Calibri" pitchFamily="34" charset="-120"/>
              </a:rPr>
              <a:t>INGROUP METHOD SEMINAR · OCTOBER 2026</a:t>
            </a:r>
            <a:endParaRPr lang="en-US" sz="1500" dirty="0"/>
          </a:p>
        </p:txBody>
      </p:sp>
      <p:sp>
        <p:nvSpPr>
          <p:cNvPr id="5" name="Text 2"/>
          <p:cNvSpPr txBox="1"/>
          <p:nvPr/>
        </p:nvSpPr>
        <p:spPr>
          <a:xfrm>
            <a:off x="822960" y="2331720"/>
            <a:ext cx="10515600" cy="2103120"/>
          </a:xfrm>
          <a:prstGeom prst="rect">
            <a:avLst/>
          </a:prstGeom>
          <a:noFill/>
          <a:ln/>
        </p:spPr>
        <p:txBody>
          <a:bodyPr wrap="square" lIns="0" tIns="0" rIns="0" bIns="0" rtlCol="0" anchor="ctr"/>
          <a:lstStyle/>
          <a:p>
            <a:pPr marL="0" indent="0">
              <a:lnSpc>
                <a:spcPct val="105000"/>
              </a:lnSpc>
              <a:buNone/>
            </a:pPr>
            <a:r>
              <a:rPr lang="en-US" sz="4600" b="1" dirty="0">
                <a:solidFill>
                  <a:srgbClr val="F2F2F2"/>
                </a:solidFill>
                <a:latin typeface="Calibri" pitchFamily="34" charset="0"/>
                <a:ea typeface="Calibri" pitchFamily="34" charset="-122"/>
                <a:cs typeface="Calibri" pitchFamily="34" charset="-120"/>
              </a:rPr>
              <a:t>Agent-Based Modeling for</a:t>
            </a:r>
            <a:endParaRPr lang="en-US" sz="4600" dirty="0"/>
          </a:p>
          <a:p>
            <a:pPr marL="0" indent="0">
              <a:lnSpc>
                <a:spcPct val="105000"/>
              </a:lnSpc>
              <a:buNone/>
            </a:pPr>
            <a:r>
              <a:rPr lang="en-US" sz="4600" b="1" dirty="0">
                <a:solidFill>
                  <a:srgbClr val="F2F2F2"/>
                </a:solidFill>
                <a:latin typeface="Calibri" pitchFamily="34" charset="0"/>
                <a:ea typeface="Calibri" pitchFamily="34" charset="-122"/>
                <a:cs typeface="Calibri" pitchFamily="34" charset="-120"/>
              </a:rPr>
              <a:t>Group and Team Research</a:t>
            </a:r>
            <a:endParaRPr lang="en-US" sz="4600" dirty="0"/>
          </a:p>
        </p:txBody>
      </p:sp>
      <p:sp>
        <p:nvSpPr>
          <p:cNvPr id="6" name="Text 3"/>
          <p:cNvSpPr txBox="1"/>
          <p:nvPr/>
        </p:nvSpPr>
        <p:spPr>
          <a:xfrm>
            <a:off x="822960" y="4709160"/>
            <a:ext cx="10515600" cy="457200"/>
          </a:xfrm>
          <a:prstGeom prst="rect">
            <a:avLst/>
          </a:prstGeom>
          <a:noFill/>
          <a:ln/>
        </p:spPr>
        <p:txBody>
          <a:bodyPr wrap="square" lIns="0" tIns="0" rIns="0" bIns="0" rtlCol="0" anchor="ctr"/>
          <a:lstStyle/>
          <a:p>
            <a:pPr marL="0" indent="0">
              <a:buNone/>
            </a:pPr>
            <a:r>
              <a:rPr lang="en-US" sz="2000" b="1" dirty="0">
                <a:solidFill>
                  <a:srgbClr val="F2F2F2"/>
                </a:solidFill>
                <a:latin typeface="Calibri" pitchFamily="34" charset="0"/>
                <a:ea typeface="Calibri" pitchFamily="34" charset="-122"/>
                <a:cs typeface="Calibri" pitchFamily="34" charset="-120"/>
              </a:rPr>
              <a:t>Justin M. Jones, Ph.D.</a:t>
            </a:r>
            <a:endParaRPr lang="en-US" sz="2000" dirty="0"/>
          </a:p>
        </p:txBody>
      </p:sp>
      <p:sp>
        <p:nvSpPr>
          <p:cNvPr id="7" name="Text 4"/>
          <p:cNvSpPr txBox="1"/>
          <p:nvPr/>
        </p:nvSpPr>
        <p:spPr>
          <a:xfrm>
            <a:off x="822960" y="5166360"/>
            <a:ext cx="10515600" cy="640080"/>
          </a:xfrm>
          <a:prstGeom prst="rect">
            <a:avLst/>
          </a:prstGeom>
          <a:noFill/>
          <a:ln/>
        </p:spPr>
        <p:txBody>
          <a:bodyPr wrap="square" lIns="0" tIns="0" rIns="0" bIns="0" rtlCol="0" anchor="ctr"/>
          <a:lstStyle/>
          <a:p>
            <a:pPr marL="0" indent="0">
              <a:lnSpc>
                <a:spcPct val="120000"/>
              </a:lnSpc>
              <a:buNone/>
            </a:pPr>
            <a:r>
              <a:rPr lang="en-US" sz="1500" dirty="0">
                <a:solidFill>
                  <a:srgbClr val="E1E1E1"/>
                </a:solidFill>
                <a:latin typeface="Calibri" pitchFamily="34" charset="0"/>
                <a:ea typeface="Calibri" pitchFamily="34" charset="-122"/>
                <a:cs typeface="Calibri" pitchFamily="34" charset="-120"/>
              </a:rPr>
              <a:t>National Counterterrorism Innovation, Technology, and Education Center (NCITE)</a:t>
            </a:r>
            <a:endParaRPr lang="en-US" sz="1500" dirty="0"/>
          </a:p>
          <a:p>
            <a:pPr marL="0" indent="0">
              <a:lnSpc>
                <a:spcPct val="120000"/>
              </a:lnSpc>
              <a:buNone/>
            </a:pPr>
            <a:r>
              <a:rPr lang="en-US" sz="1500" dirty="0">
                <a:solidFill>
                  <a:srgbClr val="E1E1E1"/>
                </a:solidFill>
                <a:latin typeface="Calibri" pitchFamily="34" charset="0"/>
                <a:ea typeface="Calibri" pitchFamily="34" charset="-122"/>
                <a:cs typeface="Calibri" pitchFamily="34" charset="-120"/>
              </a:rPr>
              <a:t>University of Nebraska at Omaha</a:t>
            </a:r>
            <a:endParaRPr lang="en-US" sz="1500" dirty="0"/>
          </a:p>
        </p:txBody>
      </p:sp>
      <p:sp>
        <p:nvSpPr>
          <p:cNvPr id="8" name="Shape 5"/>
          <p:cNvSpPr/>
          <p:nvPr/>
        </p:nvSpPr>
        <p:spPr>
          <a:xfrm>
            <a:off x="822960" y="5989320"/>
            <a:ext cx="5120640" cy="0"/>
          </a:xfrm>
          <a:prstGeom prst="line">
            <a:avLst/>
          </a:prstGeom>
          <a:noFill/>
          <a:ln w="12700">
            <a:solidFill>
              <a:srgbClr val="333333"/>
            </a:solidFill>
            <a:prstDash val="solid"/>
          </a:ln>
        </p:spPr>
        <p:txBody>
          <a:bodyPr/>
          <a:lstStyle/>
          <a:p>
            <a:endParaRPr lang="en-US"/>
          </a:p>
        </p:txBody>
      </p:sp>
      <p:pic>
        <p:nvPicPr>
          <p:cNvPr id="9" name="Image 1" descr="assets/ncite_logo_white.png"/>
          <p:cNvPicPr>
            <a:picLocks noChangeAspect="1"/>
          </p:cNvPicPr>
          <p:nvPr/>
        </p:nvPicPr>
        <p:blipFill>
          <a:blip r:embed="rId4"/>
          <a:stretch>
            <a:fillRect/>
          </a:stretch>
        </p:blipFill>
        <p:spPr>
          <a:xfrm>
            <a:off x="822960" y="6172200"/>
            <a:ext cx="29268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ROADMAP</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Ninety minutes, four moves, one model</a:t>
            </a:r>
            <a:endParaRPr lang="en-US" sz="3400" dirty="0"/>
          </a:p>
        </p:txBody>
      </p:sp>
      <p:sp>
        <p:nvSpPr>
          <p:cNvPr id="5" name="Shape 3"/>
          <p:cNvSpPr/>
          <p:nvPr/>
        </p:nvSpPr>
        <p:spPr>
          <a:xfrm>
            <a:off x="1682496" y="2011680"/>
            <a:ext cx="8778240" cy="0"/>
          </a:xfrm>
          <a:prstGeom prst="line">
            <a:avLst/>
          </a:prstGeom>
          <a:noFill/>
          <a:ln w="19050">
            <a:solidFill>
              <a:srgbClr val="333333"/>
            </a:solidFill>
            <a:prstDash val="solid"/>
          </a:ln>
        </p:spPr>
        <p:txBody>
          <a:bodyPr/>
          <a:lstStyle/>
          <a:p>
            <a:endParaRPr lang="en-US"/>
          </a:p>
        </p:txBody>
      </p:sp>
      <p:sp>
        <p:nvSpPr>
          <p:cNvPr id="6" name="Shape 4"/>
          <p:cNvSpPr/>
          <p:nvPr/>
        </p:nvSpPr>
        <p:spPr>
          <a:xfrm>
            <a:off x="1563624" y="1892808"/>
            <a:ext cx="237744" cy="237744"/>
          </a:xfrm>
          <a:prstGeom prst="ellipse">
            <a:avLst/>
          </a:prstGeom>
          <a:solidFill>
            <a:srgbClr val="B60000"/>
          </a:solidFill>
          <a:ln w="25400">
            <a:solidFill>
              <a:srgbClr val="F2F2F2"/>
            </a:solidFill>
            <a:prstDash val="solid"/>
          </a:ln>
        </p:spPr>
        <p:txBody>
          <a:bodyPr/>
          <a:lstStyle/>
          <a:p>
            <a:endParaRPr lang="en-US"/>
          </a:p>
        </p:txBody>
      </p:sp>
      <p:sp>
        <p:nvSpPr>
          <p:cNvPr id="7" name="Shape 5"/>
          <p:cNvSpPr/>
          <p:nvPr/>
        </p:nvSpPr>
        <p:spPr>
          <a:xfrm>
            <a:off x="640080" y="2331720"/>
            <a:ext cx="2084832" cy="3291840"/>
          </a:xfrm>
          <a:prstGeom prst="rect">
            <a:avLst/>
          </a:prstGeom>
          <a:solidFill>
            <a:srgbClr val="E1E1E1"/>
          </a:solidFill>
          <a:ln/>
        </p:spPr>
        <p:txBody>
          <a:bodyPr/>
          <a:lstStyle/>
          <a:p>
            <a:endParaRPr lang="en-US"/>
          </a:p>
        </p:txBody>
      </p:sp>
      <p:sp>
        <p:nvSpPr>
          <p:cNvPr id="8" name="Text 6"/>
          <p:cNvSpPr txBox="1"/>
          <p:nvPr/>
        </p:nvSpPr>
        <p:spPr>
          <a:xfrm>
            <a:off x="804672" y="2532888"/>
            <a:ext cx="1755648" cy="365760"/>
          </a:xfrm>
          <a:prstGeom prst="rect">
            <a:avLst/>
          </a:prstGeom>
          <a:noFill/>
          <a:ln/>
        </p:spPr>
        <p:txBody>
          <a:bodyPr wrap="square" lIns="0" tIns="0" rIns="0" bIns="0" rtlCol="0" anchor="ctr"/>
          <a:lstStyle/>
          <a:p>
            <a:pPr marL="0" indent="0">
              <a:buNone/>
            </a:pPr>
            <a:r>
              <a:rPr lang="en-US" sz="1300" b="1" dirty="0">
                <a:solidFill>
                  <a:srgbClr val="B60000"/>
                </a:solidFill>
                <a:latin typeface="Calibri" pitchFamily="34" charset="0"/>
                <a:ea typeface="Calibri" pitchFamily="34" charset="-122"/>
                <a:cs typeface="Calibri" pitchFamily="34" charset="-120"/>
              </a:rPr>
              <a:t>9:00</a:t>
            </a:r>
            <a:endParaRPr lang="en-US" sz="1300" dirty="0"/>
          </a:p>
        </p:txBody>
      </p:sp>
      <p:sp>
        <p:nvSpPr>
          <p:cNvPr id="9" name="Text 7"/>
          <p:cNvSpPr txBox="1"/>
          <p:nvPr/>
        </p:nvSpPr>
        <p:spPr>
          <a:xfrm>
            <a:off x="804672" y="2898648"/>
            <a:ext cx="1755648" cy="6400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Reframe</a:t>
            </a:r>
            <a:endParaRPr lang="en-US" sz="1900" dirty="0"/>
          </a:p>
        </p:txBody>
      </p:sp>
      <p:sp>
        <p:nvSpPr>
          <p:cNvPr id="10" name="Text 8"/>
          <p:cNvSpPr txBox="1"/>
          <p:nvPr/>
        </p:nvSpPr>
        <p:spPr>
          <a:xfrm>
            <a:off x="804672" y="3566160"/>
            <a:ext cx="1755648" cy="1920240"/>
          </a:xfrm>
          <a:prstGeom prst="rect">
            <a:avLst/>
          </a:prstGeom>
          <a:noFill/>
          <a:ln/>
        </p:spPr>
        <p:txBody>
          <a:bodyPr wrap="square" lIns="0" tIns="0" rIns="0" bIns="0" rtlCol="0" anchor="ctr"/>
          <a:lstStyle/>
          <a:p>
            <a:pPr marL="0" indent="0">
              <a:lnSpc>
                <a:spcPct val="125000"/>
              </a:lnSpc>
              <a:buNone/>
            </a:pPr>
            <a:r>
              <a:rPr lang="en-US" sz="1250" dirty="0">
                <a:solidFill>
                  <a:srgbClr val="333333"/>
                </a:solidFill>
                <a:latin typeface="Calibri" pitchFamily="34" charset="0"/>
                <a:ea typeface="Calibri" pitchFamily="34" charset="-122"/>
                <a:cs typeface="Calibri" pitchFamily="34" charset="-120"/>
              </a:rPr>
              <a:t>ABM as a data generating process; the theory-method mismatch it addresses</a:t>
            </a:r>
            <a:endParaRPr lang="en-US" sz="1250" dirty="0"/>
          </a:p>
        </p:txBody>
      </p:sp>
      <p:sp>
        <p:nvSpPr>
          <p:cNvPr id="11" name="Shape 9"/>
          <p:cNvSpPr/>
          <p:nvPr/>
        </p:nvSpPr>
        <p:spPr>
          <a:xfrm>
            <a:off x="3758184" y="1892808"/>
            <a:ext cx="237744" cy="237744"/>
          </a:xfrm>
          <a:prstGeom prst="ellipse">
            <a:avLst/>
          </a:prstGeom>
          <a:solidFill>
            <a:srgbClr val="0E0E0E"/>
          </a:solidFill>
          <a:ln w="25400">
            <a:solidFill>
              <a:srgbClr val="F2F2F2"/>
            </a:solidFill>
            <a:prstDash val="solid"/>
          </a:ln>
        </p:spPr>
        <p:txBody>
          <a:bodyPr/>
          <a:lstStyle/>
          <a:p>
            <a:endParaRPr lang="en-US"/>
          </a:p>
        </p:txBody>
      </p:sp>
      <p:sp>
        <p:nvSpPr>
          <p:cNvPr id="12" name="Shape 10"/>
          <p:cNvSpPr/>
          <p:nvPr/>
        </p:nvSpPr>
        <p:spPr>
          <a:xfrm>
            <a:off x="2834640" y="2331720"/>
            <a:ext cx="2084832" cy="3291840"/>
          </a:xfrm>
          <a:prstGeom prst="rect">
            <a:avLst/>
          </a:prstGeom>
          <a:solidFill>
            <a:srgbClr val="E1E1E1"/>
          </a:solidFill>
          <a:ln/>
        </p:spPr>
        <p:txBody>
          <a:bodyPr/>
          <a:lstStyle/>
          <a:p>
            <a:endParaRPr lang="en-US"/>
          </a:p>
        </p:txBody>
      </p:sp>
      <p:sp>
        <p:nvSpPr>
          <p:cNvPr id="13" name="Text 11"/>
          <p:cNvSpPr txBox="1"/>
          <p:nvPr/>
        </p:nvSpPr>
        <p:spPr>
          <a:xfrm>
            <a:off x="2999232" y="2532888"/>
            <a:ext cx="1755648" cy="365760"/>
          </a:xfrm>
          <a:prstGeom prst="rect">
            <a:avLst/>
          </a:prstGeom>
          <a:noFill/>
          <a:ln/>
        </p:spPr>
        <p:txBody>
          <a:bodyPr wrap="square" lIns="0" tIns="0" rIns="0" bIns="0" rtlCol="0" anchor="ctr"/>
          <a:lstStyle/>
          <a:p>
            <a:pPr marL="0" indent="0">
              <a:buNone/>
            </a:pPr>
            <a:r>
              <a:rPr lang="en-US" sz="1300" b="1" dirty="0">
                <a:solidFill>
                  <a:srgbClr val="B60000"/>
                </a:solidFill>
                <a:latin typeface="Calibri" pitchFamily="34" charset="0"/>
                <a:ea typeface="Calibri" pitchFamily="34" charset="-122"/>
                <a:cs typeface="Calibri" pitchFamily="34" charset="-120"/>
              </a:rPr>
              <a:t>9:12</a:t>
            </a:r>
            <a:endParaRPr lang="en-US" sz="1300" dirty="0"/>
          </a:p>
        </p:txBody>
      </p:sp>
      <p:sp>
        <p:nvSpPr>
          <p:cNvPr id="14" name="Text 12"/>
          <p:cNvSpPr txBox="1"/>
          <p:nvPr/>
        </p:nvSpPr>
        <p:spPr>
          <a:xfrm>
            <a:off x="2999232" y="2898648"/>
            <a:ext cx="1755648" cy="6400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Anatomy</a:t>
            </a:r>
            <a:endParaRPr lang="en-US" sz="1900" dirty="0"/>
          </a:p>
        </p:txBody>
      </p:sp>
      <p:sp>
        <p:nvSpPr>
          <p:cNvPr id="15" name="Text 13"/>
          <p:cNvSpPr txBox="1"/>
          <p:nvPr/>
        </p:nvSpPr>
        <p:spPr>
          <a:xfrm>
            <a:off x="2999232" y="3566160"/>
            <a:ext cx="1755648" cy="1920240"/>
          </a:xfrm>
          <a:prstGeom prst="rect">
            <a:avLst/>
          </a:prstGeom>
          <a:noFill/>
          <a:ln/>
        </p:spPr>
        <p:txBody>
          <a:bodyPr wrap="square" lIns="0" tIns="0" rIns="0" bIns="0" rtlCol="0" anchor="ctr"/>
          <a:lstStyle/>
          <a:p>
            <a:pPr marL="0" indent="0">
              <a:lnSpc>
                <a:spcPct val="125000"/>
              </a:lnSpc>
              <a:buNone/>
            </a:pPr>
            <a:r>
              <a:rPr lang="en-US" sz="1250" dirty="0">
                <a:solidFill>
                  <a:srgbClr val="333333"/>
                </a:solidFill>
                <a:latin typeface="Calibri" pitchFamily="34" charset="0"/>
                <a:ea typeface="Calibri" pitchFamily="34" charset="-122"/>
                <a:cs typeface="Calibri" pitchFamily="34" charset="-120"/>
              </a:rPr>
              <a:t>Agents, rules, environment, time, and stochasticity as formalized verbal theory</a:t>
            </a:r>
            <a:endParaRPr lang="en-US" sz="1250" dirty="0"/>
          </a:p>
        </p:txBody>
      </p:sp>
      <p:sp>
        <p:nvSpPr>
          <p:cNvPr id="16" name="Shape 14"/>
          <p:cNvSpPr/>
          <p:nvPr/>
        </p:nvSpPr>
        <p:spPr>
          <a:xfrm>
            <a:off x="5952744" y="1892808"/>
            <a:ext cx="237744" cy="237744"/>
          </a:xfrm>
          <a:prstGeom prst="ellipse">
            <a:avLst/>
          </a:prstGeom>
          <a:solidFill>
            <a:srgbClr val="0E0E0E"/>
          </a:solidFill>
          <a:ln w="25400">
            <a:solidFill>
              <a:srgbClr val="F2F2F2"/>
            </a:solidFill>
            <a:prstDash val="solid"/>
          </a:ln>
        </p:spPr>
        <p:txBody>
          <a:bodyPr/>
          <a:lstStyle/>
          <a:p>
            <a:endParaRPr lang="en-US"/>
          </a:p>
        </p:txBody>
      </p:sp>
      <p:sp>
        <p:nvSpPr>
          <p:cNvPr id="17" name="Shape 15"/>
          <p:cNvSpPr/>
          <p:nvPr/>
        </p:nvSpPr>
        <p:spPr>
          <a:xfrm>
            <a:off x="5029200" y="2331720"/>
            <a:ext cx="2084832" cy="3291840"/>
          </a:xfrm>
          <a:prstGeom prst="rect">
            <a:avLst/>
          </a:prstGeom>
          <a:solidFill>
            <a:srgbClr val="E1E1E1"/>
          </a:solidFill>
          <a:ln/>
        </p:spPr>
        <p:txBody>
          <a:bodyPr/>
          <a:lstStyle/>
          <a:p>
            <a:endParaRPr lang="en-US"/>
          </a:p>
        </p:txBody>
      </p:sp>
      <p:sp>
        <p:nvSpPr>
          <p:cNvPr id="18" name="Text 16"/>
          <p:cNvSpPr txBox="1"/>
          <p:nvPr/>
        </p:nvSpPr>
        <p:spPr>
          <a:xfrm>
            <a:off x="5193792" y="2532888"/>
            <a:ext cx="1755648" cy="365760"/>
          </a:xfrm>
          <a:prstGeom prst="rect">
            <a:avLst/>
          </a:prstGeom>
          <a:noFill/>
          <a:ln/>
        </p:spPr>
        <p:txBody>
          <a:bodyPr wrap="square" lIns="0" tIns="0" rIns="0" bIns="0" rtlCol="0" anchor="ctr"/>
          <a:lstStyle/>
          <a:p>
            <a:pPr marL="0" indent="0">
              <a:buNone/>
            </a:pPr>
            <a:r>
              <a:rPr lang="en-US" sz="1300" b="1" dirty="0">
                <a:solidFill>
                  <a:srgbClr val="B60000"/>
                </a:solidFill>
                <a:latin typeface="Calibri" pitchFamily="34" charset="0"/>
                <a:ea typeface="Calibri" pitchFamily="34" charset="-122"/>
                <a:cs typeface="Calibri" pitchFamily="34" charset="-120"/>
              </a:rPr>
              <a:t>9:20</a:t>
            </a:r>
            <a:endParaRPr lang="en-US" sz="1300" dirty="0"/>
          </a:p>
        </p:txBody>
      </p:sp>
      <p:sp>
        <p:nvSpPr>
          <p:cNvPr id="19" name="Text 17"/>
          <p:cNvSpPr txBox="1"/>
          <p:nvPr/>
        </p:nvSpPr>
        <p:spPr>
          <a:xfrm>
            <a:off x="5193792" y="2898648"/>
            <a:ext cx="1755648" cy="6400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Build &amp; sweep</a:t>
            </a:r>
            <a:endParaRPr lang="en-US" sz="1900" dirty="0"/>
          </a:p>
        </p:txBody>
      </p:sp>
      <p:sp>
        <p:nvSpPr>
          <p:cNvPr id="20" name="Text 18"/>
          <p:cNvSpPr txBox="1"/>
          <p:nvPr/>
        </p:nvSpPr>
        <p:spPr>
          <a:xfrm>
            <a:off x="5193792" y="3566160"/>
            <a:ext cx="1755648" cy="1920240"/>
          </a:xfrm>
          <a:prstGeom prst="rect">
            <a:avLst/>
          </a:prstGeom>
          <a:noFill/>
          <a:ln/>
        </p:spPr>
        <p:txBody>
          <a:bodyPr wrap="square" lIns="0" tIns="0" rIns="0" bIns="0" rtlCol="0" anchor="ctr"/>
          <a:lstStyle/>
          <a:p>
            <a:pPr marL="0" indent="0">
              <a:lnSpc>
                <a:spcPct val="125000"/>
              </a:lnSpc>
              <a:buNone/>
            </a:pPr>
            <a:r>
              <a:rPr lang="en-US" sz="1250" dirty="0">
                <a:solidFill>
                  <a:srgbClr val="333333"/>
                </a:solidFill>
                <a:latin typeface="Calibri" pitchFamily="34" charset="0"/>
                <a:ea typeface="Calibri" pitchFamily="34" charset="-122"/>
                <a:cs typeface="Calibri" pitchFamily="34" charset="-120"/>
              </a:rPr>
              <a:t>One model, four stages, live; a parameter sweep as a factorial design</a:t>
            </a:r>
            <a:endParaRPr lang="en-US" sz="1250" dirty="0"/>
          </a:p>
        </p:txBody>
      </p:sp>
      <p:sp>
        <p:nvSpPr>
          <p:cNvPr id="21" name="Shape 19"/>
          <p:cNvSpPr/>
          <p:nvPr/>
        </p:nvSpPr>
        <p:spPr>
          <a:xfrm>
            <a:off x="8147304" y="1892808"/>
            <a:ext cx="237744" cy="237744"/>
          </a:xfrm>
          <a:prstGeom prst="ellipse">
            <a:avLst/>
          </a:prstGeom>
          <a:solidFill>
            <a:srgbClr val="0E0E0E"/>
          </a:solidFill>
          <a:ln w="25400">
            <a:solidFill>
              <a:srgbClr val="F2F2F2"/>
            </a:solidFill>
            <a:prstDash val="solid"/>
          </a:ln>
        </p:spPr>
        <p:txBody>
          <a:bodyPr/>
          <a:lstStyle/>
          <a:p>
            <a:endParaRPr lang="en-US"/>
          </a:p>
        </p:txBody>
      </p:sp>
      <p:sp>
        <p:nvSpPr>
          <p:cNvPr id="22" name="Shape 20"/>
          <p:cNvSpPr/>
          <p:nvPr/>
        </p:nvSpPr>
        <p:spPr>
          <a:xfrm>
            <a:off x="7223760" y="2331720"/>
            <a:ext cx="2084832" cy="3291840"/>
          </a:xfrm>
          <a:prstGeom prst="rect">
            <a:avLst/>
          </a:prstGeom>
          <a:solidFill>
            <a:srgbClr val="E1E1E1"/>
          </a:solidFill>
          <a:ln/>
        </p:spPr>
        <p:txBody>
          <a:bodyPr/>
          <a:lstStyle/>
          <a:p>
            <a:endParaRPr lang="en-US"/>
          </a:p>
        </p:txBody>
      </p:sp>
      <p:sp>
        <p:nvSpPr>
          <p:cNvPr id="23" name="Text 21"/>
          <p:cNvSpPr txBox="1"/>
          <p:nvPr/>
        </p:nvSpPr>
        <p:spPr>
          <a:xfrm>
            <a:off x="7388352" y="2532888"/>
            <a:ext cx="1755648" cy="365760"/>
          </a:xfrm>
          <a:prstGeom prst="rect">
            <a:avLst/>
          </a:prstGeom>
          <a:noFill/>
          <a:ln/>
        </p:spPr>
        <p:txBody>
          <a:bodyPr wrap="square" lIns="0" tIns="0" rIns="0" bIns="0" rtlCol="0" anchor="ctr"/>
          <a:lstStyle/>
          <a:p>
            <a:pPr marL="0" indent="0">
              <a:buNone/>
            </a:pPr>
            <a:r>
              <a:rPr lang="en-US" sz="1300" b="1" dirty="0">
                <a:solidFill>
                  <a:srgbClr val="B60000"/>
                </a:solidFill>
                <a:latin typeface="Calibri" pitchFamily="34" charset="0"/>
                <a:ea typeface="Calibri" pitchFamily="34" charset="-122"/>
                <a:cs typeface="Calibri" pitchFamily="34" charset="-120"/>
              </a:rPr>
              <a:t>10:00</a:t>
            </a:r>
            <a:endParaRPr lang="en-US" sz="1300" dirty="0"/>
          </a:p>
        </p:txBody>
      </p:sp>
      <p:sp>
        <p:nvSpPr>
          <p:cNvPr id="24" name="Text 22"/>
          <p:cNvSpPr txBox="1"/>
          <p:nvPr/>
        </p:nvSpPr>
        <p:spPr>
          <a:xfrm>
            <a:off x="7388352" y="2898648"/>
            <a:ext cx="1755648" cy="6400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Standards &amp; limits</a:t>
            </a:r>
            <a:endParaRPr lang="en-US" sz="1900" dirty="0"/>
          </a:p>
        </p:txBody>
      </p:sp>
      <p:sp>
        <p:nvSpPr>
          <p:cNvPr id="25" name="Text 23"/>
          <p:cNvSpPr txBox="1"/>
          <p:nvPr/>
        </p:nvSpPr>
        <p:spPr>
          <a:xfrm>
            <a:off x="7388352" y="3566160"/>
            <a:ext cx="1755648" cy="1920240"/>
          </a:xfrm>
          <a:prstGeom prst="rect">
            <a:avLst/>
          </a:prstGeom>
          <a:noFill/>
          <a:ln/>
        </p:spPr>
        <p:txBody>
          <a:bodyPr wrap="square" lIns="0" tIns="0" rIns="0" bIns="0" rtlCol="0" anchor="ctr"/>
          <a:lstStyle/>
          <a:p>
            <a:pPr marL="0" indent="0">
              <a:lnSpc>
                <a:spcPct val="125000"/>
              </a:lnSpc>
              <a:buNone/>
            </a:pPr>
            <a:r>
              <a:rPr lang="en-US" sz="1250" dirty="0">
                <a:solidFill>
                  <a:srgbClr val="333333"/>
                </a:solidFill>
                <a:latin typeface="Calibri" pitchFamily="34" charset="0"/>
                <a:ea typeface="Calibri" pitchFamily="34" charset="-122"/>
                <a:cs typeface="Calibri" pitchFamily="34" charset="-120"/>
              </a:rPr>
              <a:t>Verification, validation, ODD, and the honest critique of simulation</a:t>
            </a:r>
            <a:endParaRPr lang="en-US" sz="1250" dirty="0"/>
          </a:p>
        </p:txBody>
      </p:sp>
      <p:sp>
        <p:nvSpPr>
          <p:cNvPr id="26" name="Shape 24"/>
          <p:cNvSpPr/>
          <p:nvPr/>
        </p:nvSpPr>
        <p:spPr>
          <a:xfrm>
            <a:off x="10341864" y="1892808"/>
            <a:ext cx="237744" cy="237744"/>
          </a:xfrm>
          <a:prstGeom prst="ellipse">
            <a:avLst/>
          </a:prstGeom>
          <a:solidFill>
            <a:srgbClr val="0E0E0E"/>
          </a:solidFill>
          <a:ln w="25400">
            <a:solidFill>
              <a:srgbClr val="F2F2F2"/>
            </a:solidFill>
            <a:prstDash val="solid"/>
          </a:ln>
        </p:spPr>
        <p:txBody>
          <a:bodyPr/>
          <a:lstStyle/>
          <a:p>
            <a:endParaRPr lang="en-US"/>
          </a:p>
        </p:txBody>
      </p:sp>
      <p:sp>
        <p:nvSpPr>
          <p:cNvPr id="27" name="Shape 25"/>
          <p:cNvSpPr/>
          <p:nvPr/>
        </p:nvSpPr>
        <p:spPr>
          <a:xfrm>
            <a:off x="9418320" y="2331720"/>
            <a:ext cx="2084832" cy="3291840"/>
          </a:xfrm>
          <a:prstGeom prst="rect">
            <a:avLst/>
          </a:prstGeom>
          <a:solidFill>
            <a:srgbClr val="E1E1E1"/>
          </a:solidFill>
          <a:ln/>
        </p:spPr>
        <p:txBody>
          <a:bodyPr/>
          <a:lstStyle/>
          <a:p>
            <a:endParaRPr lang="en-US"/>
          </a:p>
        </p:txBody>
      </p:sp>
      <p:sp>
        <p:nvSpPr>
          <p:cNvPr id="28" name="Text 26"/>
          <p:cNvSpPr txBox="1"/>
          <p:nvPr/>
        </p:nvSpPr>
        <p:spPr>
          <a:xfrm>
            <a:off x="9582912" y="2532888"/>
            <a:ext cx="1755648" cy="365760"/>
          </a:xfrm>
          <a:prstGeom prst="rect">
            <a:avLst/>
          </a:prstGeom>
          <a:noFill/>
          <a:ln/>
        </p:spPr>
        <p:txBody>
          <a:bodyPr wrap="square" lIns="0" tIns="0" rIns="0" bIns="0" rtlCol="0" anchor="ctr"/>
          <a:lstStyle/>
          <a:p>
            <a:pPr marL="0" indent="0">
              <a:buNone/>
            </a:pPr>
            <a:r>
              <a:rPr lang="en-US" sz="1300" b="1" dirty="0">
                <a:solidFill>
                  <a:srgbClr val="B60000"/>
                </a:solidFill>
                <a:latin typeface="Calibri" pitchFamily="34" charset="0"/>
                <a:ea typeface="Calibri" pitchFamily="34" charset="-122"/>
                <a:cs typeface="Calibri" pitchFamily="34" charset="-120"/>
              </a:rPr>
              <a:t>10:12</a:t>
            </a:r>
            <a:endParaRPr lang="en-US" sz="1300" dirty="0"/>
          </a:p>
        </p:txBody>
      </p:sp>
      <p:sp>
        <p:nvSpPr>
          <p:cNvPr id="29" name="Text 27"/>
          <p:cNvSpPr txBox="1"/>
          <p:nvPr/>
        </p:nvSpPr>
        <p:spPr>
          <a:xfrm>
            <a:off x="9582912" y="2898648"/>
            <a:ext cx="1755648" cy="6400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Discussion</a:t>
            </a:r>
            <a:endParaRPr lang="en-US" sz="1900" dirty="0"/>
          </a:p>
        </p:txBody>
      </p:sp>
      <p:sp>
        <p:nvSpPr>
          <p:cNvPr id="30" name="Text 28"/>
          <p:cNvSpPr txBox="1"/>
          <p:nvPr/>
        </p:nvSpPr>
        <p:spPr>
          <a:xfrm>
            <a:off x="9582912" y="3566160"/>
            <a:ext cx="1755648" cy="1920240"/>
          </a:xfrm>
          <a:prstGeom prst="rect">
            <a:avLst/>
          </a:prstGeom>
          <a:noFill/>
          <a:ln/>
        </p:spPr>
        <p:txBody>
          <a:bodyPr wrap="square" lIns="0" tIns="0" rIns="0" bIns="0" rtlCol="0" anchor="ctr"/>
          <a:lstStyle/>
          <a:p>
            <a:pPr marL="0" indent="0">
              <a:lnSpc>
                <a:spcPct val="125000"/>
              </a:lnSpc>
              <a:buNone/>
            </a:pPr>
            <a:r>
              <a:rPr lang="en-US" sz="1250" dirty="0">
                <a:solidFill>
                  <a:srgbClr val="333333"/>
                </a:solidFill>
                <a:latin typeface="Calibri" pitchFamily="34" charset="0"/>
                <a:ea typeface="Calibri" pitchFamily="34" charset="-122"/>
                <a:cs typeface="Calibri" pitchFamily="34" charset="-120"/>
              </a:rPr>
              <a:t>Eighteen minutes on your own designs, seeded by three questions sent in advance</a:t>
            </a:r>
            <a:endParaRPr lang="en-US" sz="1250" dirty="0"/>
          </a:p>
        </p:txBody>
      </p:sp>
      <p:sp>
        <p:nvSpPr>
          <p:cNvPr id="31" name="Text 29"/>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02</a:t>
            </a:r>
            <a:endParaRPr lang="en-US" sz="1000" dirty="0"/>
          </a:p>
        </p:txBody>
      </p:sp>
      <p:pic>
        <p:nvPicPr>
          <p:cNvPr id="32"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0E0E"/>
        </a:solidFill>
        <a:effectLst/>
      </p:bgPr>
    </p:bg>
    <p:spTree>
      <p:nvGrpSpPr>
        <p:cNvPr id="1" name=""/>
        <p:cNvGrpSpPr/>
        <p:nvPr/>
      </p:nvGrpSpPr>
      <p:grpSpPr>
        <a:xfrm>
          <a:off x="0" y="0"/>
          <a:ext cx="0" cy="0"/>
          <a:chOff x="0" y="0"/>
          <a:chExt cx="0" cy="0"/>
        </a:xfrm>
      </p:grpSpPr>
      <p:pic>
        <p:nvPicPr>
          <p:cNvPr id="2" name="Image 0" descr="assets/art_reframe.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txBody>
          <a:bodyPr/>
          <a:lstStyle/>
          <a:p>
            <a:endParaRPr lang="en-US"/>
          </a:p>
        </p:txBody>
      </p:sp>
      <p:sp>
        <p:nvSpPr>
          <p:cNvPr id="4" name="Text 1"/>
          <p:cNvSpPr txBox="1"/>
          <p:nvPr/>
        </p:nvSpPr>
        <p:spPr>
          <a:xfrm>
            <a:off x="731520" y="685800"/>
            <a:ext cx="4572000" cy="1737360"/>
          </a:xfrm>
          <a:prstGeom prst="rect">
            <a:avLst/>
          </a:prstGeom>
          <a:noFill/>
          <a:ln/>
        </p:spPr>
        <p:txBody>
          <a:bodyPr wrap="square" lIns="0" tIns="0" rIns="0" bIns="0" rtlCol="0" anchor="ctr"/>
          <a:lstStyle/>
          <a:p>
            <a:pPr marL="0" indent="0">
              <a:buNone/>
            </a:pPr>
            <a:r>
              <a:rPr lang="en-US" sz="13200" b="1" dirty="0">
                <a:solidFill>
                  <a:srgbClr val="333333"/>
                </a:solidFill>
                <a:latin typeface="Calibri" pitchFamily="34" charset="0"/>
                <a:ea typeface="Calibri" pitchFamily="34" charset="-122"/>
                <a:cs typeface="Calibri" pitchFamily="34" charset="-120"/>
              </a:rPr>
              <a:t>01</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marL="0" indent="0">
              <a:buNone/>
            </a:pPr>
            <a:r>
              <a:rPr lang="en-US" sz="1400" b="1" kern="0" spc="300" dirty="0">
                <a:solidFill>
                  <a:srgbClr val="E1E1E1"/>
                </a:solidFill>
                <a:latin typeface="Calibri" pitchFamily="34" charset="0"/>
                <a:ea typeface="Calibri" pitchFamily="34" charset="-122"/>
                <a:cs typeface="Calibri" pitchFamily="34" charset="-120"/>
              </a:rPr>
              <a:t>PART 01 · REFRAME</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marL="0" indent="0">
              <a:lnSpc>
                <a:spcPct val="100000"/>
              </a:lnSpc>
              <a:buNone/>
            </a:pPr>
            <a:r>
              <a:rPr lang="en-US" sz="4200" b="1" dirty="0">
                <a:solidFill>
                  <a:srgbClr val="F2F2F2"/>
                </a:solidFill>
                <a:latin typeface="Calibri" pitchFamily="34" charset="0"/>
                <a:ea typeface="Calibri" pitchFamily="34" charset="-122"/>
                <a:cs typeface="Calibri" pitchFamily="34" charset="-120"/>
              </a:rPr>
              <a:t>ABM as a data generating process</a:t>
            </a:r>
            <a:endParaRPr lang="en-US" sz="4200" dirty="0"/>
          </a:p>
        </p:txBody>
      </p:sp>
      <p:sp>
        <p:nvSpPr>
          <p:cNvPr id="7" name="Shape 4"/>
          <p:cNvSpPr/>
          <p:nvPr/>
        </p:nvSpPr>
        <p:spPr>
          <a:xfrm>
            <a:off x="822960" y="4709160"/>
            <a:ext cx="1005840" cy="54864"/>
          </a:xfrm>
          <a:prstGeom prst="rect">
            <a:avLst/>
          </a:prstGeom>
          <a:solidFill>
            <a:srgbClr val="B60000"/>
          </a:solidFill>
          <a:ln/>
        </p:spPr>
        <p:txBody>
          <a:bodyPr/>
          <a:lstStyle/>
          <a:p>
            <a:endParaRPr lang="en-US"/>
          </a:p>
        </p:txBody>
      </p:sp>
      <p:sp>
        <p:nvSpPr>
          <p:cNvPr id="8" name="Text 5"/>
          <p:cNvSpPr txBox="1"/>
          <p:nvPr/>
        </p:nvSpPr>
        <p:spPr>
          <a:xfrm>
            <a:off x="822960" y="4937760"/>
            <a:ext cx="5852160" cy="1005840"/>
          </a:xfrm>
          <a:prstGeom prst="rect">
            <a:avLst/>
          </a:prstGeom>
          <a:noFill/>
          <a:ln/>
        </p:spPr>
        <p:txBody>
          <a:bodyPr wrap="square" lIns="0" tIns="0" rIns="0" bIns="0" rtlCol="0" anchor="t"/>
          <a:lstStyle/>
          <a:p>
            <a:pPr marL="0" indent="0">
              <a:lnSpc>
                <a:spcPct val="125000"/>
              </a:lnSpc>
              <a:buNone/>
            </a:pPr>
            <a:r>
              <a:rPr lang="en-US" sz="1700" dirty="0">
                <a:solidFill>
                  <a:srgbClr val="E1E1E1"/>
                </a:solidFill>
                <a:latin typeface="Calibri" pitchFamily="34" charset="0"/>
                <a:ea typeface="Calibri" pitchFamily="34" charset="-122"/>
                <a:cs typeface="Calibri" pitchFamily="34" charset="-120"/>
              </a:rPr>
              <a:t>Why group and team theories describe processes that single-shot designs cannot observe.</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03</a:t>
            </a:r>
            <a:endParaRPr lang="en-US" sz="1000" dirty="0"/>
          </a:p>
        </p:txBody>
      </p:sp>
      <p:pic>
        <p:nvPicPr>
          <p:cNvPr id="10" name="Image 1" descr="assets/ncite_logo_white.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REFRAME · 1 OF 5</a:t>
            </a:r>
            <a:endParaRPr lang="en-US" sz="1300" dirty="0"/>
          </a:p>
        </p:txBody>
      </p:sp>
      <p:sp>
        <p:nvSpPr>
          <p:cNvPr id="4" name="Text 2"/>
          <p:cNvSpPr txBox="1"/>
          <p:nvPr/>
        </p:nvSpPr>
        <p:spPr>
          <a:xfrm>
            <a:off x="640080" y="914400"/>
            <a:ext cx="10881360" cy="1554480"/>
          </a:xfrm>
          <a:prstGeom prst="rect">
            <a:avLst/>
          </a:prstGeom>
          <a:noFill/>
          <a:ln/>
        </p:spPr>
        <p:txBody>
          <a:bodyPr wrap="square" lIns="0" tIns="0" rIns="0" bIns="0" rtlCol="0" anchor="t"/>
          <a:lstStyle/>
          <a:p>
            <a:pPr marL="0" indent="0">
              <a:buNone/>
            </a:pPr>
            <a:r>
              <a:rPr lang="en-US" sz="3200" b="1" dirty="0">
                <a:solidFill>
                  <a:srgbClr val="0E0E0E"/>
                </a:solidFill>
                <a:latin typeface="Calibri" pitchFamily="34" charset="0"/>
                <a:ea typeface="Calibri" pitchFamily="34" charset="-122"/>
                <a:cs typeface="Calibri" pitchFamily="34" charset="-120"/>
              </a:rPr>
              <a:t>Your theories describe emergence.</a:t>
            </a:r>
            <a:endParaRPr lang="en-US" sz="3200" dirty="0"/>
          </a:p>
          <a:p>
            <a:pPr marL="0" indent="0">
              <a:buNone/>
            </a:pPr>
            <a:r>
              <a:rPr lang="en-US" sz="3200" b="1" dirty="0">
                <a:solidFill>
                  <a:srgbClr val="0E0E0E"/>
                </a:solidFill>
                <a:latin typeface="Calibri" pitchFamily="34" charset="0"/>
                <a:ea typeface="Calibri" pitchFamily="34" charset="-122"/>
                <a:cs typeface="Calibri" pitchFamily="34" charset="-120"/>
              </a:rPr>
              <a:t>Your designs can't observe it happening.</a:t>
            </a:r>
            <a:endParaRPr lang="en-US" sz="3200" dirty="0"/>
          </a:p>
        </p:txBody>
      </p:sp>
      <p:sp>
        <p:nvSpPr>
          <p:cNvPr id="5" name="Text 3"/>
          <p:cNvSpPr txBox="1"/>
          <p:nvPr/>
        </p:nvSpPr>
        <p:spPr>
          <a:xfrm>
            <a:off x="640080" y="2834640"/>
            <a:ext cx="10424160" cy="822960"/>
          </a:xfrm>
          <a:prstGeom prst="rect">
            <a:avLst/>
          </a:prstGeom>
          <a:noFill/>
          <a:ln/>
        </p:spPr>
        <p:txBody>
          <a:bodyPr wrap="square" lIns="0" tIns="0" rIns="0" bIns="0" rtlCol="0" anchor="ctr"/>
          <a:lstStyle/>
          <a:p>
            <a:pPr marL="0" indent="0">
              <a:lnSpc>
                <a:spcPct val="130000"/>
              </a:lnSpc>
              <a:buNone/>
            </a:pPr>
            <a:r>
              <a:rPr lang="en-US" sz="1900" b="1" dirty="0">
                <a:solidFill>
                  <a:srgbClr val="0E0E0E"/>
                </a:solidFill>
                <a:latin typeface="Calibri" pitchFamily="34" charset="0"/>
                <a:ea typeface="Calibri" pitchFamily="34" charset="-122"/>
                <a:cs typeface="Calibri" pitchFamily="34" charset="-120"/>
              </a:rPr>
              <a:t>Group and team theory: </a:t>
            </a:r>
            <a:r>
              <a:rPr lang="en-US" sz="1900" dirty="0">
                <a:solidFill>
                  <a:srgbClr val="333333"/>
                </a:solidFill>
                <a:latin typeface="Calibri" pitchFamily="34" charset="0"/>
                <a:ea typeface="Calibri" pitchFamily="34" charset="-122"/>
                <a:cs typeface="Calibri" pitchFamily="34" charset="-120"/>
              </a:rPr>
              <a:t>bottom-up, path-dependent, order-sensitive constructs that arise from interaction over time.</a:t>
            </a:r>
            <a:endParaRPr lang="en-US" sz="1900" dirty="0"/>
          </a:p>
        </p:txBody>
      </p:sp>
      <p:sp>
        <p:nvSpPr>
          <p:cNvPr id="6" name="Text 4"/>
          <p:cNvSpPr txBox="1"/>
          <p:nvPr/>
        </p:nvSpPr>
        <p:spPr>
          <a:xfrm>
            <a:off x="640080" y="3749040"/>
            <a:ext cx="10424160" cy="822960"/>
          </a:xfrm>
          <a:prstGeom prst="rect">
            <a:avLst/>
          </a:prstGeom>
          <a:noFill/>
          <a:ln/>
        </p:spPr>
        <p:txBody>
          <a:bodyPr wrap="square" lIns="0" tIns="0" rIns="0" bIns="0" rtlCol="0" anchor="ctr"/>
          <a:lstStyle/>
          <a:p>
            <a:pPr marL="0" indent="0">
              <a:lnSpc>
                <a:spcPct val="130000"/>
              </a:lnSpc>
              <a:buNone/>
            </a:pPr>
            <a:r>
              <a:rPr lang="en-US" sz="1900" b="1" dirty="0">
                <a:solidFill>
                  <a:srgbClr val="0E0E0E"/>
                </a:solidFill>
                <a:latin typeface="Calibri" pitchFamily="34" charset="0"/>
                <a:ea typeface="Calibri" pitchFamily="34" charset="-122"/>
                <a:cs typeface="Calibri" pitchFamily="34" charset="-120"/>
              </a:rPr>
              <a:t>Cross-sectional survey, single-shot experiment: </a:t>
            </a:r>
            <a:r>
              <a:rPr lang="en-US" sz="1900" dirty="0">
                <a:solidFill>
                  <a:srgbClr val="333333"/>
                </a:solidFill>
                <a:latin typeface="Calibri" pitchFamily="34" charset="0"/>
                <a:ea typeface="Calibri" pitchFamily="34" charset="-122"/>
                <a:cs typeface="Calibri" pitchFamily="34" charset="-120"/>
              </a:rPr>
              <a:t>static, order-blind snapshots that can only observe emergence's residue.</a:t>
            </a:r>
            <a:endParaRPr lang="en-US" sz="1900" dirty="0"/>
          </a:p>
        </p:txBody>
      </p:sp>
      <p:sp>
        <p:nvSpPr>
          <p:cNvPr id="8" name="Text 6"/>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04</a:t>
            </a:r>
            <a:endParaRPr lang="en-US" sz="1000" dirty="0"/>
          </a:p>
        </p:txBody>
      </p:sp>
      <p:pic>
        <p:nvPicPr>
          <p:cNvPr id="9"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REFRAME · 2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What you already know, applied downstream</a:t>
            </a:r>
            <a:endParaRPr lang="en-US" sz="3400" dirty="0"/>
          </a:p>
        </p:txBody>
      </p:sp>
      <p:sp>
        <p:nvSpPr>
          <p:cNvPr id="5" name="Shape 3"/>
          <p:cNvSpPr/>
          <p:nvPr/>
        </p:nvSpPr>
        <p:spPr>
          <a:xfrm>
            <a:off x="640080" y="2286000"/>
            <a:ext cx="10881360" cy="868680"/>
          </a:xfrm>
          <a:prstGeom prst="rect">
            <a:avLst/>
          </a:prstGeom>
          <a:solidFill>
            <a:srgbClr val="E1E1E1"/>
          </a:solidFill>
          <a:ln/>
        </p:spPr>
        <p:txBody>
          <a:bodyPr/>
          <a:lstStyle/>
          <a:p>
            <a:endParaRPr lang="en-US"/>
          </a:p>
        </p:txBody>
      </p:sp>
      <p:sp>
        <p:nvSpPr>
          <p:cNvPr id="6" name="Text 4"/>
          <p:cNvSpPr txBox="1"/>
          <p:nvPr/>
        </p:nvSpPr>
        <p:spPr>
          <a:xfrm>
            <a:off x="914400" y="2423160"/>
            <a:ext cx="4846320" cy="594360"/>
          </a:xfrm>
          <a:prstGeom prst="rect">
            <a:avLst/>
          </a:prstGeom>
          <a:noFill/>
          <a:ln/>
        </p:spPr>
        <p:txBody>
          <a:bodyPr wrap="square" lIns="0" tIns="0" rIns="0" bIns="0" rtlCol="0" anchor="ctr"/>
          <a:lstStyle/>
          <a:p>
            <a:pPr marL="0" indent="0">
              <a:buNone/>
            </a:pPr>
            <a:r>
              <a:rPr lang="en-US" sz="1800" b="1" dirty="0">
                <a:solidFill>
                  <a:srgbClr val="0E0E0E"/>
                </a:solidFill>
                <a:latin typeface="Calibri" pitchFamily="34" charset="0"/>
                <a:ea typeface="Calibri" pitchFamily="34" charset="-122"/>
                <a:cs typeface="Calibri" pitchFamily="34" charset="-120"/>
              </a:rPr>
              <a:t>A parameter sweep</a:t>
            </a:r>
            <a:endParaRPr lang="en-US" sz="1800" dirty="0"/>
          </a:p>
        </p:txBody>
      </p:sp>
      <p:sp>
        <p:nvSpPr>
          <p:cNvPr id="7" name="Text 5"/>
          <p:cNvSpPr txBox="1"/>
          <p:nvPr/>
        </p:nvSpPr>
        <p:spPr>
          <a:xfrm>
            <a:off x="5943600" y="2423160"/>
            <a:ext cx="5303520" cy="59436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is a factorial design</a:t>
            </a:r>
            <a:endParaRPr lang="en-US" sz="1800" dirty="0"/>
          </a:p>
        </p:txBody>
      </p:sp>
      <p:sp>
        <p:nvSpPr>
          <p:cNvPr id="8" name="Shape 6"/>
          <p:cNvSpPr/>
          <p:nvPr/>
        </p:nvSpPr>
        <p:spPr>
          <a:xfrm>
            <a:off x="640080" y="3291840"/>
            <a:ext cx="10881360" cy="868680"/>
          </a:xfrm>
          <a:prstGeom prst="rect">
            <a:avLst/>
          </a:prstGeom>
          <a:solidFill>
            <a:srgbClr val="E1E1E1"/>
          </a:solidFill>
          <a:ln/>
        </p:spPr>
        <p:txBody>
          <a:bodyPr/>
          <a:lstStyle/>
          <a:p>
            <a:endParaRPr lang="en-US"/>
          </a:p>
        </p:txBody>
      </p:sp>
      <p:sp>
        <p:nvSpPr>
          <p:cNvPr id="9" name="Text 7"/>
          <p:cNvSpPr txBox="1"/>
          <p:nvPr/>
        </p:nvSpPr>
        <p:spPr>
          <a:xfrm>
            <a:off x="914400" y="3429000"/>
            <a:ext cx="4846320" cy="594360"/>
          </a:xfrm>
          <a:prstGeom prst="rect">
            <a:avLst/>
          </a:prstGeom>
          <a:noFill/>
          <a:ln/>
        </p:spPr>
        <p:txBody>
          <a:bodyPr wrap="square" lIns="0" tIns="0" rIns="0" bIns="0" rtlCol="0" anchor="ctr"/>
          <a:lstStyle/>
          <a:p>
            <a:pPr marL="0" indent="0">
              <a:buNone/>
            </a:pPr>
            <a:r>
              <a:rPr lang="en-US" sz="1800" b="1" dirty="0">
                <a:solidFill>
                  <a:srgbClr val="0E0E0E"/>
                </a:solidFill>
                <a:latin typeface="Calibri" pitchFamily="34" charset="0"/>
                <a:ea typeface="Calibri" pitchFamily="34" charset="-122"/>
                <a:cs typeface="Calibri" pitchFamily="34" charset="-120"/>
              </a:rPr>
              <a:t>A bank of replications</a:t>
            </a:r>
            <a:endParaRPr lang="en-US" sz="1800" dirty="0"/>
          </a:p>
        </p:txBody>
      </p:sp>
      <p:sp>
        <p:nvSpPr>
          <p:cNvPr id="10" name="Text 8"/>
          <p:cNvSpPr txBox="1"/>
          <p:nvPr/>
        </p:nvSpPr>
        <p:spPr>
          <a:xfrm>
            <a:off x="5943600" y="3429000"/>
            <a:ext cx="5303520" cy="59436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is a set of Monte Carlo draws</a:t>
            </a:r>
            <a:endParaRPr lang="en-US" sz="1800" dirty="0"/>
          </a:p>
        </p:txBody>
      </p:sp>
      <p:sp>
        <p:nvSpPr>
          <p:cNvPr id="11" name="Shape 9"/>
          <p:cNvSpPr/>
          <p:nvPr/>
        </p:nvSpPr>
        <p:spPr>
          <a:xfrm>
            <a:off x="640080" y="4297680"/>
            <a:ext cx="10881360" cy="868680"/>
          </a:xfrm>
          <a:prstGeom prst="rect">
            <a:avLst/>
          </a:prstGeom>
          <a:solidFill>
            <a:srgbClr val="E1E1E1"/>
          </a:solidFill>
          <a:ln/>
        </p:spPr>
        <p:txBody>
          <a:bodyPr/>
          <a:lstStyle/>
          <a:p>
            <a:endParaRPr lang="en-US"/>
          </a:p>
        </p:txBody>
      </p:sp>
      <p:sp>
        <p:nvSpPr>
          <p:cNvPr id="12" name="Text 10"/>
          <p:cNvSpPr txBox="1"/>
          <p:nvPr/>
        </p:nvSpPr>
        <p:spPr>
          <a:xfrm>
            <a:off x="914400" y="4434840"/>
            <a:ext cx="4846320" cy="594360"/>
          </a:xfrm>
          <a:prstGeom prst="rect">
            <a:avLst/>
          </a:prstGeom>
          <a:noFill/>
          <a:ln/>
        </p:spPr>
        <p:txBody>
          <a:bodyPr wrap="square" lIns="0" tIns="0" rIns="0" bIns="0" rtlCol="0" anchor="ctr"/>
          <a:lstStyle/>
          <a:p>
            <a:pPr marL="0" indent="0">
              <a:buNone/>
            </a:pPr>
            <a:r>
              <a:rPr lang="en-US" sz="1800" b="1" dirty="0">
                <a:solidFill>
                  <a:srgbClr val="0E0E0E"/>
                </a:solidFill>
                <a:latin typeface="Calibri" pitchFamily="34" charset="0"/>
                <a:ea typeface="Calibri" pitchFamily="34" charset="-122"/>
                <a:cs typeface="Calibri" pitchFamily="34" charset="-120"/>
              </a:rPr>
              <a:t>Simulated output</a:t>
            </a:r>
            <a:endParaRPr lang="en-US" sz="1800" dirty="0"/>
          </a:p>
        </p:txBody>
      </p:sp>
      <p:sp>
        <p:nvSpPr>
          <p:cNvPr id="13" name="Text 11"/>
          <p:cNvSpPr txBox="1"/>
          <p:nvPr/>
        </p:nvSpPr>
        <p:spPr>
          <a:xfrm>
            <a:off x="5943600" y="4434840"/>
            <a:ext cx="5303520" cy="59436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is analyzed like survey or experimental data</a:t>
            </a:r>
            <a:endParaRPr lang="en-US" sz="1800" dirty="0"/>
          </a:p>
        </p:txBody>
      </p:sp>
      <p:sp>
        <p:nvSpPr>
          <p:cNvPr id="14" name="Shape 12"/>
          <p:cNvSpPr/>
          <p:nvPr/>
        </p:nvSpPr>
        <p:spPr>
          <a:xfrm>
            <a:off x="640080" y="5303520"/>
            <a:ext cx="10881360" cy="868680"/>
          </a:xfrm>
          <a:prstGeom prst="rect">
            <a:avLst/>
          </a:prstGeom>
          <a:solidFill>
            <a:srgbClr val="0E0E0E"/>
          </a:solidFill>
          <a:ln/>
        </p:spPr>
        <p:txBody>
          <a:bodyPr/>
          <a:lstStyle/>
          <a:p>
            <a:endParaRPr lang="en-US"/>
          </a:p>
        </p:txBody>
      </p:sp>
      <p:sp>
        <p:nvSpPr>
          <p:cNvPr id="15" name="Text 13"/>
          <p:cNvSpPr txBox="1"/>
          <p:nvPr/>
        </p:nvSpPr>
        <p:spPr>
          <a:xfrm>
            <a:off x="914400" y="5440680"/>
            <a:ext cx="4846320" cy="594360"/>
          </a:xfrm>
          <a:prstGeom prst="rect">
            <a:avLst/>
          </a:prstGeom>
          <a:noFill/>
          <a:ln/>
        </p:spPr>
        <p:txBody>
          <a:bodyPr wrap="square" lIns="0" tIns="0" rIns="0" bIns="0" rtlCol="0" anchor="ctr"/>
          <a:lstStyle/>
          <a:p>
            <a:pPr marL="0" indent="0">
              <a:buNone/>
            </a:pPr>
            <a:r>
              <a:rPr lang="en-US" sz="1800" b="1" dirty="0">
                <a:solidFill>
                  <a:srgbClr val="F2F2F2"/>
                </a:solidFill>
                <a:latin typeface="Calibri" pitchFamily="34" charset="0"/>
                <a:ea typeface="Calibri" pitchFamily="34" charset="-122"/>
                <a:cs typeface="Calibri" pitchFamily="34" charset="-120"/>
              </a:rPr>
              <a:t>An agent-based model</a:t>
            </a:r>
            <a:endParaRPr lang="en-US" sz="1800" dirty="0"/>
          </a:p>
        </p:txBody>
      </p:sp>
      <p:sp>
        <p:nvSpPr>
          <p:cNvPr id="16" name="Text 14"/>
          <p:cNvSpPr txBox="1"/>
          <p:nvPr/>
        </p:nvSpPr>
        <p:spPr>
          <a:xfrm>
            <a:off x="5943600" y="5440680"/>
            <a:ext cx="5303520" cy="594360"/>
          </a:xfrm>
          <a:prstGeom prst="rect">
            <a:avLst/>
          </a:prstGeom>
          <a:noFill/>
          <a:ln/>
        </p:spPr>
        <p:txBody>
          <a:bodyPr wrap="square" lIns="0" tIns="0" rIns="0" bIns="0" rtlCol="0" anchor="ctr"/>
          <a:lstStyle/>
          <a:p>
            <a:pPr marL="0" indent="0">
              <a:buNone/>
            </a:pPr>
            <a:r>
              <a:rPr lang="en-US" sz="1800" dirty="0">
                <a:solidFill>
                  <a:srgbClr val="E1E1E1"/>
                </a:solidFill>
                <a:latin typeface="Calibri" pitchFamily="34" charset="0"/>
                <a:ea typeface="Calibri" pitchFamily="34" charset="-122"/>
                <a:cs typeface="Calibri" pitchFamily="34" charset="-120"/>
              </a:rPr>
              <a:t>is a data generating process</a:t>
            </a:r>
            <a:endParaRPr lang="en-US" sz="1800" dirty="0"/>
          </a:p>
        </p:txBody>
      </p:sp>
      <p:sp>
        <p:nvSpPr>
          <p:cNvPr id="17" name="Text 15"/>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05</a:t>
            </a:r>
            <a:endParaRPr lang="en-US" sz="1000" dirty="0"/>
          </a:p>
        </p:txBody>
      </p:sp>
      <p:pic>
        <p:nvPicPr>
          <p:cNvPr id="18"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REFRAME · 3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Epstein (1999)</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Epstein, J. M. (1999). Agent-based computational models and generative social science. </a:t>
            </a:r>
            <a:r>
              <a:rPr lang="en-US" sz="1450" i="1" dirty="0">
                <a:solidFill>
                  <a:srgbClr val="333333"/>
                </a:solidFill>
                <a:latin typeface="Times New Roman" pitchFamily="34" charset="0"/>
                <a:ea typeface="Times New Roman" pitchFamily="34" charset="-122"/>
                <a:cs typeface="Times New Roman" pitchFamily="34" charset="-120"/>
              </a:rPr>
              <a:t>Complexity, 4</a:t>
            </a:r>
            <a:r>
              <a:rPr lang="en-US" sz="1450" dirty="0">
                <a:solidFill>
                  <a:srgbClr val="333333"/>
                </a:solidFill>
                <a:latin typeface="Times New Roman" pitchFamily="34" charset="0"/>
                <a:ea typeface="Times New Roman" pitchFamily="34" charset="-122"/>
                <a:cs typeface="Times New Roman" pitchFamily="34" charset="-120"/>
              </a:rPr>
              <a:t>(5), 41-60.</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Demonstrated that macro-level social regularities can be generated from simple, stated micro-rules, which neither pure induction from data nor pure deduction from axioms can show in the same way: the model has to actually produce the pattern, not just be consistent with it.</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06</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REFRAME · 4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Kozlowski et al. (2013)</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Kozlowski, S. W. J., Chao, G. T., Grand, J. A., Braun, M. T., &amp; Kuljanin, G. (2013). Advancing multilevel research design: Capturing the dynamics of emergence. </a:t>
            </a:r>
            <a:r>
              <a:rPr lang="en-US" sz="1450" i="1" dirty="0">
                <a:solidFill>
                  <a:srgbClr val="333333"/>
                </a:solidFill>
                <a:latin typeface="Times New Roman" pitchFamily="34" charset="0"/>
                <a:ea typeface="Times New Roman" pitchFamily="34" charset="-122"/>
                <a:cs typeface="Times New Roman" pitchFamily="34" charset="-120"/>
              </a:rPr>
              <a:t>Organizational Research Methods, 16</a:t>
            </a:r>
            <a:r>
              <a:rPr lang="en-US" sz="1450" dirty="0">
                <a:solidFill>
                  <a:srgbClr val="333333"/>
                </a:solidFill>
                <a:latin typeface="Times New Roman" pitchFamily="34" charset="0"/>
                <a:ea typeface="Times New Roman" pitchFamily="34" charset="-122"/>
                <a:cs typeface="Times New Roman" pitchFamily="34" charset="-120"/>
              </a:rPr>
              <a:t>(4), 581-615. (ORM Best Paper, 2013.)</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Proposed a research paradigm connecting theory, computational modeling, and data analysis so that emergence is examined directly as it unfolds, rather than inferred after the fact from the construct validity of a higher-level measure.</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07</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REFRAME · 5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Kozlowski et al. (2016)</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Kozlowski, S. W. J., Chao, G. T., Grand, J. A., Braun, M. T., &amp; Kuljanin, G. (2016). Capturing the multilevel dynamics of emergence: Computational modeling, simulation, and virtual experimentation. </a:t>
            </a:r>
            <a:r>
              <a:rPr lang="en-US" sz="1450" i="1" dirty="0">
                <a:solidFill>
                  <a:srgbClr val="333333"/>
                </a:solidFill>
                <a:latin typeface="Times New Roman" pitchFamily="34" charset="0"/>
                <a:ea typeface="Times New Roman" pitchFamily="34" charset="-122"/>
                <a:cs typeface="Times New Roman" pitchFamily="34" charset="-120"/>
              </a:rPr>
              <a:t>Organizational Psychology Review, 6</a:t>
            </a:r>
            <a:r>
              <a:rPr lang="en-US" sz="1450" dirty="0">
                <a:solidFill>
                  <a:srgbClr val="333333"/>
                </a:solidFill>
                <a:latin typeface="Times New Roman" pitchFamily="34" charset="0"/>
                <a:ea typeface="Times New Roman" pitchFamily="34" charset="-122"/>
                <a:cs typeface="Times New Roman" pitchFamily="34" charset="-120"/>
              </a:rPr>
              <a:t>(1), 3-33.</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Laid out computational modeling, agent-based simulation, and virtual experimentation as a working strategy for studying emergence in teams, treating the simulation as a laboratory in which an emergent process can be manipulated and watched directly.</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08</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0E0E"/>
        </a:solidFill>
        <a:effectLst/>
      </p:bgPr>
    </p:bg>
    <p:spTree>
      <p:nvGrpSpPr>
        <p:cNvPr id="1" name=""/>
        <p:cNvGrpSpPr/>
        <p:nvPr/>
      </p:nvGrpSpPr>
      <p:grpSpPr>
        <a:xfrm>
          <a:off x="0" y="0"/>
          <a:ext cx="0" cy="0"/>
          <a:chOff x="0" y="0"/>
          <a:chExt cx="0" cy="0"/>
        </a:xfrm>
      </p:grpSpPr>
      <p:pic>
        <p:nvPicPr>
          <p:cNvPr id="2" name="Image 0" descr="assets/art_anatomy.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txBody>
          <a:bodyPr/>
          <a:lstStyle/>
          <a:p>
            <a:endParaRPr lang="en-US"/>
          </a:p>
        </p:txBody>
      </p:sp>
      <p:sp>
        <p:nvSpPr>
          <p:cNvPr id="4" name="Text 1"/>
          <p:cNvSpPr txBox="1"/>
          <p:nvPr/>
        </p:nvSpPr>
        <p:spPr>
          <a:xfrm>
            <a:off x="731520" y="685800"/>
            <a:ext cx="4572000" cy="1737360"/>
          </a:xfrm>
          <a:prstGeom prst="rect">
            <a:avLst/>
          </a:prstGeom>
          <a:noFill/>
          <a:ln/>
        </p:spPr>
        <p:txBody>
          <a:bodyPr wrap="square" lIns="0" tIns="0" rIns="0" bIns="0" rtlCol="0" anchor="ctr"/>
          <a:lstStyle/>
          <a:p>
            <a:pPr marL="0" indent="0">
              <a:buNone/>
            </a:pPr>
            <a:r>
              <a:rPr lang="en-US" sz="13200" b="1" dirty="0">
                <a:solidFill>
                  <a:srgbClr val="333333"/>
                </a:solidFill>
                <a:latin typeface="Calibri" pitchFamily="34" charset="0"/>
                <a:ea typeface="Calibri" pitchFamily="34" charset="-122"/>
                <a:cs typeface="Calibri" pitchFamily="34" charset="-120"/>
              </a:rPr>
              <a:t>02</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marL="0" indent="0">
              <a:buNone/>
            </a:pPr>
            <a:r>
              <a:rPr lang="en-US" sz="1400" b="1" kern="0" spc="300" dirty="0">
                <a:solidFill>
                  <a:srgbClr val="E1E1E1"/>
                </a:solidFill>
                <a:latin typeface="Calibri" pitchFamily="34" charset="0"/>
                <a:ea typeface="Calibri" pitchFamily="34" charset="-122"/>
                <a:cs typeface="Calibri" pitchFamily="34" charset="-120"/>
              </a:rPr>
              <a:t>PART 02 · ANATOMY</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marL="0" indent="0">
              <a:lnSpc>
                <a:spcPct val="100000"/>
              </a:lnSpc>
              <a:buNone/>
            </a:pPr>
            <a:r>
              <a:rPr lang="en-US" sz="4200" b="1" dirty="0">
                <a:solidFill>
                  <a:srgbClr val="F2F2F2"/>
                </a:solidFill>
                <a:latin typeface="Calibri" pitchFamily="34" charset="0"/>
                <a:ea typeface="Calibri" pitchFamily="34" charset="-122"/>
                <a:cs typeface="Calibri" pitchFamily="34" charset="-120"/>
              </a:rPr>
              <a:t>What a model has to say out loud</a:t>
            </a:r>
            <a:endParaRPr lang="en-US" sz="4200" dirty="0"/>
          </a:p>
        </p:txBody>
      </p:sp>
      <p:sp>
        <p:nvSpPr>
          <p:cNvPr id="7" name="Shape 4"/>
          <p:cNvSpPr/>
          <p:nvPr/>
        </p:nvSpPr>
        <p:spPr>
          <a:xfrm>
            <a:off x="822960" y="4709160"/>
            <a:ext cx="1005840" cy="54864"/>
          </a:xfrm>
          <a:prstGeom prst="rect">
            <a:avLst/>
          </a:prstGeom>
          <a:solidFill>
            <a:srgbClr val="B60000"/>
          </a:solidFill>
          <a:ln/>
        </p:spPr>
        <p:txBody>
          <a:bodyPr/>
          <a:lstStyle/>
          <a:p>
            <a:endParaRPr lang="en-US"/>
          </a:p>
        </p:txBody>
      </p:sp>
      <p:sp>
        <p:nvSpPr>
          <p:cNvPr id="8" name="Text 5"/>
          <p:cNvSpPr txBox="1"/>
          <p:nvPr/>
        </p:nvSpPr>
        <p:spPr>
          <a:xfrm>
            <a:off x="822960" y="4937760"/>
            <a:ext cx="5852160" cy="1005840"/>
          </a:xfrm>
          <a:prstGeom prst="rect">
            <a:avLst/>
          </a:prstGeom>
          <a:noFill/>
          <a:ln/>
        </p:spPr>
        <p:txBody>
          <a:bodyPr wrap="square" lIns="0" tIns="0" rIns="0" bIns="0" rtlCol="0" anchor="t"/>
          <a:lstStyle/>
          <a:p>
            <a:pPr marL="0" indent="0">
              <a:lnSpc>
                <a:spcPct val="125000"/>
              </a:lnSpc>
              <a:buNone/>
            </a:pPr>
            <a:r>
              <a:rPr lang="en-US" sz="1700" dirty="0">
                <a:solidFill>
                  <a:srgbClr val="E1E1E1"/>
                </a:solidFill>
                <a:latin typeface="Calibri" pitchFamily="34" charset="0"/>
                <a:ea typeface="Calibri" pitchFamily="34" charset="-122"/>
                <a:cs typeface="Calibri" pitchFamily="34" charset="-120"/>
              </a:rPr>
              <a:t>Agents, attributes, rules, environment, time, and stochasticity as formalized verbal theory.</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09</a:t>
            </a:r>
            <a:endParaRPr lang="en-US" sz="1000" dirty="0"/>
          </a:p>
        </p:txBody>
      </p:sp>
      <p:pic>
        <p:nvPicPr>
          <p:cNvPr id="10" name="Image 1" descr="assets/ncite_logo_white.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ANATOMY · 1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Six things every model has</a:t>
            </a:r>
            <a:endParaRPr lang="en-US" sz="3400" dirty="0"/>
          </a:p>
        </p:txBody>
      </p:sp>
      <p:sp>
        <p:nvSpPr>
          <p:cNvPr id="5" name="Shape 3"/>
          <p:cNvSpPr/>
          <p:nvPr/>
        </p:nvSpPr>
        <p:spPr>
          <a:xfrm>
            <a:off x="640080" y="2103120"/>
            <a:ext cx="3429000" cy="1737360"/>
          </a:xfrm>
          <a:prstGeom prst="rect">
            <a:avLst/>
          </a:prstGeom>
          <a:solidFill>
            <a:srgbClr val="E1E1E1"/>
          </a:solidFill>
          <a:ln/>
        </p:spPr>
        <p:txBody>
          <a:bodyPr/>
          <a:lstStyle/>
          <a:p>
            <a:endParaRPr lang="en-US"/>
          </a:p>
        </p:txBody>
      </p:sp>
      <p:sp>
        <p:nvSpPr>
          <p:cNvPr id="6" name="Shape 4"/>
          <p:cNvSpPr/>
          <p:nvPr/>
        </p:nvSpPr>
        <p:spPr>
          <a:xfrm>
            <a:off x="868680" y="2331720"/>
            <a:ext cx="457200" cy="457200"/>
          </a:xfrm>
          <a:prstGeom prst="ellipse">
            <a:avLst/>
          </a:prstGeom>
          <a:solidFill>
            <a:srgbClr val="0E0E0E"/>
          </a:solidFill>
          <a:ln/>
        </p:spPr>
        <p:txBody>
          <a:bodyPr/>
          <a:lstStyle/>
          <a:p>
            <a:endParaRPr lang="en-US"/>
          </a:p>
        </p:txBody>
      </p:sp>
      <p:sp>
        <p:nvSpPr>
          <p:cNvPr id="7" name="Text 5"/>
          <p:cNvSpPr txBox="1"/>
          <p:nvPr/>
        </p:nvSpPr>
        <p:spPr>
          <a:xfrm>
            <a:off x="868680" y="2331720"/>
            <a:ext cx="457200" cy="457200"/>
          </a:xfrm>
          <a:prstGeom prst="rect">
            <a:avLst/>
          </a:prstGeom>
          <a:noFill/>
          <a:ln/>
        </p:spPr>
        <p:txBody>
          <a:bodyPr wrap="square" lIns="0" tIns="0" rIns="0" bIns="0" rtlCol="0" anchor="ctr"/>
          <a:lstStyle/>
          <a:p>
            <a:pPr marL="0" indent="0" algn="ctr">
              <a:buNone/>
            </a:pPr>
            <a:r>
              <a:rPr lang="en-US" sz="1600" b="1" dirty="0">
                <a:solidFill>
                  <a:srgbClr val="F2F2F2"/>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68680" y="2926080"/>
            <a:ext cx="2971800" cy="4114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Agents</a:t>
            </a:r>
            <a:endParaRPr lang="en-US" sz="1900" dirty="0"/>
          </a:p>
        </p:txBody>
      </p:sp>
      <p:sp>
        <p:nvSpPr>
          <p:cNvPr id="9" name="Text 7"/>
          <p:cNvSpPr txBox="1"/>
          <p:nvPr/>
        </p:nvSpPr>
        <p:spPr>
          <a:xfrm>
            <a:off x="868680" y="3337560"/>
            <a:ext cx="2971800" cy="411480"/>
          </a:xfrm>
          <a:prstGeom prst="rect">
            <a:avLst/>
          </a:prstGeom>
          <a:noFill/>
          <a:ln/>
        </p:spPr>
        <p:txBody>
          <a:bodyPr wrap="square" lIns="0" tIns="0" rIns="0" bIns="0" rtlCol="0" anchor="ctr"/>
          <a:lstStyle/>
          <a:p>
            <a:pPr marL="0" indent="0">
              <a:buNone/>
            </a:pPr>
            <a:r>
              <a:rPr lang="en-US" sz="1350" dirty="0">
                <a:solidFill>
                  <a:srgbClr val="333333"/>
                </a:solidFill>
                <a:latin typeface="Calibri" pitchFamily="34" charset="0"/>
                <a:ea typeface="Calibri" pitchFamily="34" charset="-122"/>
                <a:cs typeface="Calibri" pitchFamily="34" charset="-120"/>
              </a:rPr>
              <a:t>who is acting</a:t>
            </a:r>
            <a:endParaRPr lang="en-US" sz="1350" dirty="0"/>
          </a:p>
        </p:txBody>
      </p:sp>
      <p:sp>
        <p:nvSpPr>
          <p:cNvPr id="10" name="Shape 8"/>
          <p:cNvSpPr/>
          <p:nvPr/>
        </p:nvSpPr>
        <p:spPr>
          <a:xfrm>
            <a:off x="4297680" y="2103120"/>
            <a:ext cx="3429000" cy="1737360"/>
          </a:xfrm>
          <a:prstGeom prst="rect">
            <a:avLst/>
          </a:prstGeom>
          <a:solidFill>
            <a:srgbClr val="E1E1E1"/>
          </a:solidFill>
          <a:ln/>
        </p:spPr>
        <p:txBody>
          <a:bodyPr/>
          <a:lstStyle/>
          <a:p>
            <a:endParaRPr lang="en-US"/>
          </a:p>
        </p:txBody>
      </p:sp>
      <p:sp>
        <p:nvSpPr>
          <p:cNvPr id="11" name="Shape 9"/>
          <p:cNvSpPr/>
          <p:nvPr/>
        </p:nvSpPr>
        <p:spPr>
          <a:xfrm>
            <a:off x="4526280" y="2331720"/>
            <a:ext cx="457200" cy="457200"/>
          </a:xfrm>
          <a:prstGeom prst="ellipse">
            <a:avLst/>
          </a:prstGeom>
          <a:solidFill>
            <a:srgbClr val="0E0E0E"/>
          </a:solidFill>
          <a:ln/>
        </p:spPr>
        <p:txBody>
          <a:bodyPr/>
          <a:lstStyle/>
          <a:p>
            <a:endParaRPr lang="en-US"/>
          </a:p>
        </p:txBody>
      </p:sp>
      <p:sp>
        <p:nvSpPr>
          <p:cNvPr id="12" name="Text 10"/>
          <p:cNvSpPr txBox="1"/>
          <p:nvPr/>
        </p:nvSpPr>
        <p:spPr>
          <a:xfrm>
            <a:off x="4526280" y="2331720"/>
            <a:ext cx="457200" cy="457200"/>
          </a:xfrm>
          <a:prstGeom prst="rect">
            <a:avLst/>
          </a:prstGeom>
          <a:noFill/>
          <a:ln/>
        </p:spPr>
        <p:txBody>
          <a:bodyPr wrap="square" lIns="0" tIns="0" rIns="0" bIns="0" rtlCol="0" anchor="ctr"/>
          <a:lstStyle/>
          <a:p>
            <a:pPr marL="0" indent="0" algn="ctr">
              <a:buNone/>
            </a:pPr>
            <a:r>
              <a:rPr lang="en-US" sz="1600" b="1" dirty="0">
                <a:solidFill>
                  <a:srgbClr val="F2F2F2"/>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526280" y="2926080"/>
            <a:ext cx="2971800" cy="4114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Attributes</a:t>
            </a:r>
            <a:endParaRPr lang="en-US" sz="1900" dirty="0"/>
          </a:p>
        </p:txBody>
      </p:sp>
      <p:sp>
        <p:nvSpPr>
          <p:cNvPr id="14" name="Text 12"/>
          <p:cNvSpPr txBox="1"/>
          <p:nvPr/>
        </p:nvSpPr>
        <p:spPr>
          <a:xfrm>
            <a:off x="4526280" y="3337560"/>
            <a:ext cx="2971800" cy="411480"/>
          </a:xfrm>
          <a:prstGeom prst="rect">
            <a:avLst/>
          </a:prstGeom>
          <a:noFill/>
          <a:ln/>
        </p:spPr>
        <p:txBody>
          <a:bodyPr wrap="square" lIns="0" tIns="0" rIns="0" bIns="0" rtlCol="0" anchor="ctr"/>
          <a:lstStyle/>
          <a:p>
            <a:pPr marL="0" indent="0">
              <a:buNone/>
            </a:pPr>
            <a:r>
              <a:rPr lang="en-US" sz="1350" dirty="0">
                <a:solidFill>
                  <a:srgbClr val="333333"/>
                </a:solidFill>
                <a:latin typeface="Calibri" pitchFamily="34" charset="0"/>
                <a:ea typeface="Calibri" pitchFamily="34" charset="-122"/>
                <a:cs typeface="Calibri" pitchFamily="34" charset="-120"/>
              </a:rPr>
              <a:t>what varies across them</a:t>
            </a:r>
            <a:endParaRPr lang="en-US" sz="1350" dirty="0"/>
          </a:p>
        </p:txBody>
      </p:sp>
      <p:sp>
        <p:nvSpPr>
          <p:cNvPr id="15" name="Shape 13"/>
          <p:cNvSpPr/>
          <p:nvPr/>
        </p:nvSpPr>
        <p:spPr>
          <a:xfrm>
            <a:off x="7955280" y="2103120"/>
            <a:ext cx="3429000" cy="1737360"/>
          </a:xfrm>
          <a:prstGeom prst="rect">
            <a:avLst/>
          </a:prstGeom>
          <a:solidFill>
            <a:srgbClr val="E1E1E1"/>
          </a:solidFill>
          <a:ln/>
        </p:spPr>
        <p:txBody>
          <a:bodyPr/>
          <a:lstStyle/>
          <a:p>
            <a:endParaRPr lang="en-US"/>
          </a:p>
        </p:txBody>
      </p:sp>
      <p:sp>
        <p:nvSpPr>
          <p:cNvPr id="16" name="Shape 14"/>
          <p:cNvSpPr/>
          <p:nvPr/>
        </p:nvSpPr>
        <p:spPr>
          <a:xfrm>
            <a:off x="8183880" y="2331720"/>
            <a:ext cx="457200" cy="457200"/>
          </a:xfrm>
          <a:prstGeom prst="ellipse">
            <a:avLst/>
          </a:prstGeom>
          <a:solidFill>
            <a:srgbClr val="0E0E0E"/>
          </a:solidFill>
          <a:ln/>
        </p:spPr>
        <p:txBody>
          <a:bodyPr/>
          <a:lstStyle/>
          <a:p>
            <a:endParaRPr lang="en-US"/>
          </a:p>
        </p:txBody>
      </p:sp>
      <p:sp>
        <p:nvSpPr>
          <p:cNvPr id="17" name="Text 15"/>
          <p:cNvSpPr txBox="1"/>
          <p:nvPr/>
        </p:nvSpPr>
        <p:spPr>
          <a:xfrm>
            <a:off x="8183880" y="2331720"/>
            <a:ext cx="457200" cy="457200"/>
          </a:xfrm>
          <a:prstGeom prst="rect">
            <a:avLst/>
          </a:prstGeom>
          <a:noFill/>
          <a:ln/>
        </p:spPr>
        <p:txBody>
          <a:bodyPr wrap="square" lIns="0" tIns="0" rIns="0" bIns="0" rtlCol="0" anchor="ctr"/>
          <a:lstStyle/>
          <a:p>
            <a:pPr marL="0" indent="0" algn="ctr">
              <a:buNone/>
            </a:pPr>
            <a:r>
              <a:rPr lang="en-US" sz="1600" b="1" dirty="0">
                <a:solidFill>
                  <a:srgbClr val="F2F2F2"/>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183880" y="2926080"/>
            <a:ext cx="2971800" cy="4114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Rules</a:t>
            </a:r>
            <a:endParaRPr lang="en-US" sz="1900" dirty="0"/>
          </a:p>
        </p:txBody>
      </p:sp>
      <p:sp>
        <p:nvSpPr>
          <p:cNvPr id="19" name="Text 17"/>
          <p:cNvSpPr txBox="1"/>
          <p:nvPr/>
        </p:nvSpPr>
        <p:spPr>
          <a:xfrm>
            <a:off x="8183880" y="3337560"/>
            <a:ext cx="2971800" cy="411480"/>
          </a:xfrm>
          <a:prstGeom prst="rect">
            <a:avLst/>
          </a:prstGeom>
          <a:noFill/>
          <a:ln/>
        </p:spPr>
        <p:txBody>
          <a:bodyPr wrap="square" lIns="0" tIns="0" rIns="0" bIns="0" rtlCol="0" anchor="ctr"/>
          <a:lstStyle/>
          <a:p>
            <a:pPr marL="0" indent="0">
              <a:buNone/>
            </a:pPr>
            <a:r>
              <a:rPr lang="en-US" sz="1350" dirty="0">
                <a:solidFill>
                  <a:srgbClr val="333333"/>
                </a:solidFill>
                <a:latin typeface="Calibri" pitchFamily="34" charset="0"/>
                <a:ea typeface="Calibri" pitchFamily="34" charset="-122"/>
                <a:cs typeface="Calibri" pitchFamily="34" charset="-120"/>
              </a:rPr>
              <a:t>how they interact</a:t>
            </a:r>
            <a:endParaRPr lang="en-US" sz="1350" dirty="0"/>
          </a:p>
        </p:txBody>
      </p:sp>
      <p:sp>
        <p:nvSpPr>
          <p:cNvPr id="20" name="Shape 18"/>
          <p:cNvSpPr/>
          <p:nvPr/>
        </p:nvSpPr>
        <p:spPr>
          <a:xfrm>
            <a:off x="640080" y="4160520"/>
            <a:ext cx="3429000" cy="1737360"/>
          </a:xfrm>
          <a:prstGeom prst="rect">
            <a:avLst/>
          </a:prstGeom>
          <a:solidFill>
            <a:srgbClr val="E1E1E1"/>
          </a:solidFill>
          <a:ln/>
        </p:spPr>
        <p:txBody>
          <a:bodyPr/>
          <a:lstStyle/>
          <a:p>
            <a:endParaRPr lang="en-US"/>
          </a:p>
        </p:txBody>
      </p:sp>
      <p:sp>
        <p:nvSpPr>
          <p:cNvPr id="21" name="Shape 19"/>
          <p:cNvSpPr/>
          <p:nvPr/>
        </p:nvSpPr>
        <p:spPr>
          <a:xfrm>
            <a:off x="868680" y="4389120"/>
            <a:ext cx="457200" cy="457200"/>
          </a:xfrm>
          <a:prstGeom prst="ellipse">
            <a:avLst/>
          </a:prstGeom>
          <a:solidFill>
            <a:srgbClr val="0E0E0E"/>
          </a:solidFill>
          <a:ln/>
        </p:spPr>
        <p:txBody>
          <a:bodyPr/>
          <a:lstStyle/>
          <a:p>
            <a:endParaRPr lang="en-US"/>
          </a:p>
        </p:txBody>
      </p:sp>
      <p:sp>
        <p:nvSpPr>
          <p:cNvPr id="22" name="Text 20"/>
          <p:cNvSpPr txBox="1"/>
          <p:nvPr/>
        </p:nvSpPr>
        <p:spPr>
          <a:xfrm>
            <a:off x="868680" y="4389120"/>
            <a:ext cx="457200" cy="457200"/>
          </a:xfrm>
          <a:prstGeom prst="rect">
            <a:avLst/>
          </a:prstGeom>
          <a:noFill/>
          <a:ln/>
        </p:spPr>
        <p:txBody>
          <a:bodyPr wrap="square" lIns="0" tIns="0" rIns="0" bIns="0" rtlCol="0" anchor="ctr"/>
          <a:lstStyle/>
          <a:p>
            <a:pPr marL="0" indent="0" algn="ctr">
              <a:buNone/>
            </a:pPr>
            <a:r>
              <a:rPr lang="en-US" sz="1600" b="1" dirty="0">
                <a:solidFill>
                  <a:srgbClr val="F2F2F2"/>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68680" y="4983480"/>
            <a:ext cx="2971800" cy="4114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Environment</a:t>
            </a:r>
            <a:endParaRPr lang="en-US" sz="1900" dirty="0"/>
          </a:p>
        </p:txBody>
      </p:sp>
      <p:sp>
        <p:nvSpPr>
          <p:cNvPr id="24" name="Text 22"/>
          <p:cNvSpPr txBox="1"/>
          <p:nvPr/>
        </p:nvSpPr>
        <p:spPr>
          <a:xfrm>
            <a:off x="868680" y="5394960"/>
            <a:ext cx="2971800" cy="411480"/>
          </a:xfrm>
          <a:prstGeom prst="rect">
            <a:avLst/>
          </a:prstGeom>
          <a:noFill/>
          <a:ln/>
        </p:spPr>
        <p:txBody>
          <a:bodyPr wrap="square" lIns="0" tIns="0" rIns="0" bIns="0" rtlCol="0" anchor="ctr"/>
          <a:lstStyle/>
          <a:p>
            <a:pPr marL="0" indent="0">
              <a:buNone/>
            </a:pPr>
            <a:r>
              <a:rPr lang="en-US" sz="1350" dirty="0">
                <a:solidFill>
                  <a:srgbClr val="333333"/>
                </a:solidFill>
                <a:latin typeface="Calibri" pitchFamily="34" charset="0"/>
                <a:ea typeface="Calibri" pitchFamily="34" charset="-122"/>
                <a:cs typeface="Calibri" pitchFamily="34" charset="-120"/>
              </a:rPr>
              <a:t>what they act within</a:t>
            </a:r>
            <a:endParaRPr lang="en-US" sz="1350" dirty="0"/>
          </a:p>
        </p:txBody>
      </p:sp>
      <p:sp>
        <p:nvSpPr>
          <p:cNvPr id="25" name="Shape 23"/>
          <p:cNvSpPr/>
          <p:nvPr/>
        </p:nvSpPr>
        <p:spPr>
          <a:xfrm>
            <a:off x="4297680" y="4160520"/>
            <a:ext cx="3429000" cy="1737360"/>
          </a:xfrm>
          <a:prstGeom prst="rect">
            <a:avLst/>
          </a:prstGeom>
          <a:solidFill>
            <a:srgbClr val="E1E1E1"/>
          </a:solidFill>
          <a:ln/>
        </p:spPr>
        <p:txBody>
          <a:bodyPr/>
          <a:lstStyle/>
          <a:p>
            <a:endParaRPr lang="en-US"/>
          </a:p>
        </p:txBody>
      </p:sp>
      <p:sp>
        <p:nvSpPr>
          <p:cNvPr id="26" name="Shape 24"/>
          <p:cNvSpPr/>
          <p:nvPr/>
        </p:nvSpPr>
        <p:spPr>
          <a:xfrm>
            <a:off x="4526280" y="4389120"/>
            <a:ext cx="457200" cy="457200"/>
          </a:xfrm>
          <a:prstGeom prst="ellipse">
            <a:avLst/>
          </a:prstGeom>
          <a:solidFill>
            <a:srgbClr val="0E0E0E"/>
          </a:solidFill>
          <a:ln/>
        </p:spPr>
        <p:txBody>
          <a:bodyPr/>
          <a:lstStyle/>
          <a:p>
            <a:endParaRPr lang="en-US"/>
          </a:p>
        </p:txBody>
      </p:sp>
      <p:sp>
        <p:nvSpPr>
          <p:cNvPr id="27" name="Text 25"/>
          <p:cNvSpPr txBox="1"/>
          <p:nvPr/>
        </p:nvSpPr>
        <p:spPr>
          <a:xfrm>
            <a:off x="4526280" y="4389120"/>
            <a:ext cx="457200" cy="457200"/>
          </a:xfrm>
          <a:prstGeom prst="rect">
            <a:avLst/>
          </a:prstGeom>
          <a:noFill/>
          <a:ln/>
        </p:spPr>
        <p:txBody>
          <a:bodyPr wrap="square" lIns="0" tIns="0" rIns="0" bIns="0" rtlCol="0" anchor="ctr"/>
          <a:lstStyle/>
          <a:p>
            <a:pPr marL="0" indent="0" algn="ctr">
              <a:buNone/>
            </a:pPr>
            <a:r>
              <a:rPr lang="en-US" sz="1600" b="1" dirty="0">
                <a:solidFill>
                  <a:srgbClr val="F2F2F2"/>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526280" y="4983480"/>
            <a:ext cx="2971800" cy="4114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Time</a:t>
            </a:r>
            <a:endParaRPr lang="en-US" sz="1900" dirty="0"/>
          </a:p>
        </p:txBody>
      </p:sp>
      <p:sp>
        <p:nvSpPr>
          <p:cNvPr id="29" name="Text 27"/>
          <p:cNvSpPr txBox="1"/>
          <p:nvPr/>
        </p:nvSpPr>
        <p:spPr>
          <a:xfrm>
            <a:off x="4526280" y="5394960"/>
            <a:ext cx="2971800" cy="411480"/>
          </a:xfrm>
          <a:prstGeom prst="rect">
            <a:avLst/>
          </a:prstGeom>
          <a:noFill/>
          <a:ln/>
        </p:spPr>
        <p:txBody>
          <a:bodyPr wrap="square" lIns="0" tIns="0" rIns="0" bIns="0" rtlCol="0" anchor="ctr"/>
          <a:lstStyle/>
          <a:p>
            <a:pPr marL="0" indent="0">
              <a:buNone/>
            </a:pPr>
            <a:r>
              <a:rPr lang="en-US" sz="1350" dirty="0">
                <a:solidFill>
                  <a:srgbClr val="333333"/>
                </a:solidFill>
                <a:latin typeface="Calibri" pitchFamily="34" charset="0"/>
                <a:ea typeface="Calibri" pitchFamily="34" charset="-122"/>
                <a:cs typeface="Calibri" pitchFamily="34" charset="-120"/>
              </a:rPr>
              <a:t>how the process unfolds</a:t>
            </a:r>
            <a:endParaRPr lang="en-US" sz="1350" dirty="0"/>
          </a:p>
        </p:txBody>
      </p:sp>
      <p:sp>
        <p:nvSpPr>
          <p:cNvPr id="30" name="Shape 28"/>
          <p:cNvSpPr/>
          <p:nvPr/>
        </p:nvSpPr>
        <p:spPr>
          <a:xfrm>
            <a:off x="7955280" y="4160520"/>
            <a:ext cx="3429000" cy="1737360"/>
          </a:xfrm>
          <a:prstGeom prst="rect">
            <a:avLst/>
          </a:prstGeom>
          <a:solidFill>
            <a:srgbClr val="E1E1E1"/>
          </a:solidFill>
          <a:ln/>
        </p:spPr>
        <p:txBody>
          <a:bodyPr/>
          <a:lstStyle/>
          <a:p>
            <a:endParaRPr lang="en-US"/>
          </a:p>
        </p:txBody>
      </p:sp>
      <p:sp>
        <p:nvSpPr>
          <p:cNvPr id="31" name="Shape 29"/>
          <p:cNvSpPr/>
          <p:nvPr/>
        </p:nvSpPr>
        <p:spPr>
          <a:xfrm>
            <a:off x="8183880" y="4389120"/>
            <a:ext cx="457200" cy="457200"/>
          </a:xfrm>
          <a:prstGeom prst="ellipse">
            <a:avLst/>
          </a:prstGeom>
          <a:solidFill>
            <a:srgbClr val="0E0E0E"/>
          </a:solidFill>
          <a:ln/>
        </p:spPr>
        <p:txBody>
          <a:bodyPr/>
          <a:lstStyle/>
          <a:p>
            <a:endParaRPr lang="en-US"/>
          </a:p>
        </p:txBody>
      </p:sp>
      <p:sp>
        <p:nvSpPr>
          <p:cNvPr id="32" name="Text 30"/>
          <p:cNvSpPr txBox="1"/>
          <p:nvPr/>
        </p:nvSpPr>
        <p:spPr>
          <a:xfrm>
            <a:off x="8183880" y="4389120"/>
            <a:ext cx="457200" cy="457200"/>
          </a:xfrm>
          <a:prstGeom prst="rect">
            <a:avLst/>
          </a:prstGeom>
          <a:noFill/>
          <a:ln/>
        </p:spPr>
        <p:txBody>
          <a:bodyPr wrap="square" lIns="0" tIns="0" rIns="0" bIns="0" rtlCol="0" anchor="ctr"/>
          <a:lstStyle/>
          <a:p>
            <a:pPr marL="0" indent="0" algn="ctr">
              <a:buNone/>
            </a:pPr>
            <a:r>
              <a:rPr lang="en-US" sz="1600" b="1" dirty="0">
                <a:solidFill>
                  <a:srgbClr val="F2F2F2"/>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183880" y="4983480"/>
            <a:ext cx="2971800" cy="411480"/>
          </a:xfrm>
          <a:prstGeom prst="rect">
            <a:avLst/>
          </a:prstGeom>
          <a:noFill/>
          <a:ln/>
        </p:spPr>
        <p:txBody>
          <a:bodyPr wrap="square" lIns="0" tIns="0" rIns="0" bIns="0" rtlCol="0" anchor="ctr"/>
          <a:lstStyle/>
          <a:p>
            <a:pPr marL="0" indent="0">
              <a:buNone/>
            </a:pPr>
            <a:r>
              <a:rPr lang="en-US" sz="1900" b="1" dirty="0">
                <a:solidFill>
                  <a:srgbClr val="0E0E0E"/>
                </a:solidFill>
                <a:latin typeface="Calibri" pitchFamily="34" charset="0"/>
                <a:ea typeface="Calibri" pitchFamily="34" charset="-122"/>
                <a:cs typeface="Calibri" pitchFamily="34" charset="-120"/>
              </a:rPr>
              <a:t>Stochasticity</a:t>
            </a:r>
            <a:endParaRPr lang="en-US" sz="1900" dirty="0"/>
          </a:p>
        </p:txBody>
      </p:sp>
      <p:sp>
        <p:nvSpPr>
          <p:cNvPr id="34" name="Text 32"/>
          <p:cNvSpPr txBox="1"/>
          <p:nvPr/>
        </p:nvSpPr>
        <p:spPr>
          <a:xfrm>
            <a:off x="8183880" y="5394960"/>
            <a:ext cx="2971800" cy="411480"/>
          </a:xfrm>
          <a:prstGeom prst="rect">
            <a:avLst/>
          </a:prstGeom>
          <a:noFill/>
          <a:ln/>
        </p:spPr>
        <p:txBody>
          <a:bodyPr wrap="square" lIns="0" tIns="0" rIns="0" bIns="0" rtlCol="0" anchor="ctr"/>
          <a:lstStyle/>
          <a:p>
            <a:pPr marL="0" indent="0">
              <a:buNone/>
            </a:pPr>
            <a:r>
              <a:rPr lang="en-US" sz="1350" dirty="0">
                <a:solidFill>
                  <a:srgbClr val="333333"/>
                </a:solidFill>
                <a:latin typeface="Calibri" pitchFamily="34" charset="0"/>
                <a:ea typeface="Calibri" pitchFamily="34" charset="-122"/>
                <a:cs typeface="Calibri" pitchFamily="34" charset="-120"/>
              </a:rPr>
              <a:t>what is left to chance</a:t>
            </a:r>
            <a:endParaRPr lang="en-US" sz="1350" dirty="0"/>
          </a:p>
        </p:txBody>
      </p:sp>
      <p:sp>
        <p:nvSpPr>
          <p:cNvPr id="35" name="Text 3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10</a:t>
            </a:r>
            <a:endParaRPr lang="en-US" sz="1000" dirty="0"/>
          </a:p>
        </p:txBody>
      </p:sp>
      <p:pic>
        <p:nvPicPr>
          <p:cNvPr id="36"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ANATOMY · 2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You have been half-specifying models all along</a:t>
            </a:r>
            <a:endParaRPr lang="en-US" sz="3000" dirty="0"/>
          </a:p>
        </p:txBody>
      </p:sp>
      <p:sp>
        <p:nvSpPr>
          <p:cNvPr id="5" name="Shape 3"/>
          <p:cNvSpPr/>
          <p:nvPr/>
        </p:nvSpPr>
        <p:spPr>
          <a:xfrm>
            <a:off x="640080" y="2011680"/>
            <a:ext cx="10881360" cy="1005840"/>
          </a:xfrm>
          <a:prstGeom prst="rect">
            <a:avLst/>
          </a:prstGeom>
          <a:solidFill>
            <a:srgbClr val="0E0E0E"/>
          </a:solidFill>
          <a:ln/>
        </p:spPr>
        <p:txBody>
          <a:bodyPr/>
          <a:lstStyle/>
          <a:p>
            <a:endParaRPr lang="en-US"/>
          </a:p>
        </p:txBody>
      </p:sp>
      <p:sp>
        <p:nvSpPr>
          <p:cNvPr id="6" name="Text 4"/>
          <p:cNvSpPr txBox="1"/>
          <p:nvPr/>
        </p:nvSpPr>
        <p:spPr>
          <a:xfrm>
            <a:off x="914400" y="2011680"/>
            <a:ext cx="10332720" cy="1005840"/>
          </a:xfrm>
          <a:prstGeom prst="rect">
            <a:avLst/>
          </a:prstGeom>
          <a:noFill/>
          <a:ln/>
        </p:spPr>
        <p:txBody>
          <a:bodyPr wrap="square" lIns="0" tIns="0" rIns="0" bIns="0" rtlCol="0" anchor="ctr"/>
          <a:lstStyle/>
          <a:p>
            <a:pPr marL="0" indent="0">
              <a:buNone/>
            </a:pPr>
            <a:r>
              <a:rPr lang="en-US" sz="1900" i="1" dirty="0">
                <a:solidFill>
                  <a:srgbClr val="F2F2F2"/>
                </a:solidFill>
                <a:latin typeface="Calibri" pitchFamily="34" charset="0"/>
                <a:ea typeface="Calibri" pitchFamily="34" charset="-122"/>
                <a:cs typeface="Calibri" pitchFamily="34" charset="-120"/>
              </a:rPr>
              <a:t>“Members with higher status exert more influence during disagreement.”</a:t>
            </a:r>
            <a:endParaRPr lang="en-US" sz="1900" dirty="0"/>
          </a:p>
        </p:txBody>
      </p:sp>
      <p:sp>
        <p:nvSpPr>
          <p:cNvPr id="7" name="Text 5"/>
          <p:cNvSpPr txBox="1"/>
          <p:nvPr/>
        </p:nvSpPr>
        <p:spPr>
          <a:xfrm>
            <a:off x="640080" y="3337560"/>
            <a:ext cx="3291840" cy="594360"/>
          </a:xfrm>
          <a:prstGeom prst="rect">
            <a:avLst/>
          </a:prstGeom>
          <a:noFill/>
          <a:ln/>
        </p:spPr>
        <p:txBody>
          <a:bodyPr wrap="square" lIns="0" tIns="0" rIns="0" bIns="0" rtlCol="0" anchor="ctr"/>
          <a:lstStyle/>
          <a:p>
            <a:pPr marL="0" indent="0">
              <a:buNone/>
            </a:pPr>
            <a:r>
              <a:rPr lang="en-US" sz="1800" b="1" dirty="0">
                <a:solidFill>
                  <a:srgbClr val="B60000"/>
                </a:solidFill>
                <a:latin typeface="Calibri" pitchFamily="34" charset="0"/>
                <a:ea typeface="Calibri" pitchFamily="34" charset="-122"/>
                <a:cs typeface="Calibri" pitchFamily="34" charset="-120"/>
              </a:rPr>
              <a:t>Agent attribute</a:t>
            </a:r>
            <a:endParaRPr lang="en-US" sz="1800" dirty="0"/>
          </a:p>
        </p:txBody>
      </p:sp>
      <p:sp>
        <p:nvSpPr>
          <p:cNvPr id="8" name="Text 6"/>
          <p:cNvSpPr txBox="1"/>
          <p:nvPr/>
        </p:nvSpPr>
        <p:spPr>
          <a:xfrm>
            <a:off x="4023360" y="3337560"/>
            <a:ext cx="7315200" cy="59436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status</a:t>
            </a:r>
            <a:endParaRPr lang="en-US" sz="1800" dirty="0"/>
          </a:p>
        </p:txBody>
      </p:sp>
      <p:sp>
        <p:nvSpPr>
          <p:cNvPr id="9" name="Text 7"/>
          <p:cNvSpPr txBox="1"/>
          <p:nvPr/>
        </p:nvSpPr>
        <p:spPr>
          <a:xfrm>
            <a:off x="640080" y="4114800"/>
            <a:ext cx="3291840" cy="594360"/>
          </a:xfrm>
          <a:prstGeom prst="rect">
            <a:avLst/>
          </a:prstGeom>
          <a:noFill/>
          <a:ln/>
        </p:spPr>
        <p:txBody>
          <a:bodyPr wrap="square" lIns="0" tIns="0" rIns="0" bIns="0" rtlCol="0" anchor="ctr"/>
          <a:lstStyle/>
          <a:p>
            <a:pPr marL="0" indent="0">
              <a:buNone/>
            </a:pPr>
            <a:r>
              <a:rPr lang="en-US" sz="1800" b="1" dirty="0">
                <a:solidFill>
                  <a:srgbClr val="B60000"/>
                </a:solidFill>
                <a:latin typeface="Calibri" pitchFamily="34" charset="0"/>
                <a:ea typeface="Calibri" pitchFamily="34" charset="-122"/>
                <a:cs typeface="Calibri" pitchFamily="34" charset="-120"/>
              </a:rPr>
              <a:t>Interaction rule</a:t>
            </a:r>
            <a:endParaRPr lang="en-US" sz="1800" dirty="0"/>
          </a:p>
        </p:txBody>
      </p:sp>
      <p:sp>
        <p:nvSpPr>
          <p:cNvPr id="10" name="Text 8"/>
          <p:cNvSpPr txBox="1"/>
          <p:nvPr/>
        </p:nvSpPr>
        <p:spPr>
          <a:xfrm>
            <a:off x="4023360" y="4114800"/>
            <a:ext cx="7315200" cy="59436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influence weighted by relative status during disagreement</a:t>
            </a:r>
            <a:endParaRPr lang="en-US" sz="1800" dirty="0"/>
          </a:p>
        </p:txBody>
      </p:sp>
      <p:sp>
        <p:nvSpPr>
          <p:cNvPr id="11" name="Text 9"/>
          <p:cNvSpPr txBox="1"/>
          <p:nvPr/>
        </p:nvSpPr>
        <p:spPr>
          <a:xfrm>
            <a:off x="640080" y="4892040"/>
            <a:ext cx="3291840" cy="594360"/>
          </a:xfrm>
          <a:prstGeom prst="rect">
            <a:avLst/>
          </a:prstGeom>
          <a:noFill/>
          <a:ln/>
        </p:spPr>
        <p:txBody>
          <a:bodyPr wrap="square" lIns="0" tIns="0" rIns="0" bIns="0" rtlCol="0" anchor="ctr"/>
          <a:lstStyle/>
          <a:p>
            <a:pPr marL="0" indent="0">
              <a:buNone/>
            </a:pPr>
            <a:r>
              <a:rPr lang="en-US" sz="1800" b="1" dirty="0">
                <a:solidFill>
                  <a:srgbClr val="B60000"/>
                </a:solidFill>
                <a:latin typeface="Calibri" pitchFamily="34" charset="0"/>
                <a:ea typeface="Calibri" pitchFamily="34" charset="-122"/>
                <a:cs typeface="Calibri" pitchFamily="34" charset="-120"/>
              </a:rPr>
              <a:t>Environment (implied)</a:t>
            </a:r>
            <a:endParaRPr lang="en-US" sz="1800" dirty="0"/>
          </a:p>
        </p:txBody>
      </p:sp>
      <p:sp>
        <p:nvSpPr>
          <p:cNvPr id="12" name="Text 10"/>
          <p:cNvSpPr txBox="1"/>
          <p:nvPr/>
        </p:nvSpPr>
        <p:spPr>
          <a:xfrm>
            <a:off x="4023360" y="4892040"/>
            <a:ext cx="7315200" cy="59436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a group in which disagreement occurs</a:t>
            </a:r>
            <a:endParaRPr lang="en-US" sz="1800" dirty="0"/>
          </a:p>
        </p:txBody>
      </p:sp>
      <p:sp>
        <p:nvSpPr>
          <p:cNvPr id="13" name="Text 11"/>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11</a:t>
            </a:r>
            <a:endParaRPr lang="en-US" sz="1000" dirty="0"/>
          </a:p>
        </p:txBody>
      </p:sp>
      <p:pic>
        <p:nvPicPr>
          <p:cNvPr id="14"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ANATOMY · 3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Grand et al. (2016)</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Grand, J. A., Braun, M. T., Kuljanin, G., Kozlowski, S. W. J., &amp; Chao, G. T. (2016). The dynamics of team cognition: A process-oriented theory of knowledge emergence in teams. </a:t>
            </a:r>
            <a:r>
              <a:rPr lang="en-US" sz="1450" i="1" dirty="0">
                <a:solidFill>
                  <a:srgbClr val="333333"/>
                </a:solidFill>
                <a:latin typeface="Times New Roman" pitchFamily="34" charset="0"/>
                <a:ea typeface="Times New Roman" pitchFamily="34" charset="-122"/>
                <a:cs typeface="Times New Roman" pitchFamily="34" charset="-120"/>
              </a:rPr>
              <a:t>Journal of Applied Psychology, 101</a:t>
            </a:r>
            <a:r>
              <a:rPr lang="en-US" sz="1450" dirty="0">
                <a:solidFill>
                  <a:srgbClr val="333333"/>
                </a:solidFill>
                <a:latin typeface="Times New Roman" pitchFamily="34" charset="0"/>
                <a:ea typeface="Times New Roman" pitchFamily="34" charset="-122"/>
                <a:cs typeface="Times New Roman" pitchFamily="34" charset="-120"/>
              </a:rPr>
              <a:t>(10), 1353-1385.</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Advanced and computationally tested a process-oriented theory of how collectively held team knowledge emerges over time from individual-level cognition, directly addressing team cognition theory's tendency to remain static despite describing an inherently dynamic process.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12</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ANATOMY · 4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Dionne et al. (2010)</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Dionne, S. D., Sayama, H., Hao, C., &amp; Bush, B. J. (2010). The role of leadership in shared mental model convergence and team performance improvement: An agent-based computational model. </a:t>
            </a:r>
            <a:r>
              <a:rPr lang="en-US" sz="1450" i="1" dirty="0">
                <a:solidFill>
                  <a:srgbClr val="333333"/>
                </a:solidFill>
                <a:latin typeface="Times New Roman" pitchFamily="34" charset="0"/>
                <a:ea typeface="Times New Roman" pitchFamily="34" charset="-122"/>
                <a:cs typeface="Times New Roman" pitchFamily="34" charset="-120"/>
              </a:rPr>
              <a:t>The Leadership Quarterly, 21</a:t>
            </a:r>
            <a:r>
              <a:rPr lang="en-US" sz="1450" dirty="0">
                <a:solidFill>
                  <a:srgbClr val="333333"/>
                </a:solidFill>
                <a:latin typeface="Times New Roman" pitchFamily="34" charset="0"/>
                <a:ea typeface="Times New Roman" pitchFamily="34" charset="-122"/>
                <a:cs typeface="Times New Roman" pitchFamily="34" charset="-120"/>
              </a:rPr>
              <a:t>(6), 1035-1049.</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Modeled leadership structure as the team's communication network: participative leadership connected everyone, while leader-member exchange connected an in-group and tied the out-group only to the leader. Participative structures converged mental models more, but improved performance only when expertise was diverse and mutual interest was strong.</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13</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ANATOMY · 5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Vancouver &amp; Weinhardt (2012)</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Vancouver, J. B., &amp; Weinhardt, J. M. (2012). Modeling the mind and the milieu: Computational modeling for micro-level organizational researchers. </a:t>
            </a:r>
            <a:r>
              <a:rPr lang="en-US" sz="1450" i="1" dirty="0">
                <a:solidFill>
                  <a:srgbClr val="333333"/>
                </a:solidFill>
                <a:latin typeface="Times New Roman" pitchFamily="34" charset="0"/>
                <a:ea typeface="Times New Roman" pitchFamily="34" charset="-122"/>
                <a:cs typeface="Times New Roman" pitchFamily="34" charset="-120"/>
              </a:rPr>
              <a:t>Organizational Research Methods, 15</a:t>
            </a:r>
            <a:r>
              <a:rPr lang="en-US" sz="1450" dirty="0">
                <a:solidFill>
                  <a:srgbClr val="333333"/>
                </a:solidFill>
                <a:latin typeface="Times New Roman" pitchFamily="34" charset="0"/>
                <a:ea typeface="Times New Roman" pitchFamily="34" charset="-122"/>
                <a:cs typeface="Times New Roman" pitchFamily="34" charset="-120"/>
              </a:rPr>
              <a:t>(4), 602-623.</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Showed that translating an existing verbal micro-level theory into a computational model routinely exposes internal contradictions and unstated assumptions that verbal reasoning alone does not surface, even for well-established theories.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14</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0E0E"/>
        </a:solidFill>
        <a:effectLst/>
      </p:bgPr>
    </p:bg>
    <p:spTree>
      <p:nvGrpSpPr>
        <p:cNvPr id="1" name=""/>
        <p:cNvGrpSpPr/>
        <p:nvPr/>
      </p:nvGrpSpPr>
      <p:grpSpPr>
        <a:xfrm>
          <a:off x="0" y="0"/>
          <a:ext cx="0" cy="0"/>
          <a:chOff x="0" y="0"/>
          <a:chExt cx="0" cy="0"/>
        </a:xfrm>
      </p:grpSpPr>
      <p:pic>
        <p:nvPicPr>
          <p:cNvPr id="2" name="Image 0" descr="assets/art_build.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txBody>
          <a:bodyPr/>
          <a:lstStyle/>
          <a:p>
            <a:endParaRPr lang="en-US"/>
          </a:p>
        </p:txBody>
      </p:sp>
      <p:sp>
        <p:nvSpPr>
          <p:cNvPr id="4" name="Text 1"/>
          <p:cNvSpPr txBox="1"/>
          <p:nvPr/>
        </p:nvSpPr>
        <p:spPr>
          <a:xfrm>
            <a:off x="731520" y="685800"/>
            <a:ext cx="4572000" cy="1737360"/>
          </a:xfrm>
          <a:prstGeom prst="rect">
            <a:avLst/>
          </a:prstGeom>
          <a:noFill/>
          <a:ln/>
        </p:spPr>
        <p:txBody>
          <a:bodyPr wrap="square" lIns="0" tIns="0" rIns="0" bIns="0" rtlCol="0" anchor="ctr"/>
          <a:lstStyle/>
          <a:p>
            <a:pPr marL="0" indent="0">
              <a:buNone/>
            </a:pPr>
            <a:r>
              <a:rPr lang="en-US" sz="13200" b="1" dirty="0">
                <a:solidFill>
                  <a:srgbClr val="333333"/>
                </a:solidFill>
                <a:latin typeface="Calibri" pitchFamily="34" charset="0"/>
                <a:ea typeface="Calibri" pitchFamily="34" charset="-122"/>
                <a:cs typeface="Calibri" pitchFamily="34" charset="-120"/>
              </a:rPr>
              <a:t>03</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marL="0" indent="0">
              <a:buNone/>
            </a:pPr>
            <a:r>
              <a:rPr lang="en-US" sz="1400" b="1" kern="0" spc="300" dirty="0">
                <a:solidFill>
                  <a:srgbClr val="E1E1E1"/>
                </a:solidFill>
                <a:latin typeface="Calibri" pitchFamily="34" charset="0"/>
                <a:ea typeface="Calibri" pitchFamily="34" charset="-122"/>
                <a:cs typeface="Calibri" pitchFamily="34" charset="-120"/>
              </a:rPr>
              <a:t>PART 03 · BUILD &amp; SWEEP</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marL="0" indent="0">
              <a:lnSpc>
                <a:spcPct val="100000"/>
              </a:lnSpc>
              <a:buNone/>
            </a:pPr>
            <a:r>
              <a:rPr lang="en-US" sz="4200" b="1" dirty="0">
                <a:solidFill>
                  <a:srgbClr val="F2F2F2"/>
                </a:solidFill>
                <a:latin typeface="Calibri" pitchFamily="34" charset="0"/>
                <a:ea typeface="Calibri" pitchFamily="34" charset="-122"/>
                <a:cs typeface="Calibri" pitchFamily="34" charset="-120"/>
              </a:rPr>
              <a:t>One model, four stages</a:t>
            </a:r>
            <a:endParaRPr lang="en-US" sz="4200" dirty="0"/>
          </a:p>
        </p:txBody>
      </p:sp>
      <p:sp>
        <p:nvSpPr>
          <p:cNvPr id="7" name="Shape 4"/>
          <p:cNvSpPr/>
          <p:nvPr/>
        </p:nvSpPr>
        <p:spPr>
          <a:xfrm>
            <a:off x="822960" y="4709160"/>
            <a:ext cx="1005840" cy="54864"/>
          </a:xfrm>
          <a:prstGeom prst="rect">
            <a:avLst/>
          </a:prstGeom>
          <a:solidFill>
            <a:srgbClr val="B60000"/>
          </a:solidFill>
          <a:ln/>
        </p:spPr>
        <p:txBody>
          <a:bodyPr/>
          <a:lstStyle/>
          <a:p>
            <a:endParaRPr lang="en-US"/>
          </a:p>
        </p:txBody>
      </p:sp>
      <p:sp>
        <p:nvSpPr>
          <p:cNvPr id="8" name="Text 5"/>
          <p:cNvSpPr txBox="1"/>
          <p:nvPr/>
        </p:nvSpPr>
        <p:spPr>
          <a:xfrm>
            <a:off x="822960" y="4937760"/>
            <a:ext cx="5852160" cy="1005840"/>
          </a:xfrm>
          <a:prstGeom prst="rect">
            <a:avLst/>
          </a:prstGeom>
          <a:noFill/>
          <a:ln/>
        </p:spPr>
        <p:txBody>
          <a:bodyPr wrap="square" lIns="0" tIns="0" rIns="0" bIns="0" rtlCol="0" anchor="t"/>
          <a:lstStyle/>
          <a:p>
            <a:pPr marL="0" indent="0">
              <a:lnSpc>
                <a:spcPct val="125000"/>
              </a:lnSpc>
              <a:buNone/>
            </a:pPr>
            <a:r>
              <a:rPr lang="en-US" sz="1700" dirty="0">
                <a:solidFill>
                  <a:srgbClr val="E1E1E1"/>
                </a:solidFill>
                <a:latin typeface="Calibri" pitchFamily="34" charset="0"/>
                <a:ea typeface="Calibri" pitchFamily="34" charset="-122"/>
                <a:cs typeface="Calibri" pitchFamily="34" charset="-120"/>
              </a:rPr>
              <a:t>A bounded-confidence model built live, then swept like a factorial design.</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15</a:t>
            </a:r>
            <a:endParaRPr lang="en-US" sz="1000" dirty="0"/>
          </a:p>
        </p:txBody>
      </p:sp>
      <p:pic>
        <p:nvPicPr>
          <p:cNvPr id="10" name="Image 1" descr="assets/ncite_logo_white.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0E0E"/>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E1E1E1"/>
                </a:solidFill>
                <a:latin typeface="Calibri" pitchFamily="34" charset="0"/>
                <a:ea typeface="Calibri" pitchFamily="34" charset="-122"/>
                <a:cs typeface="Calibri" pitchFamily="34" charset="-120"/>
              </a:rPr>
              <a:t>LIVE BUILD · STAGE 1</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marL="0" indent="0">
              <a:buNone/>
            </a:pPr>
            <a:r>
              <a:rPr lang="en-US" sz="3000" b="1" dirty="0">
                <a:solidFill>
                  <a:srgbClr val="F2F2F2"/>
                </a:solidFill>
                <a:latin typeface="Calibri" pitchFamily="34" charset="0"/>
                <a:ea typeface="Calibri" pitchFamily="34" charset="-122"/>
                <a:cs typeface="Calibri" pitchFamily="34" charset="-120"/>
              </a:rPr>
              <a:t>Full mixing, unconditional convergence</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marL="0" indent="0">
              <a:buNone/>
            </a:pPr>
            <a:r>
              <a:rPr lang="en-US" sz="1600" i="1" dirty="0">
                <a:solidFill>
                  <a:srgbClr val="E1E1E1"/>
                </a:solidFill>
                <a:latin typeface="Calibri" pitchFamily="34" charset="0"/>
                <a:ea typeface="Calibri" pitchFamily="34" charset="-122"/>
                <a:cs typeface="Calibri" pitchFamily="34" charset="-120"/>
              </a:rPr>
              <a:t>Baseline: every pair that meets moves toward each other. No threshold yet.</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txBody>
          <a:bodyPr/>
          <a:lstStyle/>
          <a:p>
            <a:endParaRPr lang="en-US"/>
          </a:p>
        </p:txBody>
      </p:sp>
      <p:sp>
        <p:nvSpPr>
          <p:cNvPr id="7" name="Shape 5"/>
          <p:cNvSpPr/>
          <p:nvPr/>
        </p:nvSpPr>
        <p:spPr>
          <a:xfrm>
            <a:off x="640080" y="2240280"/>
            <a:ext cx="6858000" cy="384048"/>
          </a:xfrm>
          <a:prstGeom prst="rect">
            <a:avLst/>
          </a:prstGeom>
          <a:solidFill>
            <a:srgbClr val="262626"/>
          </a:solidFill>
          <a:ln/>
        </p:spPr>
        <p:txBody>
          <a:bodyPr/>
          <a:lstStyle/>
          <a:p>
            <a:endParaRPr lang="en-US"/>
          </a:p>
        </p:txBody>
      </p:sp>
      <p:sp>
        <p:nvSpPr>
          <p:cNvPr id="8" name="Shape 6"/>
          <p:cNvSpPr/>
          <p:nvPr/>
        </p:nvSpPr>
        <p:spPr>
          <a:xfrm>
            <a:off x="640080" y="2240280"/>
            <a:ext cx="6858000" cy="45720"/>
          </a:xfrm>
          <a:prstGeom prst="rect">
            <a:avLst/>
          </a:prstGeom>
          <a:solidFill>
            <a:srgbClr val="B60000"/>
          </a:solidFill>
          <a:ln/>
        </p:spPr>
        <p:txBody>
          <a:bodyPr/>
          <a:lstStyle/>
          <a:p>
            <a:endParaRPr lang="en-US"/>
          </a:p>
        </p:txBody>
      </p:sp>
      <p:sp>
        <p:nvSpPr>
          <p:cNvPr id="9" name="Text 7"/>
          <p:cNvSpPr txBox="1"/>
          <p:nvPr/>
        </p:nvSpPr>
        <p:spPr>
          <a:xfrm>
            <a:off x="868680" y="2304288"/>
            <a:ext cx="6400800" cy="292608"/>
          </a:xfrm>
          <a:prstGeom prst="rect">
            <a:avLst/>
          </a:prstGeom>
          <a:noFill/>
          <a:ln/>
        </p:spPr>
        <p:txBody>
          <a:bodyPr wrap="square" lIns="0" tIns="0" rIns="0" bIns="0" rtlCol="0" anchor="ctr"/>
          <a:lstStyle/>
          <a:p>
            <a:pPr marL="0" indent="0">
              <a:buNone/>
            </a:pPr>
            <a:r>
              <a:rPr lang="en-US" sz="1100" b="1" dirty="0">
                <a:solidFill>
                  <a:srgbClr val="F2F2F2"/>
                </a:solidFill>
                <a:latin typeface="Courier New" pitchFamily="34" charset="0"/>
                <a:ea typeface="Courier New" pitchFamily="34" charset="-122"/>
                <a:cs typeface="Courier New" pitchFamily="34" charset="-120"/>
              </a:rPr>
              <a:t>stage1.nlogo</a:t>
            </a:r>
            <a:r>
              <a:rPr lang="en-US" sz="1100" dirty="0">
                <a:solidFill>
                  <a:srgbClr val="8A8A8A"/>
                </a:solidFill>
                <a:latin typeface="Courier New" pitchFamily="34" charset="0"/>
                <a:ea typeface="Courier New" pitchFamily="34" charset="-122"/>
                <a:cs typeface="Courier New" pitchFamily="34" charset="-120"/>
              </a:rPr>
              <a:t>   Interface   Info   </a:t>
            </a: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r>
              <a:rPr lang="en-US" sz="1300" dirty="0">
                <a:solidFill>
                  <a:srgbClr val="E1E1E1"/>
                </a:solidFill>
                <a:latin typeface="Courier New" pitchFamily="34" charset="0"/>
                <a:ea typeface="Courier New" pitchFamily="34" charset="-122"/>
                <a:cs typeface="Courier New" pitchFamily="34" charset="-120"/>
              </a:rPr>
              <a:t> go</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ask</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partner </a:t>
            </a:r>
            <a:r>
              <a:rPr lang="en-US" sz="1300" b="1" dirty="0">
                <a:solidFill>
                  <a:srgbClr val="F2F2F2"/>
                </a:solidFill>
                <a:latin typeface="Courier New" pitchFamily="34" charset="0"/>
                <a:ea typeface="Courier New" pitchFamily="34" charset="-122"/>
                <a:cs typeface="Courier New" pitchFamily="34" charset="-120"/>
              </a:rPr>
              <a:t>one-of</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other</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m (opinion + [opinion] </a:t>
            </a:r>
            <a:r>
              <a:rPr lang="en-US" sz="1300" dirty="0">
                <a:solidFill>
                  <a:srgbClr val="F2F2F2"/>
                </a:solidFill>
                <a:latin typeface="Courier New" pitchFamily="34" charset="0"/>
                <a:ea typeface="Courier New" pitchFamily="34" charset="-122"/>
                <a:cs typeface="Courier New" pitchFamily="34" charset="-120"/>
              </a:rPr>
              <a:t>of</a:t>
            </a:r>
            <a:r>
              <a:rPr lang="en-US" sz="1300" dirty="0">
                <a:solidFill>
                  <a:srgbClr val="E1E1E1"/>
                </a:solidFill>
                <a:latin typeface="Courier New" pitchFamily="34" charset="0"/>
                <a:ea typeface="Courier New" pitchFamily="34" charset="-122"/>
                <a:cs typeface="Courier New" pitchFamily="34" charset="-120"/>
              </a:rPr>
              <a:t> partner) / 2</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set</a:t>
            </a:r>
            <a:r>
              <a:rPr lang="en-US" sz="1300" dirty="0">
                <a:solidFill>
                  <a:srgbClr val="E1E1E1"/>
                </a:solidFill>
                <a:latin typeface="Courier New" pitchFamily="34" charset="0"/>
                <a:ea typeface="Courier New" pitchFamily="34" charset="-122"/>
                <a:cs typeface="Courier New" pitchFamily="34" charset="-120"/>
              </a:rPr>
              <a:t> opinion m</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ask</a:t>
            </a:r>
            <a:r>
              <a:rPr lang="en-US" sz="1300" dirty="0">
                <a:solidFill>
                  <a:srgbClr val="E1E1E1"/>
                </a:solidFill>
                <a:latin typeface="Courier New" pitchFamily="34" charset="0"/>
                <a:ea typeface="Courier New" pitchFamily="34" charset="-122"/>
                <a:cs typeface="Courier New" pitchFamily="34" charset="-120"/>
              </a:rPr>
              <a:t> partner [ </a:t>
            </a:r>
            <a:r>
              <a:rPr lang="en-US" sz="1300" b="1" dirty="0">
                <a:solidFill>
                  <a:srgbClr val="F2F2F2"/>
                </a:solidFill>
                <a:latin typeface="Courier New" pitchFamily="34" charset="0"/>
                <a:ea typeface="Courier New" pitchFamily="34" charset="-122"/>
                <a:cs typeface="Courier New" pitchFamily="34" charset="-120"/>
              </a:rPr>
              <a:t>set</a:t>
            </a:r>
            <a:r>
              <a:rPr lang="en-US" sz="1300" dirty="0">
                <a:solidFill>
                  <a:srgbClr val="E1E1E1"/>
                </a:solidFill>
                <a:latin typeface="Courier New" pitchFamily="34" charset="0"/>
                <a:ea typeface="Courier New" pitchFamily="34" charset="-122"/>
                <a:cs typeface="Courier New" pitchFamily="34" charset="-120"/>
              </a:rPr>
              <a:t> opinion m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tick</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txBody>
          <a:bodyPr/>
          <a:lstStyle/>
          <a:p>
            <a:endParaRPr lang="en-US"/>
          </a:p>
        </p:txBody>
      </p:sp>
      <p:sp>
        <p:nvSpPr>
          <p:cNvPr id="12" name="Shape 10"/>
          <p:cNvSpPr/>
          <p:nvPr/>
        </p:nvSpPr>
        <p:spPr>
          <a:xfrm>
            <a:off x="7726680" y="2240280"/>
            <a:ext cx="3794760" cy="45720"/>
          </a:xfrm>
          <a:prstGeom prst="rect">
            <a:avLst/>
          </a:prstGeom>
          <a:solidFill>
            <a:srgbClr val="B60000"/>
          </a:solidFill>
          <a:ln/>
        </p:spPr>
        <p:txBody>
          <a:bodyPr/>
          <a:lstStyle/>
          <a:p>
            <a:endParaRPr lang="en-US"/>
          </a:p>
        </p:txBody>
      </p:sp>
      <p:sp>
        <p:nvSpPr>
          <p:cNvPr id="13" name="Text 11"/>
          <p:cNvSpPr txBox="1"/>
          <p:nvPr/>
        </p:nvSpPr>
        <p:spPr>
          <a:xfrm>
            <a:off x="7909560" y="2377440"/>
            <a:ext cx="3383280" cy="320040"/>
          </a:xfrm>
          <a:prstGeom prst="rect">
            <a:avLst/>
          </a:prstGeom>
          <a:noFill/>
          <a:ln/>
        </p:spPr>
        <p:txBody>
          <a:bodyPr wrap="square" lIns="0" tIns="0" rIns="0" bIns="0" rtlCol="0" anchor="ctr"/>
          <a:lstStyle/>
          <a:p>
            <a:pPr marL="0" indent="0">
              <a:buNone/>
            </a:pPr>
            <a:r>
              <a:rPr lang="en-US" sz="1100" b="1" kern="0" spc="15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marL="0" indent="0">
              <a:lnSpc>
                <a:spcPct val="122000"/>
              </a:lnSpc>
              <a:buNone/>
            </a:pPr>
            <a:r>
              <a:rPr lang="en-US" sz="1800" dirty="0">
                <a:solidFill>
                  <a:srgbClr val="F2F2F2"/>
                </a:solidFill>
                <a:latin typeface="Calibri" pitchFamily="34" charset="0"/>
                <a:ea typeface="Calibri" pitchFamily="34" charset="-122"/>
                <a:cs typeface="Calibri" pitchFamily="34" charset="-120"/>
              </a:rPr>
              <a:t>A near-uniform spread of two hundred agents collapses to a single spike within about fifty ticks, every time, regardless of the starting configuration.</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16</a:t>
            </a:r>
            <a:endParaRPr lang="en-US" sz="1000" dirty="0"/>
          </a:p>
        </p:txBody>
      </p:sp>
      <p:pic>
        <p:nvPicPr>
          <p:cNvPr id="16" name="Image 0" descr="assets/ncite_logo_white.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1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Boring on purpose</a:t>
            </a:r>
            <a:endParaRPr lang="en-US" sz="3000" dirty="0"/>
          </a:p>
        </p:txBody>
      </p:sp>
      <p:pic>
        <p:nvPicPr>
          <p:cNvPr id="5" name="Image 0" descr="figures/stage1_histogram.png"/>
          <p:cNvPicPr>
            <a:picLocks noChangeAspect="1"/>
          </p:cNvPicPr>
          <p:nvPr/>
        </p:nvPicPr>
        <p:blipFill>
          <a:blip r:embed="rId3"/>
          <a:stretch>
            <a:fillRect/>
          </a:stretch>
        </p:blipFill>
        <p:spPr>
          <a:xfrm>
            <a:off x="1463040" y="1965960"/>
            <a:ext cx="9235440" cy="4381139"/>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17</a:t>
            </a:r>
            <a:endParaRPr lang="en-US" sz="1000" dirty="0"/>
          </a:p>
        </p:txBody>
      </p:sp>
      <p:pic>
        <p:nvPicPr>
          <p:cNvPr id="7"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0E0E"/>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E1E1E1"/>
                </a:solidFill>
                <a:latin typeface="Calibri" pitchFamily="34" charset="0"/>
                <a:ea typeface="Calibri" pitchFamily="34" charset="-122"/>
                <a:cs typeface="Calibri" pitchFamily="34" charset="-120"/>
              </a:rPr>
              <a:t>LIVE BUILD · STAGE 2</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marL="0" indent="0">
              <a:buNone/>
            </a:pPr>
            <a:r>
              <a:rPr lang="en-US" sz="3000" b="1" dirty="0">
                <a:solidFill>
                  <a:srgbClr val="F2F2F2"/>
                </a:solidFill>
                <a:latin typeface="Calibri" pitchFamily="34" charset="0"/>
                <a:ea typeface="Calibri" pitchFamily="34" charset="-122"/>
                <a:cs typeface="Calibri" pitchFamily="34" charset="-120"/>
              </a:rPr>
              <a:t>Add the confidence threshold</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marL="0" indent="0">
              <a:buNone/>
            </a:pPr>
            <a:r>
              <a:rPr lang="en-US" sz="1600" i="1" dirty="0">
                <a:solidFill>
                  <a:srgbClr val="E1E1E1"/>
                </a:solidFill>
                <a:latin typeface="Calibri" pitchFamily="34" charset="0"/>
                <a:ea typeface="Calibri" pitchFamily="34" charset="-122"/>
                <a:cs typeface="Calibri" pitchFamily="34" charset="-120"/>
              </a:rPr>
              <a:t>One new slider, one new condition (Deffuant et al., 2000). Only agents close enough in opinion update at all.</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txBody>
          <a:bodyPr/>
          <a:lstStyle/>
          <a:p>
            <a:endParaRPr lang="en-US"/>
          </a:p>
        </p:txBody>
      </p:sp>
      <p:sp>
        <p:nvSpPr>
          <p:cNvPr id="7" name="Shape 5"/>
          <p:cNvSpPr/>
          <p:nvPr/>
        </p:nvSpPr>
        <p:spPr>
          <a:xfrm>
            <a:off x="640080" y="2240280"/>
            <a:ext cx="6858000" cy="384048"/>
          </a:xfrm>
          <a:prstGeom prst="rect">
            <a:avLst/>
          </a:prstGeom>
          <a:solidFill>
            <a:srgbClr val="262626"/>
          </a:solidFill>
          <a:ln/>
        </p:spPr>
        <p:txBody>
          <a:bodyPr/>
          <a:lstStyle/>
          <a:p>
            <a:endParaRPr lang="en-US"/>
          </a:p>
        </p:txBody>
      </p:sp>
      <p:sp>
        <p:nvSpPr>
          <p:cNvPr id="8" name="Shape 6"/>
          <p:cNvSpPr/>
          <p:nvPr/>
        </p:nvSpPr>
        <p:spPr>
          <a:xfrm>
            <a:off x="640080" y="2240280"/>
            <a:ext cx="6858000" cy="45720"/>
          </a:xfrm>
          <a:prstGeom prst="rect">
            <a:avLst/>
          </a:prstGeom>
          <a:solidFill>
            <a:srgbClr val="B60000"/>
          </a:solidFill>
          <a:ln/>
        </p:spPr>
        <p:txBody>
          <a:bodyPr/>
          <a:lstStyle/>
          <a:p>
            <a:endParaRPr lang="en-US"/>
          </a:p>
        </p:txBody>
      </p:sp>
      <p:sp>
        <p:nvSpPr>
          <p:cNvPr id="9" name="Text 7"/>
          <p:cNvSpPr txBox="1"/>
          <p:nvPr/>
        </p:nvSpPr>
        <p:spPr>
          <a:xfrm>
            <a:off x="868680" y="2304288"/>
            <a:ext cx="6400800" cy="292608"/>
          </a:xfrm>
          <a:prstGeom prst="rect">
            <a:avLst/>
          </a:prstGeom>
          <a:noFill/>
          <a:ln/>
        </p:spPr>
        <p:txBody>
          <a:bodyPr wrap="square" lIns="0" tIns="0" rIns="0" bIns="0" rtlCol="0" anchor="ctr"/>
          <a:lstStyle/>
          <a:p>
            <a:pPr marL="0" indent="0">
              <a:buNone/>
            </a:pPr>
            <a:r>
              <a:rPr lang="en-US" sz="1100" b="1" dirty="0">
                <a:solidFill>
                  <a:srgbClr val="F2F2F2"/>
                </a:solidFill>
                <a:latin typeface="Courier New" pitchFamily="34" charset="0"/>
                <a:ea typeface="Courier New" pitchFamily="34" charset="-122"/>
                <a:cs typeface="Courier New" pitchFamily="34" charset="-120"/>
              </a:rPr>
              <a:t>stage2.nlogo</a:t>
            </a:r>
            <a:r>
              <a:rPr lang="en-US" sz="1100" dirty="0">
                <a:solidFill>
                  <a:srgbClr val="8A8A8A"/>
                </a:solidFill>
                <a:latin typeface="Courier New" pitchFamily="34" charset="0"/>
                <a:ea typeface="Courier New" pitchFamily="34" charset="-122"/>
                <a:cs typeface="Courier New" pitchFamily="34" charset="-120"/>
              </a:rPr>
              <a:t>   Interface   Info   </a:t>
            </a: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r>
              <a:rPr lang="en-US" sz="1300" dirty="0">
                <a:solidFill>
                  <a:srgbClr val="E1E1E1"/>
                </a:solidFill>
                <a:latin typeface="Courier New" pitchFamily="34" charset="0"/>
                <a:ea typeface="Courier New" pitchFamily="34" charset="-122"/>
                <a:cs typeface="Courier New" pitchFamily="34" charset="-120"/>
              </a:rPr>
              <a:t> go</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ask</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partner </a:t>
            </a:r>
            <a:r>
              <a:rPr lang="en-US" sz="1300" b="1" dirty="0">
                <a:solidFill>
                  <a:srgbClr val="F2F2F2"/>
                </a:solidFill>
                <a:latin typeface="Courier New" pitchFamily="34" charset="0"/>
                <a:ea typeface="Courier New" pitchFamily="34" charset="-122"/>
                <a:cs typeface="Courier New" pitchFamily="34" charset="-120"/>
              </a:rPr>
              <a:t>one-of</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other</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d </a:t>
            </a:r>
            <a:r>
              <a:rPr lang="en-US" sz="1300" b="1" dirty="0">
                <a:solidFill>
                  <a:srgbClr val="F2F2F2"/>
                </a:solidFill>
                <a:latin typeface="Courier New" pitchFamily="34" charset="0"/>
                <a:ea typeface="Courier New" pitchFamily="34" charset="-122"/>
                <a:cs typeface="Courier New" pitchFamily="34" charset="-120"/>
              </a:rPr>
              <a:t>abs</a:t>
            </a:r>
            <a:r>
              <a:rPr lang="en-US" sz="1300" dirty="0">
                <a:solidFill>
                  <a:srgbClr val="E1E1E1"/>
                </a:solidFill>
                <a:latin typeface="Courier New" pitchFamily="34" charset="0"/>
                <a:ea typeface="Courier New" pitchFamily="34" charset="-122"/>
                <a:cs typeface="Courier New" pitchFamily="34" charset="-120"/>
              </a:rPr>
              <a:t> (opinion - [opinion] </a:t>
            </a:r>
            <a:r>
              <a:rPr lang="en-US" sz="1300" dirty="0">
                <a:solidFill>
                  <a:srgbClr val="F2F2F2"/>
                </a:solidFill>
                <a:latin typeface="Courier New" pitchFamily="34" charset="0"/>
                <a:ea typeface="Courier New" pitchFamily="34" charset="-122"/>
                <a:cs typeface="Courier New" pitchFamily="34" charset="-120"/>
              </a:rPr>
              <a:t>of</a:t>
            </a:r>
            <a:r>
              <a:rPr lang="en-US" sz="1300" dirty="0">
                <a:solidFill>
                  <a:srgbClr val="E1E1E1"/>
                </a:solidFill>
                <a:latin typeface="Courier New" pitchFamily="34" charset="0"/>
                <a:ea typeface="Courier New" pitchFamily="34" charset="-122"/>
                <a:cs typeface="Courier New" pitchFamily="34" charset="-120"/>
              </a:rPr>
              <a:t> partner)</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dirty="0">
                <a:solidFill>
                  <a:srgbClr val="F2F2F2"/>
                </a:solidFill>
                <a:latin typeface="Courier New" pitchFamily="34" charset="0"/>
                <a:ea typeface="Courier New" pitchFamily="34" charset="-122"/>
                <a:cs typeface="Courier New" pitchFamily="34" charset="-120"/>
              </a:rPr>
              <a:t>if</a:t>
            </a:r>
            <a:r>
              <a:rPr lang="en-US" sz="1300" dirty="0">
                <a:solidFill>
                  <a:srgbClr val="E1E1E1"/>
                </a:solidFill>
                <a:latin typeface="Courier New" pitchFamily="34" charset="0"/>
                <a:ea typeface="Courier New" pitchFamily="34" charset="-122"/>
                <a:cs typeface="Courier New" pitchFamily="34" charset="-120"/>
              </a:rPr>
              <a:t> d &lt; confidence-threshold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m (opinion + [opinion] </a:t>
            </a:r>
            <a:r>
              <a:rPr lang="en-US" sz="1300" dirty="0">
                <a:solidFill>
                  <a:srgbClr val="F2F2F2"/>
                </a:solidFill>
                <a:latin typeface="Courier New" pitchFamily="34" charset="0"/>
                <a:ea typeface="Courier New" pitchFamily="34" charset="-122"/>
                <a:cs typeface="Courier New" pitchFamily="34" charset="-120"/>
              </a:rPr>
              <a:t>of</a:t>
            </a:r>
            <a:r>
              <a:rPr lang="en-US" sz="1300" dirty="0">
                <a:solidFill>
                  <a:srgbClr val="E1E1E1"/>
                </a:solidFill>
                <a:latin typeface="Courier New" pitchFamily="34" charset="0"/>
                <a:ea typeface="Courier New" pitchFamily="34" charset="-122"/>
                <a:cs typeface="Courier New" pitchFamily="34" charset="-120"/>
              </a:rPr>
              <a:t> partner) / 2</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set</a:t>
            </a:r>
            <a:r>
              <a:rPr lang="en-US" sz="1300" dirty="0">
                <a:solidFill>
                  <a:srgbClr val="E1E1E1"/>
                </a:solidFill>
                <a:latin typeface="Courier New" pitchFamily="34" charset="0"/>
                <a:ea typeface="Courier New" pitchFamily="34" charset="-122"/>
                <a:cs typeface="Courier New" pitchFamily="34" charset="-120"/>
              </a:rPr>
              <a:t> opinion m</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ask</a:t>
            </a:r>
            <a:r>
              <a:rPr lang="en-US" sz="1300" dirty="0">
                <a:solidFill>
                  <a:srgbClr val="E1E1E1"/>
                </a:solidFill>
                <a:latin typeface="Courier New" pitchFamily="34" charset="0"/>
                <a:ea typeface="Courier New" pitchFamily="34" charset="-122"/>
                <a:cs typeface="Courier New" pitchFamily="34" charset="-120"/>
              </a:rPr>
              <a:t> partner [ </a:t>
            </a:r>
            <a:r>
              <a:rPr lang="en-US" sz="1300" b="1" dirty="0">
                <a:solidFill>
                  <a:srgbClr val="F2F2F2"/>
                </a:solidFill>
                <a:latin typeface="Courier New" pitchFamily="34" charset="0"/>
                <a:ea typeface="Courier New" pitchFamily="34" charset="-122"/>
                <a:cs typeface="Courier New" pitchFamily="34" charset="-120"/>
              </a:rPr>
              <a:t>set</a:t>
            </a:r>
            <a:r>
              <a:rPr lang="en-US" sz="1300" dirty="0">
                <a:solidFill>
                  <a:srgbClr val="E1E1E1"/>
                </a:solidFill>
                <a:latin typeface="Courier New" pitchFamily="34" charset="0"/>
                <a:ea typeface="Courier New" pitchFamily="34" charset="-122"/>
                <a:cs typeface="Courier New" pitchFamily="34" charset="-120"/>
              </a:rPr>
              <a:t> opinion m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tick</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txBody>
          <a:bodyPr/>
          <a:lstStyle/>
          <a:p>
            <a:endParaRPr lang="en-US"/>
          </a:p>
        </p:txBody>
      </p:sp>
      <p:sp>
        <p:nvSpPr>
          <p:cNvPr id="12" name="Shape 10"/>
          <p:cNvSpPr/>
          <p:nvPr/>
        </p:nvSpPr>
        <p:spPr>
          <a:xfrm>
            <a:off x="7726680" y="2240280"/>
            <a:ext cx="3794760" cy="45720"/>
          </a:xfrm>
          <a:prstGeom prst="rect">
            <a:avLst/>
          </a:prstGeom>
          <a:solidFill>
            <a:srgbClr val="B60000"/>
          </a:solidFill>
          <a:ln/>
        </p:spPr>
        <p:txBody>
          <a:bodyPr/>
          <a:lstStyle/>
          <a:p>
            <a:endParaRPr lang="en-US"/>
          </a:p>
        </p:txBody>
      </p:sp>
      <p:sp>
        <p:nvSpPr>
          <p:cNvPr id="13" name="Text 11"/>
          <p:cNvSpPr txBox="1"/>
          <p:nvPr/>
        </p:nvSpPr>
        <p:spPr>
          <a:xfrm>
            <a:off x="7909560" y="2377440"/>
            <a:ext cx="3383280" cy="320040"/>
          </a:xfrm>
          <a:prstGeom prst="rect">
            <a:avLst/>
          </a:prstGeom>
          <a:noFill/>
          <a:ln/>
        </p:spPr>
        <p:txBody>
          <a:bodyPr wrap="square" lIns="0" tIns="0" rIns="0" bIns="0" rtlCol="0" anchor="ctr"/>
          <a:lstStyle/>
          <a:p>
            <a:pPr marL="0" indent="0">
              <a:buNone/>
            </a:pPr>
            <a:r>
              <a:rPr lang="en-US" sz="1100" b="1" kern="0" spc="15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marL="0" indent="0">
              <a:lnSpc>
                <a:spcPct val="122000"/>
              </a:lnSpc>
              <a:buNone/>
            </a:pPr>
            <a:r>
              <a:rPr lang="en-US" sz="1800" dirty="0">
                <a:solidFill>
                  <a:srgbClr val="F2F2F2"/>
                </a:solidFill>
                <a:latin typeface="Calibri" pitchFamily="34" charset="0"/>
                <a:ea typeface="Calibri" pitchFamily="34" charset="-122"/>
                <a:cs typeface="Calibri" pitchFamily="34" charset="-120"/>
              </a:rPr>
              <a:t>Run at threshold 0.5: consensus, as before. Run again at threshold 0.15, same seed: two or three permanent, isolated clusters.</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18</a:t>
            </a:r>
            <a:endParaRPr lang="en-US" sz="1000" dirty="0"/>
          </a:p>
        </p:txBody>
      </p:sp>
      <p:pic>
        <p:nvPicPr>
          <p:cNvPr id="16" name="Image 0" descr="assets/ncite_logo_white.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2 SETUP</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Same seed, one slider moved</a:t>
            </a:r>
            <a:endParaRPr lang="en-US" sz="3000" dirty="0"/>
          </a:p>
        </p:txBody>
      </p:sp>
      <p:sp>
        <p:nvSpPr>
          <p:cNvPr id="5" name="Shape 3"/>
          <p:cNvSpPr/>
          <p:nvPr/>
        </p:nvSpPr>
        <p:spPr>
          <a:xfrm>
            <a:off x="640080" y="2377440"/>
            <a:ext cx="10881360" cy="1005840"/>
          </a:xfrm>
          <a:prstGeom prst="rect">
            <a:avLst/>
          </a:prstGeom>
          <a:solidFill>
            <a:srgbClr val="E1E1E1"/>
          </a:solidFill>
          <a:ln/>
        </p:spPr>
        <p:txBody>
          <a:bodyPr/>
          <a:lstStyle/>
          <a:p>
            <a:endParaRPr lang="en-US"/>
          </a:p>
        </p:txBody>
      </p:sp>
      <p:sp>
        <p:nvSpPr>
          <p:cNvPr id="6" name="Text 4"/>
          <p:cNvSpPr txBox="1"/>
          <p:nvPr/>
        </p:nvSpPr>
        <p:spPr>
          <a:xfrm>
            <a:off x="914400" y="2542032"/>
            <a:ext cx="4572000" cy="685800"/>
          </a:xfrm>
          <a:prstGeom prst="rect">
            <a:avLst/>
          </a:prstGeom>
          <a:noFill/>
          <a:ln/>
        </p:spPr>
        <p:txBody>
          <a:bodyPr wrap="square" lIns="0" tIns="0" rIns="0" bIns="0" rtlCol="0" anchor="ctr"/>
          <a:lstStyle/>
          <a:p>
            <a:pPr marL="0" indent="0">
              <a:buNone/>
            </a:pPr>
            <a:r>
              <a:rPr lang="en-US" sz="1600" b="1" dirty="0">
                <a:solidFill>
                  <a:srgbClr val="B60000"/>
                </a:solidFill>
                <a:latin typeface="Courier New" pitchFamily="34" charset="0"/>
                <a:ea typeface="Courier New" pitchFamily="34" charset="-122"/>
                <a:cs typeface="Courier New" pitchFamily="34" charset="-120"/>
              </a:rPr>
              <a:t>confidence-threshold = 0.5</a:t>
            </a:r>
            <a:endParaRPr lang="en-US" sz="1600" dirty="0"/>
          </a:p>
        </p:txBody>
      </p:sp>
      <p:sp>
        <p:nvSpPr>
          <p:cNvPr id="7" name="Text 5"/>
          <p:cNvSpPr txBox="1"/>
          <p:nvPr/>
        </p:nvSpPr>
        <p:spPr>
          <a:xfrm>
            <a:off x="5577840" y="2542032"/>
            <a:ext cx="5669280" cy="685800"/>
          </a:xfrm>
          <a:prstGeom prst="rect">
            <a:avLst/>
          </a:prstGeom>
          <a:noFill/>
          <a:ln/>
        </p:spPr>
        <p:txBody>
          <a:bodyPr wrap="square" lIns="0" tIns="0" rIns="0" bIns="0" rtlCol="0" anchor="ctr"/>
          <a:lstStyle/>
          <a:p>
            <a:pPr marL="0" indent="0">
              <a:buNone/>
            </a:pPr>
            <a:r>
              <a:rPr lang="en-US" sz="1600" dirty="0">
                <a:solidFill>
                  <a:srgbClr val="333333"/>
                </a:solidFill>
                <a:latin typeface="Calibri" pitchFamily="34" charset="0"/>
                <a:ea typeface="Calibri" pitchFamily="34" charset="-122"/>
                <a:cs typeface="Calibri" pitchFamily="34" charset="-120"/>
              </a:rPr>
              <a:t>behaves like Stage 1 — full consensus</a:t>
            </a:r>
            <a:endParaRPr lang="en-US" sz="1600" dirty="0"/>
          </a:p>
        </p:txBody>
      </p:sp>
      <p:sp>
        <p:nvSpPr>
          <p:cNvPr id="8" name="Shape 6"/>
          <p:cNvSpPr/>
          <p:nvPr/>
        </p:nvSpPr>
        <p:spPr>
          <a:xfrm>
            <a:off x="640080" y="3611880"/>
            <a:ext cx="10881360" cy="1005840"/>
          </a:xfrm>
          <a:prstGeom prst="rect">
            <a:avLst/>
          </a:prstGeom>
          <a:solidFill>
            <a:srgbClr val="E1E1E1"/>
          </a:solidFill>
          <a:ln/>
        </p:spPr>
        <p:txBody>
          <a:bodyPr/>
          <a:lstStyle/>
          <a:p>
            <a:endParaRPr lang="en-US"/>
          </a:p>
        </p:txBody>
      </p:sp>
      <p:sp>
        <p:nvSpPr>
          <p:cNvPr id="9" name="Text 7"/>
          <p:cNvSpPr txBox="1"/>
          <p:nvPr/>
        </p:nvSpPr>
        <p:spPr>
          <a:xfrm>
            <a:off x="914400" y="3776472"/>
            <a:ext cx="4572000" cy="685800"/>
          </a:xfrm>
          <a:prstGeom prst="rect">
            <a:avLst/>
          </a:prstGeom>
          <a:noFill/>
          <a:ln/>
        </p:spPr>
        <p:txBody>
          <a:bodyPr wrap="square" lIns="0" tIns="0" rIns="0" bIns="0" rtlCol="0" anchor="ctr"/>
          <a:lstStyle/>
          <a:p>
            <a:pPr marL="0" indent="0">
              <a:buNone/>
            </a:pPr>
            <a:r>
              <a:rPr lang="en-US" sz="1600" b="1" dirty="0">
                <a:solidFill>
                  <a:srgbClr val="B60000"/>
                </a:solidFill>
                <a:latin typeface="Courier New" pitchFamily="34" charset="0"/>
                <a:ea typeface="Courier New" pitchFamily="34" charset="-122"/>
                <a:cs typeface="Courier New" pitchFamily="34" charset="-120"/>
              </a:rPr>
              <a:t>confidence-threshold = 0.15</a:t>
            </a:r>
            <a:endParaRPr lang="en-US" sz="1600" dirty="0"/>
          </a:p>
        </p:txBody>
      </p:sp>
      <p:sp>
        <p:nvSpPr>
          <p:cNvPr id="10" name="Text 8"/>
          <p:cNvSpPr txBox="1"/>
          <p:nvPr/>
        </p:nvSpPr>
        <p:spPr>
          <a:xfrm>
            <a:off x="5577840" y="3776472"/>
            <a:ext cx="5669280" cy="685800"/>
          </a:xfrm>
          <a:prstGeom prst="rect">
            <a:avLst/>
          </a:prstGeom>
          <a:noFill/>
          <a:ln/>
        </p:spPr>
        <p:txBody>
          <a:bodyPr wrap="square" lIns="0" tIns="0" rIns="0" bIns="0" rtlCol="0" anchor="ctr"/>
          <a:lstStyle/>
          <a:p>
            <a:pPr marL="0" indent="0">
              <a:buNone/>
            </a:pPr>
            <a:r>
              <a:rPr lang="en-US" sz="1600" dirty="0">
                <a:solidFill>
                  <a:srgbClr val="333333"/>
                </a:solidFill>
                <a:latin typeface="Calibri" pitchFamily="34" charset="0"/>
                <a:ea typeface="Calibri" pitchFamily="34" charset="-122"/>
                <a:cs typeface="Calibri" pitchFamily="34" charset="-120"/>
              </a:rPr>
              <a:t>fragments into stable, permanent clusters</a:t>
            </a:r>
            <a:endParaRPr lang="en-US" sz="1600" dirty="0"/>
          </a:p>
        </p:txBody>
      </p:sp>
      <p:sp>
        <p:nvSpPr>
          <p:cNvPr id="11" name="Text 9"/>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19</a:t>
            </a:r>
            <a:endParaRPr lang="en-US" sz="1000" dirty="0"/>
          </a:p>
        </p:txBody>
      </p:sp>
      <p:pic>
        <p:nvPicPr>
          <p:cNvPr id="12"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2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One parameter, two outcomes</a:t>
            </a:r>
            <a:endParaRPr lang="en-US" sz="3000" dirty="0"/>
          </a:p>
        </p:txBody>
      </p:sp>
      <p:pic>
        <p:nvPicPr>
          <p:cNvPr id="5" name="Image 0" descr="figures/stage2_trajectories.png"/>
          <p:cNvPicPr>
            <a:picLocks noChangeAspect="1"/>
          </p:cNvPicPr>
          <p:nvPr/>
        </p:nvPicPr>
        <p:blipFill>
          <a:blip r:embed="rId3"/>
          <a:stretch>
            <a:fillRect/>
          </a:stretch>
        </p:blipFill>
        <p:spPr>
          <a:xfrm>
            <a:off x="1252728" y="1920240"/>
            <a:ext cx="9692640" cy="4307840"/>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20</a:t>
            </a:r>
            <a:endParaRPr lang="en-US" sz="1000" dirty="0"/>
          </a:p>
        </p:txBody>
      </p:sp>
      <p:pic>
        <p:nvPicPr>
          <p:cNvPr id="7"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PARAMETER SWEEP · 1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200" b="1" dirty="0">
                <a:solidFill>
                  <a:srgbClr val="0E0E0E"/>
                </a:solidFill>
                <a:latin typeface="Calibri" pitchFamily="34" charset="0"/>
                <a:ea typeface="Calibri" pitchFamily="34" charset="-122"/>
                <a:cs typeface="Calibri" pitchFamily="34" charset="-120"/>
              </a:rPr>
              <a:t>Where exactly does it flip?</a:t>
            </a:r>
            <a:endParaRPr lang="en-US" sz="3200" dirty="0"/>
          </a:p>
        </p:txBody>
      </p:sp>
      <p:sp>
        <p:nvSpPr>
          <p:cNvPr id="5" name="Text 3"/>
          <p:cNvSpPr txBox="1"/>
          <p:nvPr/>
        </p:nvSpPr>
        <p:spPr>
          <a:xfrm>
            <a:off x="640080" y="2286000"/>
            <a:ext cx="10424160" cy="1188720"/>
          </a:xfrm>
          <a:prstGeom prst="rect">
            <a:avLst/>
          </a:prstGeom>
          <a:noFill/>
          <a:ln/>
        </p:spPr>
        <p:txBody>
          <a:bodyPr wrap="square" lIns="0" tIns="0" rIns="0" bIns="0" rtlCol="0" anchor="ctr"/>
          <a:lstStyle/>
          <a:p>
            <a:pPr marL="0" indent="0">
              <a:lnSpc>
                <a:spcPct val="135000"/>
              </a:lnSpc>
              <a:buNone/>
            </a:pPr>
            <a:r>
              <a:rPr lang="en-US" sz="2000" dirty="0">
                <a:solidFill>
                  <a:srgbClr val="333333"/>
                </a:solidFill>
                <a:latin typeface="Calibri" pitchFamily="34" charset="0"/>
                <a:ea typeface="Calibri" pitchFamily="34" charset="-122"/>
                <a:cs typeface="Calibri" pitchFamily="34" charset="-120"/>
              </a:rPr>
              <a:t>A parameter sweep is a factorial design in which the levels are values of a model parameter and the observations are simulated runs instead of participants.</a:t>
            </a:r>
            <a:endParaRPr lang="en-US" sz="2000" dirty="0"/>
          </a:p>
        </p:txBody>
      </p:sp>
      <p:sp>
        <p:nvSpPr>
          <p:cNvPr id="6" name="Text 4"/>
          <p:cNvSpPr txBox="1"/>
          <p:nvPr/>
        </p:nvSpPr>
        <p:spPr>
          <a:xfrm>
            <a:off x="640080" y="3749040"/>
            <a:ext cx="2377440" cy="548640"/>
          </a:xfrm>
          <a:prstGeom prst="rect">
            <a:avLst/>
          </a:prstGeom>
          <a:noFill/>
          <a:ln/>
        </p:spPr>
        <p:txBody>
          <a:bodyPr wrap="square" lIns="0" tIns="0" rIns="0" bIns="0" rtlCol="0" anchor="ctr"/>
          <a:lstStyle/>
          <a:p>
            <a:pPr marL="0" indent="0">
              <a:buNone/>
            </a:pPr>
            <a:r>
              <a:rPr lang="en-US" sz="1800" b="1" dirty="0">
                <a:solidFill>
                  <a:srgbClr val="B60000"/>
                </a:solidFill>
                <a:latin typeface="Calibri" pitchFamily="34" charset="0"/>
                <a:ea typeface="Calibri" pitchFamily="34" charset="-122"/>
                <a:cs typeface="Calibri" pitchFamily="34" charset="-120"/>
              </a:rPr>
              <a:t>Factor</a:t>
            </a:r>
            <a:endParaRPr lang="en-US" sz="1800" dirty="0"/>
          </a:p>
        </p:txBody>
      </p:sp>
      <p:sp>
        <p:nvSpPr>
          <p:cNvPr id="7" name="Text 5"/>
          <p:cNvSpPr txBox="1"/>
          <p:nvPr/>
        </p:nvSpPr>
        <p:spPr>
          <a:xfrm>
            <a:off x="3108960" y="3749040"/>
            <a:ext cx="8046720" cy="54864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confidence-threshold, 10 levels from 0.05 to 0.50</a:t>
            </a:r>
            <a:endParaRPr lang="en-US" sz="1800" dirty="0"/>
          </a:p>
        </p:txBody>
      </p:sp>
      <p:sp>
        <p:nvSpPr>
          <p:cNvPr id="8" name="Text 6"/>
          <p:cNvSpPr txBox="1"/>
          <p:nvPr/>
        </p:nvSpPr>
        <p:spPr>
          <a:xfrm>
            <a:off x="640080" y="4462272"/>
            <a:ext cx="2377440" cy="548640"/>
          </a:xfrm>
          <a:prstGeom prst="rect">
            <a:avLst/>
          </a:prstGeom>
          <a:noFill/>
          <a:ln/>
        </p:spPr>
        <p:txBody>
          <a:bodyPr wrap="square" lIns="0" tIns="0" rIns="0" bIns="0" rtlCol="0" anchor="ctr"/>
          <a:lstStyle/>
          <a:p>
            <a:pPr marL="0" indent="0">
              <a:buNone/>
            </a:pPr>
            <a:r>
              <a:rPr lang="en-US" sz="1800" b="1" dirty="0">
                <a:solidFill>
                  <a:srgbClr val="B60000"/>
                </a:solidFill>
                <a:latin typeface="Calibri" pitchFamily="34" charset="0"/>
                <a:ea typeface="Calibri" pitchFamily="34" charset="-122"/>
                <a:cs typeface="Calibri" pitchFamily="34" charset="-120"/>
              </a:rPr>
              <a:t>Replication</a:t>
            </a:r>
            <a:endParaRPr lang="en-US" sz="1800" dirty="0"/>
          </a:p>
        </p:txBody>
      </p:sp>
      <p:sp>
        <p:nvSpPr>
          <p:cNvPr id="9" name="Text 7"/>
          <p:cNvSpPr txBox="1"/>
          <p:nvPr/>
        </p:nvSpPr>
        <p:spPr>
          <a:xfrm>
            <a:off x="3108960" y="4462272"/>
            <a:ext cx="8046720" cy="54864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30 fresh random seeds per level</a:t>
            </a:r>
            <a:endParaRPr lang="en-US" sz="1800" dirty="0"/>
          </a:p>
        </p:txBody>
      </p:sp>
      <p:sp>
        <p:nvSpPr>
          <p:cNvPr id="10" name="Text 8"/>
          <p:cNvSpPr txBox="1"/>
          <p:nvPr/>
        </p:nvSpPr>
        <p:spPr>
          <a:xfrm>
            <a:off x="640080" y="5175504"/>
            <a:ext cx="2377440" cy="548640"/>
          </a:xfrm>
          <a:prstGeom prst="rect">
            <a:avLst/>
          </a:prstGeom>
          <a:noFill/>
          <a:ln/>
        </p:spPr>
        <p:txBody>
          <a:bodyPr wrap="square" lIns="0" tIns="0" rIns="0" bIns="0" rtlCol="0" anchor="ctr"/>
          <a:lstStyle/>
          <a:p>
            <a:pPr marL="0" indent="0">
              <a:buNone/>
            </a:pPr>
            <a:r>
              <a:rPr lang="en-US" sz="1800" b="1" dirty="0">
                <a:solidFill>
                  <a:srgbClr val="B60000"/>
                </a:solidFill>
                <a:latin typeface="Calibri" pitchFamily="34" charset="0"/>
                <a:ea typeface="Calibri" pitchFamily="34" charset="-122"/>
                <a:cs typeface="Calibri" pitchFamily="34" charset="-120"/>
              </a:rPr>
              <a:t>DV</a:t>
            </a:r>
            <a:endParaRPr lang="en-US" sz="1800" dirty="0"/>
          </a:p>
        </p:txBody>
      </p:sp>
      <p:sp>
        <p:nvSpPr>
          <p:cNvPr id="11" name="Text 9"/>
          <p:cNvSpPr txBox="1"/>
          <p:nvPr/>
        </p:nvSpPr>
        <p:spPr>
          <a:xfrm>
            <a:off x="3108960" y="5175504"/>
            <a:ext cx="8046720" cy="548640"/>
          </a:xfrm>
          <a:prstGeom prst="rect">
            <a:avLst/>
          </a:prstGeom>
          <a:noFill/>
          <a:ln/>
        </p:spPr>
        <p:txBody>
          <a:bodyPr wrap="square" lIns="0" tIns="0" rIns="0" bIns="0" rtlCol="0" anchor="ctr"/>
          <a:lstStyle/>
          <a:p>
            <a:pPr marL="0" indent="0">
              <a:buNone/>
            </a:pPr>
            <a:r>
              <a:rPr lang="en-US" sz="1800" dirty="0">
                <a:solidFill>
                  <a:srgbClr val="333333"/>
                </a:solidFill>
                <a:latin typeface="Calibri" pitchFamily="34" charset="0"/>
                <a:ea typeface="Calibri" pitchFamily="34" charset="-122"/>
                <a:cs typeface="Calibri" pitchFamily="34" charset="-120"/>
              </a:rPr>
              <a:t>number of stable opinion clusters at the end of the run</a:t>
            </a:r>
            <a:endParaRPr lang="en-US" sz="1800" dirty="0"/>
          </a:p>
        </p:txBody>
      </p:sp>
      <p:sp>
        <p:nvSpPr>
          <p:cNvPr id="12" name="Text 10"/>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21</a:t>
            </a:r>
            <a:endParaRPr lang="en-US" sz="1000" dirty="0"/>
          </a:p>
        </p:txBody>
      </p:sp>
      <p:pic>
        <p:nvPicPr>
          <p:cNvPr id="13"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PARAMETER SWEEP · 2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The BehaviorSpace configuration</a:t>
            </a:r>
            <a:endParaRPr lang="en-US" sz="3000" dirty="0"/>
          </a:p>
        </p:txBody>
      </p:sp>
      <p:sp>
        <p:nvSpPr>
          <p:cNvPr id="5" name="Shape 3"/>
          <p:cNvSpPr/>
          <p:nvPr/>
        </p:nvSpPr>
        <p:spPr>
          <a:xfrm>
            <a:off x="640080" y="2011680"/>
            <a:ext cx="10881360" cy="3931920"/>
          </a:xfrm>
          <a:prstGeom prst="rect">
            <a:avLst/>
          </a:prstGeom>
          <a:solidFill>
            <a:srgbClr val="0E0E0E"/>
          </a:solidFill>
          <a:ln/>
        </p:spPr>
        <p:txBody>
          <a:bodyPr/>
          <a:lstStyle/>
          <a:p>
            <a:endParaRPr lang="en-US"/>
          </a:p>
        </p:txBody>
      </p:sp>
      <p:sp>
        <p:nvSpPr>
          <p:cNvPr id="6" name="Text 4"/>
          <p:cNvSpPr txBox="1"/>
          <p:nvPr/>
        </p:nvSpPr>
        <p:spPr>
          <a:xfrm>
            <a:off x="914400" y="2240280"/>
            <a:ext cx="10332720" cy="3474720"/>
          </a:xfrm>
          <a:prstGeom prst="rect">
            <a:avLst/>
          </a:prstGeom>
          <a:noFill/>
          <a:ln/>
        </p:spPr>
        <p:txBody>
          <a:bodyPr wrap="square" lIns="0" tIns="0" rIns="0" bIns="0" rtlCol="0" anchor="ctr"/>
          <a:lstStyle/>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experiment name:      threshold-sweep</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vary:                 confidence-threshold  [0.05 : 0.05 : 0.50]</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fixed:                 num-agents = 200,  mu = 0.25</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repetitions:           30 per level  (300 runs total)</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setup / go:            setup  /  go</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stop condition:        ticks &gt;= 500  OR  opinion-std &lt; 0.001</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measure (each tick):   opinion-std</a:t>
            </a:r>
            <a:endParaRPr lang="en-US" sz="1500" dirty="0"/>
          </a:p>
          <a:p>
            <a:pPr marL="0" indent="0">
              <a:lnSpc>
                <a:spcPct val="150000"/>
              </a:lnSpc>
              <a:buNone/>
            </a:pPr>
            <a:r>
              <a:rPr lang="en-US" sz="1500" dirty="0">
                <a:solidFill>
                  <a:srgbClr val="F2F2F2"/>
                </a:solidFill>
                <a:latin typeface="Courier New" pitchFamily="34" charset="0"/>
                <a:ea typeface="Courier New" pitchFamily="34" charset="-122"/>
                <a:cs typeface="Courier New" pitchFamily="34" charset="-120"/>
              </a:rPr>
              <a:t>measure (at end):      count-clusters</a:t>
            </a:r>
            <a:endParaRPr lang="en-US" sz="1500" dirty="0"/>
          </a:p>
        </p:txBody>
      </p:sp>
      <p:sp>
        <p:nvSpPr>
          <p:cNvPr id="7" name="Text 5"/>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22</a:t>
            </a:r>
            <a:endParaRPr lang="en-US" sz="1000" dirty="0"/>
          </a:p>
        </p:txBody>
      </p:sp>
      <p:pic>
        <p:nvPicPr>
          <p:cNvPr id="8"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PARAMETER SWEEP · 3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The sweep, run in advance</a:t>
            </a:r>
            <a:endParaRPr lang="en-US" sz="3000" dirty="0"/>
          </a:p>
        </p:txBody>
      </p:sp>
      <p:pic>
        <p:nvPicPr>
          <p:cNvPr id="5" name="Image 0" descr="figures/sweep_curve.png"/>
          <p:cNvPicPr>
            <a:picLocks noChangeAspect="1"/>
          </p:cNvPicPr>
          <p:nvPr/>
        </p:nvPicPr>
        <p:blipFill>
          <a:blip r:embed="rId3"/>
          <a:stretch>
            <a:fillRect/>
          </a:stretch>
        </p:blipFill>
        <p:spPr>
          <a:xfrm>
            <a:off x="2011680" y="1920240"/>
            <a:ext cx="8138160" cy="4420511"/>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23</a:t>
            </a:r>
            <a:endParaRPr lang="en-US" sz="1000" dirty="0"/>
          </a:p>
        </p:txBody>
      </p:sp>
      <p:pic>
        <p:nvPicPr>
          <p:cNvPr id="7"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PARAMETER SWEEP · 4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Why thirty replications, not one</a:t>
            </a:r>
            <a:endParaRPr lang="en-US" sz="3000" dirty="0"/>
          </a:p>
        </p:txBody>
      </p:sp>
      <p:sp>
        <p:nvSpPr>
          <p:cNvPr id="5" name="Text 3"/>
          <p:cNvSpPr txBox="1"/>
          <p:nvPr/>
        </p:nvSpPr>
        <p:spPr>
          <a:xfrm>
            <a:off x="640080" y="2286000"/>
            <a:ext cx="6400800" cy="2011680"/>
          </a:xfrm>
          <a:prstGeom prst="rect">
            <a:avLst/>
          </a:prstGeom>
          <a:noFill/>
          <a:ln/>
        </p:spPr>
        <p:txBody>
          <a:bodyPr wrap="square" lIns="0" tIns="0" rIns="0" bIns="0" rtlCol="0" anchor="ctr"/>
          <a:lstStyle/>
          <a:p>
            <a:pPr marL="0" indent="0">
              <a:lnSpc>
                <a:spcPct val="140000"/>
              </a:lnSpc>
              <a:buNone/>
            </a:pPr>
            <a:r>
              <a:rPr lang="en-US" sz="1900" dirty="0">
                <a:solidFill>
                  <a:srgbClr val="333333"/>
                </a:solidFill>
                <a:latin typeface="Calibri" pitchFamily="34" charset="0"/>
                <a:ea typeface="Calibri" pitchFamily="34" charset="-122"/>
                <a:cs typeface="Calibri" pitchFamily="34" charset="-120"/>
              </a:rPr>
              <a:t>Each replication is one Monte Carlo draw from the same data generating process. The standard error of a simulated mean shrinks with the square root of the number of runs, exactly the way it does for any other sample mean.</a:t>
            </a:r>
            <a:endParaRPr lang="en-US" sz="1900" dirty="0"/>
          </a:p>
        </p:txBody>
      </p:sp>
      <p:sp>
        <p:nvSpPr>
          <p:cNvPr id="6" name="Shape 4"/>
          <p:cNvSpPr/>
          <p:nvPr/>
        </p:nvSpPr>
        <p:spPr>
          <a:xfrm>
            <a:off x="7406640" y="2286000"/>
            <a:ext cx="4114800" cy="2011680"/>
          </a:xfrm>
          <a:prstGeom prst="rect">
            <a:avLst/>
          </a:prstGeom>
          <a:solidFill>
            <a:srgbClr val="E1E1E1"/>
          </a:solidFill>
          <a:ln/>
        </p:spPr>
        <p:txBody>
          <a:bodyPr/>
          <a:lstStyle/>
          <a:p>
            <a:endParaRPr lang="en-US"/>
          </a:p>
        </p:txBody>
      </p:sp>
      <p:sp>
        <p:nvSpPr>
          <p:cNvPr id="7" name="Text 5"/>
          <p:cNvSpPr txBox="1"/>
          <p:nvPr/>
        </p:nvSpPr>
        <p:spPr>
          <a:xfrm>
            <a:off x="7406640" y="2286000"/>
            <a:ext cx="4114800" cy="2011680"/>
          </a:xfrm>
          <a:prstGeom prst="rect">
            <a:avLst/>
          </a:prstGeom>
          <a:noFill/>
          <a:ln/>
        </p:spPr>
        <p:txBody>
          <a:bodyPr wrap="square" lIns="0" tIns="0" rIns="0" bIns="0" rtlCol="0" anchor="ctr"/>
          <a:lstStyle/>
          <a:p>
            <a:pPr marL="0" indent="0" algn="ctr">
              <a:buNone/>
            </a:pPr>
            <a:r>
              <a:rPr lang="en-US" sz="2400" b="1" dirty="0">
                <a:solidFill>
                  <a:srgbClr val="B60000"/>
                </a:solidFill>
                <a:latin typeface="Courier New" pitchFamily="34" charset="0"/>
                <a:ea typeface="Courier New" pitchFamily="34" charset="-122"/>
                <a:cs typeface="Courier New" pitchFamily="34" charset="-120"/>
              </a:rPr>
              <a:t>SE(mean) ∝  1 / √ n</a:t>
            </a:r>
            <a:endParaRPr lang="en-US" sz="2400" dirty="0"/>
          </a:p>
        </p:txBody>
      </p:sp>
      <p:sp>
        <p:nvSpPr>
          <p:cNvPr id="8" name="Text 6"/>
          <p:cNvSpPr txBox="1"/>
          <p:nvPr/>
        </p:nvSpPr>
        <p:spPr>
          <a:xfrm>
            <a:off x="640080" y="4572000"/>
            <a:ext cx="10424160" cy="1371600"/>
          </a:xfrm>
          <a:prstGeom prst="rect">
            <a:avLst/>
          </a:prstGeom>
          <a:noFill/>
          <a:ln/>
        </p:spPr>
        <p:txBody>
          <a:bodyPr wrap="square" lIns="0" tIns="0" rIns="0" bIns="0" rtlCol="0" anchor="ctr"/>
          <a:lstStyle/>
          <a:p>
            <a:pPr marL="0" indent="0">
              <a:lnSpc>
                <a:spcPct val="135000"/>
              </a:lnSpc>
              <a:buNone/>
            </a:pPr>
            <a:r>
              <a:rPr lang="en-US" sz="1700" dirty="0">
                <a:solidFill>
                  <a:srgbClr val="333333"/>
                </a:solidFill>
                <a:latin typeface="Calibri" pitchFamily="34" charset="0"/>
                <a:ea typeface="Calibri" pitchFamily="34" charset="-122"/>
                <a:cs typeface="Calibri" pitchFamily="34" charset="-120"/>
              </a:rPr>
              <a:t>The error bars on the previous slide are that logic, not a decoration: they widen wherever the model is genuinely more variable across seeds, most visibly at low thresholds where a small change in initial draw changes which agents end up in which cluster.</a:t>
            </a:r>
            <a:endParaRPr lang="en-US" sz="1700" dirty="0"/>
          </a:p>
        </p:txBody>
      </p:sp>
      <p:sp>
        <p:nvSpPr>
          <p:cNvPr id="9" name="Text 7"/>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24</a:t>
            </a:r>
            <a:endParaRPr lang="en-US" sz="1000" dirty="0"/>
          </a:p>
        </p:txBody>
      </p:sp>
      <p:pic>
        <p:nvPicPr>
          <p:cNvPr id="10"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PARAMETER SWEEP · 5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Vancouver et al. (2010)</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Vancouver, J. B., Weinhardt, J. M., &amp; Schmidt, A. M. (2010). A formal, computational theory of multiple-goal pursuit: Integrating goal-choice and goal-striving processes. </a:t>
            </a:r>
            <a:r>
              <a:rPr lang="en-US" sz="1450" i="1" dirty="0">
                <a:solidFill>
                  <a:srgbClr val="333333"/>
                </a:solidFill>
                <a:latin typeface="Times New Roman" pitchFamily="34" charset="0"/>
                <a:ea typeface="Times New Roman" pitchFamily="34" charset="-122"/>
                <a:cs typeface="Times New Roman" pitchFamily="34" charset="-120"/>
              </a:rPr>
              <a:t>Journal of Applied Psychology, 95</a:t>
            </a:r>
            <a:r>
              <a:rPr lang="en-US" sz="1450" dirty="0">
                <a:solidFill>
                  <a:srgbClr val="333333"/>
                </a:solidFill>
                <a:latin typeface="Times New Roman" pitchFamily="34" charset="0"/>
                <a:ea typeface="Times New Roman" pitchFamily="34" charset="-122"/>
                <a:cs typeface="Times New Roman" pitchFamily="34" charset="-120"/>
              </a:rPr>
              <a:t>(6), 985-1008.</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Built a computational model integrating goal-choice and goal-striving that reproduced established empirical patterns in multiple-goal pursuit that piecemeal verbal theories had described separately but never jointly accounted for in one formal system.</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25</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0E0E"/>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E1E1E1"/>
                </a:solidFill>
                <a:latin typeface="Calibri" pitchFamily="34" charset="0"/>
                <a:ea typeface="Calibri" pitchFamily="34" charset="-122"/>
                <a:cs typeface="Calibri" pitchFamily="34" charset="-120"/>
              </a:rPr>
              <a:t>LIVE BUILD · STAGE 3</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marL="0" indent="0">
              <a:buNone/>
            </a:pPr>
            <a:r>
              <a:rPr lang="en-US" sz="3000" b="1" dirty="0">
                <a:solidFill>
                  <a:srgbClr val="F2F2F2"/>
                </a:solidFill>
                <a:latin typeface="Calibri" pitchFamily="34" charset="0"/>
                <a:ea typeface="Calibri" pitchFamily="34" charset="-122"/>
                <a:cs typeface="Calibri" pitchFamily="34" charset="-120"/>
              </a:rPr>
              <a:t>Demographic faultlines and negative influence</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marL="0" indent="0">
              <a:buNone/>
            </a:pPr>
            <a:r>
              <a:rPr lang="en-US" sz="1600" i="1" dirty="0">
                <a:solidFill>
                  <a:srgbClr val="E1E1E1"/>
                </a:solidFill>
                <a:latin typeface="Calibri" pitchFamily="34" charset="0"/>
                <a:ea typeface="Calibri" pitchFamily="34" charset="-122"/>
                <a:cs typeface="Calibri" pitchFamily="34" charset="-120"/>
              </a:rPr>
              <a:t>Members carry two demographic attributes. Similar teammates attract; dissimilar teammates repel (after Flache &amp; Mäs, 2008).</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txBody>
          <a:bodyPr/>
          <a:lstStyle/>
          <a:p>
            <a:endParaRPr lang="en-US"/>
          </a:p>
        </p:txBody>
      </p:sp>
      <p:sp>
        <p:nvSpPr>
          <p:cNvPr id="7" name="Shape 5"/>
          <p:cNvSpPr/>
          <p:nvPr/>
        </p:nvSpPr>
        <p:spPr>
          <a:xfrm>
            <a:off x="640080" y="2240280"/>
            <a:ext cx="6858000" cy="384048"/>
          </a:xfrm>
          <a:prstGeom prst="rect">
            <a:avLst/>
          </a:prstGeom>
          <a:solidFill>
            <a:srgbClr val="262626"/>
          </a:solidFill>
          <a:ln/>
        </p:spPr>
        <p:txBody>
          <a:bodyPr/>
          <a:lstStyle/>
          <a:p>
            <a:endParaRPr lang="en-US"/>
          </a:p>
        </p:txBody>
      </p:sp>
      <p:sp>
        <p:nvSpPr>
          <p:cNvPr id="8" name="Shape 6"/>
          <p:cNvSpPr/>
          <p:nvPr/>
        </p:nvSpPr>
        <p:spPr>
          <a:xfrm>
            <a:off x="640080" y="2240280"/>
            <a:ext cx="6858000" cy="45720"/>
          </a:xfrm>
          <a:prstGeom prst="rect">
            <a:avLst/>
          </a:prstGeom>
          <a:solidFill>
            <a:srgbClr val="B60000"/>
          </a:solidFill>
          <a:ln/>
        </p:spPr>
        <p:txBody>
          <a:bodyPr/>
          <a:lstStyle/>
          <a:p>
            <a:endParaRPr lang="en-US"/>
          </a:p>
        </p:txBody>
      </p:sp>
      <p:sp>
        <p:nvSpPr>
          <p:cNvPr id="9" name="Text 7"/>
          <p:cNvSpPr txBox="1"/>
          <p:nvPr/>
        </p:nvSpPr>
        <p:spPr>
          <a:xfrm>
            <a:off x="868680" y="2304288"/>
            <a:ext cx="6400800" cy="292608"/>
          </a:xfrm>
          <a:prstGeom prst="rect">
            <a:avLst/>
          </a:prstGeom>
          <a:noFill/>
          <a:ln/>
        </p:spPr>
        <p:txBody>
          <a:bodyPr wrap="square" lIns="0" tIns="0" rIns="0" bIns="0" rtlCol="0" anchor="ctr"/>
          <a:lstStyle/>
          <a:p>
            <a:pPr marL="0" indent="0">
              <a:buNone/>
            </a:pPr>
            <a:r>
              <a:rPr lang="en-US" sz="1100" b="1" dirty="0">
                <a:solidFill>
                  <a:srgbClr val="F2F2F2"/>
                </a:solidFill>
                <a:latin typeface="Courier New" pitchFamily="34" charset="0"/>
                <a:ea typeface="Courier New" pitchFamily="34" charset="-122"/>
                <a:cs typeface="Courier New" pitchFamily="34" charset="-120"/>
              </a:rPr>
              <a:t>stage3.nlogo</a:t>
            </a:r>
            <a:r>
              <a:rPr lang="en-US" sz="1100" dirty="0">
                <a:solidFill>
                  <a:srgbClr val="8A8A8A"/>
                </a:solidFill>
                <a:latin typeface="Courier New" pitchFamily="34" charset="0"/>
                <a:ea typeface="Courier New" pitchFamily="34" charset="-122"/>
                <a:cs typeface="Courier New" pitchFamily="34" charset="-120"/>
              </a:rPr>
              <a:t>   Interface   Info   </a:t>
            </a: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r>
              <a:rPr lang="en-US" sz="1300" dirty="0">
                <a:solidFill>
                  <a:srgbClr val="E1E1E1"/>
                </a:solidFill>
                <a:latin typeface="Courier New" pitchFamily="34" charset="0"/>
                <a:ea typeface="Courier New" pitchFamily="34" charset="-122"/>
                <a:cs typeface="Courier New" pitchFamily="34" charset="-120"/>
              </a:rPr>
              <a:t> go</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ask</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one-of</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me </a:t>
            </a:r>
            <a:r>
              <a:rPr lang="en-US" sz="1300" dirty="0">
                <a:solidFill>
                  <a:srgbClr val="F2F2F2"/>
                </a:solidFill>
                <a:latin typeface="Courier New" pitchFamily="34" charset="0"/>
                <a:ea typeface="Courier New" pitchFamily="34" charset="-122"/>
                <a:cs typeface="Courier New" pitchFamily="34" charset="-120"/>
              </a:rPr>
              <a:t>self</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pulls [ weight-to me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(opinion - [opinion] </a:t>
            </a:r>
            <a:r>
              <a:rPr lang="en-US" sz="1300" dirty="0">
                <a:solidFill>
                  <a:srgbClr val="F2F2F2"/>
                </a:solidFill>
                <a:latin typeface="Courier New" pitchFamily="34" charset="0"/>
                <a:ea typeface="Courier New" pitchFamily="34" charset="-122"/>
                <a:cs typeface="Courier New" pitchFamily="34" charset="-120"/>
              </a:rPr>
              <a:t>of</a:t>
            </a:r>
            <a:r>
              <a:rPr lang="en-US" sz="1300" dirty="0">
                <a:solidFill>
                  <a:srgbClr val="E1E1E1"/>
                </a:solidFill>
                <a:latin typeface="Courier New" pitchFamily="34" charset="0"/>
                <a:ea typeface="Courier New" pitchFamily="34" charset="-122"/>
                <a:cs typeface="Courier New" pitchFamily="34" charset="-120"/>
              </a:rPr>
              <a:t> me)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dirty="0">
                <a:solidFill>
                  <a:srgbClr val="F2F2F2"/>
                </a:solidFill>
                <a:latin typeface="Courier New" pitchFamily="34" charset="0"/>
                <a:ea typeface="Courier New" pitchFamily="34" charset="-122"/>
                <a:cs typeface="Courier New" pitchFamily="34" charset="-120"/>
              </a:rPr>
              <a:t>of</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other</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i="1" dirty="0">
                <a:solidFill>
                  <a:srgbClr val="9A9A9A"/>
                </a:solidFill>
                <a:latin typeface="Courier New" pitchFamily="34" charset="0"/>
                <a:ea typeface="Courier New" pitchFamily="34" charset="-122"/>
                <a:cs typeface="Courier New" pitchFamily="34" charset="-120"/>
              </a:rPr>
              <a:t>;; weight = 1 - 2 * (opinion gap / 2</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i="1" dirty="0">
                <a:solidFill>
                  <a:srgbClr val="9A9A9A"/>
                </a:solidFill>
                <a:latin typeface="Courier New" pitchFamily="34" charset="0"/>
                <a:ea typeface="Courier New" pitchFamily="34" charset="-122"/>
                <a:cs typeface="Courier New" pitchFamily="34" charset="-120"/>
              </a:rPr>
              <a:t>;;   + demographic gap) / K</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i="1" dirty="0">
                <a:solidFill>
                  <a:srgbClr val="9A9A9A"/>
                </a:solidFill>
                <a:latin typeface="Courier New" pitchFamily="34" charset="0"/>
                <a:ea typeface="Courier New" pitchFamily="34" charset="-122"/>
                <a:cs typeface="Courier New" pitchFamily="34" charset="-120"/>
              </a:rPr>
              <a:t>;; weight &lt; 0: pushed away</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set</a:t>
            </a:r>
            <a:r>
              <a:rPr lang="en-US" sz="1300" dirty="0">
                <a:solidFill>
                  <a:srgbClr val="E1E1E1"/>
                </a:solidFill>
                <a:latin typeface="Courier New" pitchFamily="34" charset="0"/>
                <a:ea typeface="Courier New" pitchFamily="34" charset="-122"/>
                <a:cs typeface="Courier New" pitchFamily="34" charset="-120"/>
              </a:rPr>
              <a:t> opinion clamp</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(opinion + rate * </a:t>
            </a:r>
            <a:r>
              <a:rPr lang="en-US" sz="1300" b="1" dirty="0">
                <a:solidFill>
                  <a:srgbClr val="F2F2F2"/>
                </a:solidFill>
                <a:latin typeface="Courier New" pitchFamily="34" charset="0"/>
                <a:ea typeface="Courier New" pitchFamily="34" charset="-122"/>
                <a:cs typeface="Courier New" pitchFamily="34" charset="-120"/>
              </a:rPr>
              <a:t>mean</a:t>
            </a:r>
            <a:r>
              <a:rPr lang="en-US" sz="1300" dirty="0">
                <a:solidFill>
                  <a:srgbClr val="E1E1E1"/>
                </a:solidFill>
                <a:latin typeface="Courier New" pitchFamily="34" charset="0"/>
                <a:ea typeface="Courier New" pitchFamily="34" charset="-122"/>
                <a:cs typeface="Courier New" pitchFamily="34" charset="-120"/>
              </a:rPr>
              <a:t> pulls)</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tick</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txBody>
          <a:bodyPr/>
          <a:lstStyle/>
          <a:p>
            <a:endParaRPr lang="en-US"/>
          </a:p>
        </p:txBody>
      </p:sp>
      <p:sp>
        <p:nvSpPr>
          <p:cNvPr id="12" name="Shape 10"/>
          <p:cNvSpPr/>
          <p:nvPr/>
        </p:nvSpPr>
        <p:spPr>
          <a:xfrm>
            <a:off x="7726680" y="2240280"/>
            <a:ext cx="3794760" cy="45720"/>
          </a:xfrm>
          <a:prstGeom prst="rect">
            <a:avLst/>
          </a:prstGeom>
          <a:solidFill>
            <a:srgbClr val="B60000"/>
          </a:solidFill>
          <a:ln/>
        </p:spPr>
        <p:txBody>
          <a:bodyPr/>
          <a:lstStyle/>
          <a:p>
            <a:endParaRPr lang="en-US"/>
          </a:p>
        </p:txBody>
      </p:sp>
      <p:sp>
        <p:nvSpPr>
          <p:cNvPr id="13" name="Text 11"/>
          <p:cNvSpPr txBox="1"/>
          <p:nvPr/>
        </p:nvSpPr>
        <p:spPr>
          <a:xfrm>
            <a:off x="7909560" y="2377440"/>
            <a:ext cx="3383280" cy="320040"/>
          </a:xfrm>
          <a:prstGeom prst="rect">
            <a:avLst/>
          </a:prstGeom>
          <a:noFill/>
          <a:ln/>
        </p:spPr>
        <p:txBody>
          <a:bodyPr wrap="square" lIns="0" tIns="0" rIns="0" bIns="0" rtlCol="0" anchor="ctr"/>
          <a:lstStyle/>
          <a:p>
            <a:pPr marL="0" indent="0">
              <a:buNone/>
            </a:pPr>
            <a:r>
              <a:rPr lang="en-US" sz="1100" b="1" kern="0" spc="15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marL="0" indent="0">
              <a:lnSpc>
                <a:spcPct val="122000"/>
              </a:lnSpc>
              <a:buNone/>
            </a:pPr>
            <a:r>
              <a:rPr lang="en-US" sz="1800" dirty="0">
                <a:solidFill>
                  <a:srgbClr val="F2F2F2"/>
                </a:solidFill>
                <a:latin typeface="Calibri" pitchFamily="34" charset="0"/>
                <a:ea typeface="Calibri" pitchFamily="34" charset="-122"/>
                <a:cs typeface="Calibri" pitchFamily="34" charset="-120"/>
              </a:rPr>
              <a:t>Crisscrossed attributes: the team usually converges. Aligned attributes: it splits along demographic lines. Same aligned team, but subteams converge before they meet: the split mostly disappears.</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26</a:t>
            </a:r>
            <a:endParaRPr lang="en-US" sz="1000" dirty="0"/>
          </a:p>
        </p:txBody>
      </p:sp>
      <p:pic>
        <p:nvPicPr>
          <p:cNvPr id="16" name="Image 0" descr="assets/ncite_logo_white.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3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Faultlines split teams, unless timing intervenes</a:t>
            </a:r>
            <a:endParaRPr lang="en-US" sz="3000" dirty="0"/>
          </a:p>
        </p:txBody>
      </p:sp>
      <p:pic>
        <p:nvPicPr>
          <p:cNvPr id="5" name="Image 0" descr="figures/stage3_faultlines.png"/>
          <p:cNvPicPr>
            <a:picLocks noChangeAspect="1"/>
          </p:cNvPicPr>
          <p:nvPr/>
        </p:nvPicPr>
        <p:blipFill>
          <a:blip r:embed="rId3"/>
          <a:stretch>
            <a:fillRect/>
          </a:stretch>
        </p:blipFill>
        <p:spPr>
          <a:xfrm>
            <a:off x="777240" y="1783080"/>
            <a:ext cx="10607040" cy="3785257"/>
          </a:xfrm>
          <a:prstGeom prst="rect">
            <a:avLst/>
          </a:prstGeom>
        </p:spPr>
      </p:pic>
      <p:sp>
        <p:nvSpPr>
          <p:cNvPr id="6" name="Text 3"/>
          <p:cNvSpPr txBox="1"/>
          <p:nvPr/>
        </p:nvSpPr>
        <p:spPr>
          <a:xfrm>
            <a:off x="640080" y="5897880"/>
            <a:ext cx="10881360" cy="365760"/>
          </a:xfrm>
          <a:prstGeom prst="rect">
            <a:avLst/>
          </a:prstGeom>
          <a:noFill/>
          <a:ln/>
        </p:spPr>
        <p:txBody>
          <a:bodyPr wrap="square" lIns="0" tIns="0" rIns="0" bIns="0" rtlCol="0" anchor="ctr"/>
          <a:lstStyle/>
          <a:p>
            <a:pPr marL="0" indent="0">
              <a:buNone/>
            </a:pPr>
            <a:r>
              <a:rPr lang="en-US" sz="1400" dirty="0">
                <a:solidFill>
                  <a:srgbClr val="333333"/>
                </a:solidFill>
                <a:latin typeface="Calibri" pitchFamily="34" charset="0"/>
                <a:ea typeface="Calibri" pitchFamily="34" charset="-122"/>
                <a:cs typeface="Calibri" pitchFamily="34" charset="-120"/>
              </a:rPr>
              <a:t>Runs ending split along subgroup lines, 100 seeds each:  crisscrossed 13  ·  aligned 84  ·  aligned, subteams first 16</a:t>
            </a:r>
            <a:endParaRPr lang="en-US" sz="140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27</a:t>
            </a:r>
            <a:endParaRPr lang="en-US" sz="1000" dirty="0"/>
          </a:p>
        </p:txBody>
      </p:sp>
      <p:pic>
        <p:nvPicPr>
          <p:cNvPr id="8"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3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Flache &amp; Mäs (2008)</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Flache, A., &amp; Mäs, M. (2008). How to get the timing right: A computational model of the effects of the timing of contacts on team cohesion in demographically diverse teams. </a:t>
            </a:r>
            <a:r>
              <a:rPr lang="en-US" sz="1450" i="1" dirty="0">
                <a:solidFill>
                  <a:srgbClr val="333333"/>
                </a:solidFill>
                <a:latin typeface="Times New Roman" pitchFamily="34" charset="0"/>
                <a:ea typeface="Times New Roman" pitchFamily="34" charset="-122"/>
                <a:cs typeface="Times New Roman" pitchFamily="34" charset="-120"/>
              </a:rPr>
              <a:t>Computational and Mathematical Organization Theory, 14</a:t>
            </a:r>
            <a:r>
              <a:rPr lang="en-US" sz="1450" dirty="0">
                <a:solidFill>
                  <a:srgbClr val="333333"/>
                </a:solidFill>
                <a:latin typeface="Times New Roman" pitchFamily="34" charset="0"/>
                <a:ea typeface="Times New Roman" pitchFamily="34" charset="-122"/>
                <a:cs typeface="Times New Roman" pitchFamily="34" charset="-120"/>
              </a:rPr>
              <a:t>(1), 23-51.</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Formalized faultline theory with homophily, heterophobia, social influence, and rejection, reproduced the claim that strong faultlines undermine cohesion, and showed the timing of contact matters: subteams that reach consensus before merging suffer far less. Mäs et al. (2013) extended the model to crisscrossing demographics.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28</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0E0E"/>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E1E1E1"/>
                </a:solidFill>
                <a:latin typeface="Calibri" pitchFamily="34" charset="0"/>
                <a:ea typeface="Calibri" pitchFamily="34" charset="-122"/>
                <a:cs typeface="Calibri" pitchFamily="34" charset="-120"/>
              </a:rPr>
              <a:t>LIVE BUILD · STAGE 4</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marL="0" indent="0">
              <a:buNone/>
            </a:pPr>
            <a:r>
              <a:rPr lang="en-US" sz="3000" b="1" dirty="0">
                <a:solidFill>
                  <a:srgbClr val="F2F2F2"/>
                </a:solidFill>
                <a:latin typeface="Calibri" pitchFamily="34" charset="0"/>
                <a:ea typeface="Calibri" pitchFamily="34" charset="-122"/>
                <a:cs typeface="Calibri" pitchFamily="34" charset="-120"/>
              </a:rPr>
              <a:t>Network topology replaces random pairing</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marL="0" indent="0">
              <a:buNone/>
            </a:pPr>
            <a:r>
              <a:rPr lang="en-US" sz="1600" i="1" dirty="0">
                <a:solidFill>
                  <a:srgbClr val="E1E1E1"/>
                </a:solidFill>
                <a:latin typeface="Calibri" pitchFamily="34" charset="0"/>
                <a:ea typeface="Calibri" pitchFamily="34" charset="-122"/>
                <a:cs typeface="Calibri" pitchFamily="34" charset="-120"/>
              </a:rPr>
              <a:t>Who can influence whom is now structural, not random. This is the SNA seminar's variable, used as a model input.</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txBody>
          <a:bodyPr/>
          <a:lstStyle/>
          <a:p>
            <a:endParaRPr lang="en-US"/>
          </a:p>
        </p:txBody>
      </p:sp>
      <p:sp>
        <p:nvSpPr>
          <p:cNvPr id="7" name="Shape 5"/>
          <p:cNvSpPr/>
          <p:nvPr/>
        </p:nvSpPr>
        <p:spPr>
          <a:xfrm>
            <a:off x="640080" y="2240280"/>
            <a:ext cx="6858000" cy="384048"/>
          </a:xfrm>
          <a:prstGeom prst="rect">
            <a:avLst/>
          </a:prstGeom>
          <a:solidFill>
            <a:srgbClr val="262626"/>
          </a:solidFill>
          <a:ln/>
        </p:spPr>
        <p:txBody>
          <a:bodyPr/>
          <a:lstStyle/>
          <a:p>
            <a:endParaRPr lang="en-US"/>
          </a:p>
        </p:txBody>
      </p:sp>
      <p:sp>
        <p:nvSpPr>
          <p:cNvPr id="8" name="Shape 6"/>
          <p:cNvSpPr/>
          <p:nvPr/>
        </p:nvSpPr>
        <p:spPr>
          <a:xfrm>
            <a:off x="640080" y="2240280"/>
            <a:ext cx="6858000" cy="45720"/>
          </a:xfrm>
          <a:prstGeom prst="rect">
            <a:avLst/>
          </a:prstGeom>
          <a:solidFill>
            <a:srgbClr val="B60000"/>
          </a:solidFill>
          <a:ln/>
        </p:spPr>
        <p:txBody>
          <a:bodyPr/>
          <a:lstStyle/>
          <a:p>
            <a:endParaRPr lang="en-US"/>
          </a:p>
        </p:txBody>
      </p:sp>
      <p:sp>
        <p:nvSpPr>
          <p:cNvPr id="9" name="Text 7"/>
          <p:cNvSpPr txBox="1"/>
          <p:nvPr/>
        </p:nvSpPr>
        <p:spPr>
          <a:xfrm>
            <a:off x="868680" y="2304288"/>
            <a:ext cx="6400800" cy="292608"/>
          </a:xfrm>
          <a:prstGeom prst="rect">
            <a:avLst/>
          </a:prstGeom>
          <a:noFill/>
          <a:ln/>
        </p:spPr>
        <p:txBody>
          <a:bodyPr wrap="square" lIns="0" tIns="0" rIns="0" bIns="0" rtlCol="0" anchor="ctr"/>
          <a:lstStyle/>
          <a:p>
            <a:pPr marL="0" indent="0">
              <a:buNone/>
            </a:pPr>
            <a:r>
              <a:rPr lang="en-US" sz="1100" b="1" dirty="0">
                <a:solidFill>
                  <a:srgbClr val="F2F2F2"/>
                </a:solidFill>
                <a:latin typeface="Courier New" pitchFamily="34" charset="0"/>
                <a:ea typeface="Courier New" pitchFamily="34" charset="-122"/>
                <a:cs typeface="Courier New" pitchFamily="34" charset="-120"/>
              </a:rPr>
              <a:t>stage4.nlogo</a:t>
            </a:r>
            <a:r>
              <a:rPr lang="en-US" sz="1100" dirty="0">
                <a:solidFill>
                  <a:srgbClr val="8A8A8A"/>
                </a:solidFill>
                <a:latin typeface="Courier New" pitchFamily="34" charset="0"/>
                <a:ea typeface="Courier New" pitchFamily="34" charset="-122"/>
                <a:cs typeface="Courier New" pitchFamily="34" charset="-120"/>
              </a:rPr>
              <a:t>   Interface   Info   </a:t>
            </a: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extensions</a:t>
            </a:r>
            <a:r>
              <a:rPr lang="en-US" sz="1300" dirty="0">
                <a:solidFill>
                  <a:srgbClr val="E1E1E1"/>
                </a:solidFill>
                <a:latin typeface="Courier New" pitchFamily="34" charset="0"/>
                <a:ea typeface="Courier New" pitchFamily="34" charset="-122"/>
                <a:cs typeface="Courier New" pitchFamily="34" charset="-120"/>
              </a:rPr>
              <a:t> [ nw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r>
              <a:rPr lang="en-US" sz="1300" dirty="0">
                <a:solidFill>
                  <a:srgbClr val="E1E1E1"/>
                </a:solidFill>
                <a:latin typeface="Courier New" pitchFamily="34" charset="0"/>
                <a:ea typeface="Courier New" pitchFamily="34" charset="-122"/>
                <a:cs typeface="Courier New" pitchFamily="34" charset="-120"/>
              </a:rPr>
              <a:t> setup</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nw:generate-watts-strogatz </a:t>
            </a:r>
            <a:r>
              <a:rPr lang="en-US" sz="1300" b="1" dirty="0">
                <a:solidFill>
                  <a:srgbClr val="F2F2F2"/>
                </a:solidFill>
                <a:latin typeface="Courier New" pitchFamily="34" charset="0"/>
                <a:ea typeface="Courier New" pitchFamily="34" charset="-122"/>
                <a:cs typeface="Courier New" pitchFamily="34" charset="-120"/>
              </a:rPr>
              <a:t>turtles</a:t>
            </a:r>
            <a:r>
              <a:rPr lang="en-US" sz="1300" dirty="0">
                <a:solidFill>
                  <a:srgbClr val="E1E1E1"/>
                </a:solidFill>
                <a:latin typeface="Courier New" pitchFamily="34" charset="0"/>
                <a:ea typeface="Courier New" pitchFamily="34" charset="-122"/>
                <a:cs typeface="Courier New" pitchFamily="34" charset="-120"/>
              </a:rPr>
              <a:t> links</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num-agents neighborhood-size rewire-prob</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 fd 10 ]</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r>
              <a:rPr lang="en-US" sz="1300" dirty="0">
                <a:solidFill>
                  <a:srgbClr val="E1E1E1"/>
                </a:solidFill>
                <a:latin typeface="Courier New" pitchFamily="34" charset="0"/>
                <a:ea typeface="Courier New" pitchFamily="34" charset="-122"/>
                <a:cs typeface="Courier New" pitchFamily="34" charset="-120"/>
              </a:rPr>
              <a:t> go</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ask</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turtles</a:t>
            </a: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let</a:t>
            </a:r>
            <a:r>
              <a:rPr lang="en-US" sz="1300" dirty="0">
                <a:solidFill>
                  <a:srgbClr val="E1E1E1"/>
                </a:solidFill>
                <a:latin typeface="Courier New" pitchFamily="34" charset="0"/>
                <a:ea typeface="Courier New" pitchFamily="34" charset="-122"/>
                <a:cs typeface="Courier New" pitchFamily="34" charset="-120"/>
              </a:rPr>
              <a:t> b </a:t>
            </a:r>
            <a:r>
              <a:rPr lang="en-US" sz="1300" b="1" dirty="0">
                <a:solidFill>
                  <a:srgbClr val="F2F2F2"/>
                </a:solidFill>
                <a:latin typeface="Courier New" pitchFamily="34" charset="0"/>
                <a:ea typeface="Courier New" pitchFamily="34" charset="-122"/>
                <a:cs typeface="Courier New" pitchFamily="34" charset="-120"/>
              </a:rPr>
              <a:t>one-of</a:t>
            </a:r>
            <a:r>
              <a:rPr lang="en-US" sz="1300" dirty="0">
                <a:solidFill>
                  <a:srgbClr val="E1E1E1"/>
                </a:solidFill>
                <a:latin typeface="Courier New" pitchFamily="34" charset="0"/>
                <a:ea typeface="Courier New" pitchFamily="34" charset="-122"/>
                <a:cs typeface="Courier New" pitchFamily="34" charset="-120"/>
              </a:rPr>
              <a:t> </a:t>
            </a:r>
            <a:r>
              <a:rPr lang="en-US" sz="1300" b="1" dirty="0">
                <a:solidFill>
                  <a:srgbClr val="F2F2F2"/>
                </a:solidFill>
                <a:latin typeface="Courier New" pitchFamily="34" charset="0"/>
                <a:ea typeface="Courier New" pitchFamily="34" charset="-122"/>
                <a:cs typeface="Courier New" pitchFamily="34" charset="-120"/>
              </a:rPr>
              <a:t>link-neighbors</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marL="0" indent="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txBody>
          <a:bodyPr/>
          <a:lstStyle/>
          <a:p>
            <a:endParaRPr lang="en-US"/>
          </a:p>
        </p:txBody>
      </p:sp>
      <p:sp>
        <p:nvSpPr>
          <p:cNvPr id="12" name="Shape 10"/>
          <p:cNvSpPr/>
          <p:nvPr/>
        </p:nvSpPr>
        <p:spPr>
          <a:xfrm>
            <a:off x="7726680" y="2240280"/>
            <a:ext cx="3794760" cy="45720"/>
          </a:xfrm>
          <a:prstGeom prst="rect">
            <a:avLst/>
          </a:prstGeom>
          <a:solidFill>
            <a:srgbClr val="B60000"/>
          </a:solidFill>
          <a:ln/>
        </p:spPr>
        <p:txBody>
          <a:bodyPr/>
          <a:lstStyle/>
          <a:p>
            <a:endParaRPr lang="en-US"/>
          </a:p>
        </p:txBody>
      </p:sp>
      <p:sp>
        <p:nvSpPr>
          <p:cNvPr id="13" name="Text 11"/>
          <p:cNvSpPr txBox="1"/>
          <p:nvPr/>
        </p:nvSpPr>
        <p:spPr>
          <a:xfrm>
            <a:off x="7909560" y="2377440"/>
            <a:ext cx="3383280" cy="320040"/>
          </a:xfrm>
          <a:prstGeom prst="rect">
            <a:avLst/>
          </a:prstGeom>
          <a:noFill/>
          <a:ln/>
        </p:spPr>
        <p:txBody>
          <a:bodyPr wrap="square" lIns="0" tIns="0" rIns="0" bIns="0" rtlCol="0" anchor="ctr"/>
          <a:lstStyle/>
          <a:p>
            <a:pPr marL="0" indent="0">
              <a:buNone/>
            </a:pPr>
            <a:r>
              <a:rPr lang="en-US" sz="1100" b="1" kern="0" spc="15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marL="0" indent="0">
              <a:lnSpc>
                <a:spcPct val="122000"/>
              </a:lnSpc>
              <a:buNone/>
            </a:pPr>
            <a:r>
              <a:rPr lang="en-US" sz="1800" dirty="0">
                <a:solidFill>
                  <a:srgbClr val="F2F2F2"/>
                </a:solidFill>
                <a:latin typeface="Calibri" pitchFamily="34" charset="0"/>
                <a:ea typeface="Calibri" pitchFamily="34" charset="-122"/>
                <a:cs typeface="Calibri" pitchFamily="34" charset="-120"/>
              </a:rPr>
              <a:t>At rewire-prob 0, a ring lattice: clusters track spatial position. Raise rewire-prob and long-range shortcuts pull distant clusters into contact, changing the outcome with the threshold unchanged.</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29</a:t>
            </a:r>
            <a:endParaRPr lang="en-US" sz="1000" dirty="0"/>
          </a:p>
        </p:txBody>
      </p:sp>
      <p:pic>
        <p:nvPicPr>
          <p:cNvPr id="16" name="Image 0" descr="assets/ncite_logo_white.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4 SETUP</a:t>
            </a:r>
            <a:endParaRPr lang="en-US" sz="1300" dirty="0"/>
          </a:p>
        </p:txBody>
      </p:sp>
      <p:sp>
        <p:nvSpPr>
          <p:cNvPr id="4" name="Text 2"/>
          <p:cNvSpPr txBox="1"/>
          <p:nvPr/>
        </p:nvSpPr>
        <p:spPr>
          <a:xfrm>
            <a:off x="640080" y="914400"/>
            <a:ext cx="10881360" cy="1371600"/>
          </a:xfrm>
          <a:prstGeom prst="rect">
            <a:avLst/>
          </a:prstGeom>
          <a:noFill/>
          <a:ln/>
        </p:spPr>
        <p:txBody>
          <a:bodyPr wrap="square" lIns="0" tIns="0" rIns="0" bIns="0" rtlCol="0" anchor="t"/>
          <a:lstStyle/>
          <a:p>
            <a:pPr marL="0" indent="0">
              <a:buNone/>
            </a:pPr>
            <a:r>
              <a:rPr lang="en-US" sz="2800" b="1" dirty="0">
                <a:solidFill>
                  <a:srgbClr val="0E0E0E"/>
                </a:solidFill>
                <a:latin typeface="Calibri" pitchFamily="34" charset="0"/>
                <a:ea typeface="Calibri" pitchFamily="34" charset="-122"/>
                <a:cs typeface="Calibri" pitchFamily="34" charset="-120"/>
              </a:rPr>
              <a:t>The variable you measured</a:t>
            </a:r>
            <a:endParaRPr lang="en-US" sz="2800" dirty="0"/>
          </a:p>
          <a:p>
            <a:pPr marL="0" indent="0">
              <a:buNone/>
            </a:pPr>
            <a:r>
              <a:rPr lang="en-US" sz="2800" b="1" dirty="0">
                <a:solidFill>
                  <a:srgbClr val="0E0E0E"/>
                </a:solidFill>
                <a:latin typeface="Calibri" pitchFamily="34" charset="0"/>
                <a:ea typeface="Calibri" pitchFamily="34" charset="-122"/>
                <a:cs typeface="Calibri" pitchFamily="34" charset="-120"/>
              </a:rPr>
              <a:t>is now a dial you set</a:t>
            </a:r>
            <a:endParaRPr lang="en-US" sz="2800" dirty="0"/>
          </a:p>
        </p:txBody>
      </p:sp>
      <p:sp>
        <p:nvSpPr>
          <p:cNvPr id="5" name="Text 3"/>
          <p:cNvSpPr txBox="1"/>
          <p:nvPr/>
        </p:nvSpPr>
        <p:spPr>
          <a:xfrm>
            <a:off x="640080" y="3017520"/>
            <a:ext cx="10424160" cy="1463040"/>
          </a:xfrm>
          <a:prstGeom prst="rect">
            <a:avLst/>
          </a:prstGeom>
          <a:noFill/>
          <a:ln/>
        </p:spPr>
        <p:txBody>
          <a:bodyPr wrap="square" lIns="0" tIns="0" rIns="0" bIns="0" rtlCol="0" anchor="ctr"/>
          <a:lstStyle/>
          <a:p>
            <a:pPr marL="0" indent="0">
              <a:lnSpc>
                <a:spcPct val="140000"/>
              </a:lnSpc>
              <a:buNone/>
            </a:pPr>
            <a:r>
              <a:rPr lang="en-US" sz="1900" dirty="0">
                <a:solidFill>
                  <a:srgbClr val="333333"/>
                </a:solidFill>
                <a:latin typeface="Calibri" pitchFamily="34" charset="0"/>
                <a:ea typeface="Calibri" pitchFamily="34" charset="-122"/>
                <a:cs typeface="Calibri" pitchFamily="34" charset="-120"/>
              </a:rPr>
              <a:t>In an observed network, structure is something you estimate from data. In this model, structure is a parameter: fix the threshold, change only rewire-prob, and watch the same rule produce a different outcome.</a:t>
            </a:r>
            <a:endParaRPr lang="en-US" sz="1900" dirty="0"/>
          </a:p>
        </p:txBody>
      </p:sp>
      <p:sp>
        <p:nvSpPr>
          <p:cNvPr id="6" name="Text 4"/>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30</a:t>
            </a:r>
            <a:endParaRPr lang="en-US" sz="1000" dirty="0"/>
          </a:p>
        </p:txBody>
      </p:sp>
      <p:pic>
        <p:nvPicPr>
          <p:cNvPr id="7"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4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marL="0" indent="0">
              <a:buNone/>
            </a:pPr>
            <a:r>
              <a:rPr lang="en-US" sz="3000" b="1" dirty="0">
                <a:solidFill>
                  <a:srgbClr val="0E0E0E"/>
                </a:solidFill>
                <a:latin typeface="Calibri" pitchFamily="34" charset="0"/>
                <a:ea typeface="Calibri" pitchFamily="34" charset="-122"/>
                <a:cs typeface="Calibri" pitchFamily="34" charset="-120"/>
              </a:rPr>
              <a:t>Structure changes the outcome</a:t>
            </a:r>
            <a:endParaRPr lang="en-US" sz="3000" dirty="0"/>
          </a:p>
        </p:txBody>
      </p:sp>
      <p:pic>
        <p:nvPicPr>
          <p:cNvPr id="5" name="Image 0" descr="figures/stage4_network.png"/>
          <p:cNvPicPr>
            <a:picLocks noChangeAspect="1"/>
          </p:cNvPicPr>
          <p:nvPr/>
        </p:nvPicPr>
        <p:blipFill>
          <a:blip r:embed="rId3"/>
          <a:stretch>
            <a:fillRect/>
          </a:stretch>
        </p:blipFill>
        <p:spPr>
          <a:xfrm>
            <a:off x="1709928" y="1874520"/>
            <a:ext cx="8778240" cy="4309396"/>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31</a:t>
            </a:r>
            <a:endParaRPr lang="en-US" sz="1000" dirty="0"/>
          </a:p>
        </p:txBody>
      </p:sp>
      <p:pic>
        <p:nvPicPr>
          <p:cNvPr id="7"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LIVE BUILD · STAGE 4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Lazer &amp; Friedman (2007)</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Lazer, D., &amp; Friedman, A. (2007). The network structure of exploration and exploitation. </a:t>
            </a:r>
            <a:r>
              <a:rPr lang="en-US" sz="1450" i="1" dirty="0">
                <a:solidFill>
                  <a:srgbClr val="333333"/>
                </a:solidFill>
                <a:latin typeface="Times New Roman" pitchFamily="34" charset="0"/>
                <a:ea typeface="Times New Roman" pitchFamily="34" charset="-122"/>
                <a:cs typeface="Times New Roman" pitchFamily="34" charset="-120"/>
              </a:rPr>
              <a:t>Administrative Science Quarterly, 52</a:t>
            </a:r>
            <a:r>
              <a:rPr lang="en-US" sz="1450" dirty="0">
                <a:solidFill>
                  <a:srgbClr val="333333"/>
                </a:solidFill>
                <a:latin typeface="Times New Roman" pitchFamily="34" charset="0"/>
                <a:ea typeface="Times New Roman" pitchFamily="34" charset="-122"/>
                <a:cs typeface="Times New Roman" pitchFamily="34" charset="-120"/>
              </a:rPr>
              <a:t>(4), 667-694.</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Simulated problem-solving groups in which agents imitate better-performing contacts and found that efficient, densely connected networks win in the short run but lose in the long run on complex problems, because less efficient networks preserve the diversity that exploration needs.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32</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0E0E"/>
        </a:solidFill>
        <a:effectLst/>
      </p:bgPr>
    </p:bg>
    <p:spTree>
      <p:nvGrpSpPr>
        <p:cNvPr id="1" name=""/>
        <p:cNvGrpSpPr/>
        <p:nvPr/>
      </p:nvGrpSpPr>
      <p:grpSpPr>
        <a:xfrm>
          <a:off x="0" y="0"/>
          <a:ext cx="0" cy="0"/>
          <a:chOff x="0" y="0"/>
          <a:chExt cx="0" cy="0"/>
        </a:xfrm>
      </p:grpSpPr>
      <p:pic>
        <p:nvPicPr>
          <p:cNvPr id="2" name="Image 0" descr="assets/art_standards.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txBody>
          <a:bodyPr/>
          <a:lstStyle/>
          <a:p>
            <a:endParaRPr lang="en-US"/>
          </a:p>
        </p:txBody>
      </p:sp>
      <p:sp>
        <p:nvSpPr>
          <p:cNvPr id="4" name="Text 1"/>
          <p:cNvSpPr txBox="1"/>
          <p:nvPr/>
        </p:nvSpPr>
        <p:spPr>
          <a:xfrm>
            <a:off x="731520" y="685800"/>
            <a:ext cx="4572000" cy="1737360"/>
          </a:xfrm>
          <a:prstGeom prst="rect">
            <a:avLst/>
          </a:prstGeom>
          <a:noFill/>
          <a:ln/>
        </p:spPr>
        <p:txBody>
          <a:bodyPr wrap="square" lIns="0" tIns="0" rIns="0" bIns="0" rtlCol="0" anchor="ctr"/>
          <a:lstStyle/>
          <a:p>
            <a:pPr marL="0" indent="0">
              <a:buNone/>
            </a:pPr>
            <a:r>
              <a:rPr lang="en-US" sz="13200" b="1" dirty="0">
                <a:solidFill>
                  <a:srgbClr val="333333"/>
                </a:solidFill>
                <a:latin typeface="Calibri" pitchFamily="34" charset="0"/>
                <a:ea typeface="Calibri" pitchFamily="34" charset="-122"/>
                <a:cs typeface="Calibri" pitchFamily="34" charset="-120"/>
              </a:rPr>
              <a:t>04</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marL="0" indent="0">
              <a:buNone/>
            </a:pPr>
            <a:r>
              <a:rPr lang="en-US" sz="1400" b="1" kern="0" spc="300" dirty="0">
                <a:solidFill>
                  <a:srgbClr val="E1E1E1"/>
                </a:solidFill>
                <a:latin typeface="Calibri" pitchFamily="34" charset="0"/>
                <a:ea typeface="Calibri" pitchFamily="34" charset="-122"/>
                <a:cs typeface="Calibri" pitchFamily="34" charset="-120"/>
              </a:rPr>
              <a:t>PART 04 · STANDARDS &amp; LIMITS</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marL="0" indent="0">
              <a:lnSpc>
                <a:spcPct val="100000"/>
              </a:lnSpc>
              <a:buNone/>
            </a:pPr>
            <a:r>
              <a:rPr lang="en-US" sz="4200" b="1" dirty="0">
                <a:solidFill>
                  <a:srgbClr val="F2F2F2"/>
                </a:solidFill>
                <a:latin typeface="Calibri" pitchFamily="34" charset="0"/>
                <a:ea typeface="Calibri" pitchFamily="34" charset="-122"/>
                <a:cs typeface="Calibri" pitchFamily="34" charset="-120"/>
              </a:rPr>
              <a:t>When should anyone believe a simulation?</a:t>
            </a:r>
            <a:endParaRPr lang="en-US" sz="4200" dirty="0"/>
          </a:p>
        </p:txBody>
      </p:sp>
      <p:sp>
        <p:nvSpPr>
          <p:cNvPr id="7" name="Shape 4"/>
          <p:cNvSpPr/>
          <p:nvPr/>
        </p:nvSpPr>
        <p:spPr>
          <a:xfrm>
            <a:off x="822960" y="4709160"/>
            <a:ext cx="1005840" cy="54864"/>
          </a:xfrm>
          <a:prstGeom prst="rect">
            <a:avLst/>
          </a:prstGeom>
          <a:solidFill>
            <a:srgbClr val="B60000"/>
          </a:solidFill>
          <a:ln/>
        </p:spPr>
        <p:txBody>
          <a:bodyPr/>
          <a:lstStyle/>
          <a:p>
            <a:endParaRPr lang="en-US"/>
          </a:p>
        </p:txBody>
      </p:sp>
      <p:sp>
        <p:nvSpPr>
          <p:cNvPr id="8" name="Text 5"/>
          <p:cNvSpPr txBox="1"/>
          <p:nvPr/>
        </p:nvSpPr>
        <p:spPr>
          <a:xfrm>
            <a:off x="822960" y="4937760"/>
            <a:ext cx="5852160" cy="1005840"/>
          </a:xfrm>
          <a:prstGeom prst="rect">
            <a:avLst/>
          </a:prstGeom>
          <a:noFill/>
          <a:ln/>
        </p:spPr>
        <p:txBody>
          <a:bodyPr wrap="square" lIns="0" tIns="0" rIns="0" bIns="0" rtlCol="0" anchor="t"/>
          <a:lstStyle/>
          <a:p>
            <a:pPr marL="0" indent="0">
              <a:lnSpc>
                <a:spcPct val="125000"/>
              </a:lnSpc>
              <a:buNone/>
            </a:pPr>
            <a:r>
              <a:rPr lang="en-US" sz="1700" dirty="0">
                <a:solidFill>
                  <a:srgbClr val="E1E1E1"/>
                </a:solidFill>
                <a:latin typeface="Calibri" pitchFamily="34" charset="0"/>
                <a:ea typeface="Calibri" pitchFamily="34" charset="-122"/>
                <a:cs typeface="Calibri" pitchFamily="34" charset="-120"/>
              </a:rPr>
              <a:t>Verification, validation, sensitivity, reporting, and the honest critique.</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33</a:t>
            </a:r>
            <a:endParaRPr lang="en-US" sz="1000" dirty="0"/>
          </a:p>
        </p:txBody>
      </p:sp>
      <p:pic>
        <p:nvPicPr>
          <p:cNvPr id="10" name="Image 1" descr="assets/ncite_logo_white.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STANDARDS &amp; LIMITS · 1 OF 5</a:t>
            </a:r>
            <a:endParaRPr lang="en-US" sz="1300" dirty="0"/>
          </a:p>
        </p:txBody>
      </p:sp>
      <p:sp>
        <p:nvSpPr>
          <p:cNvPr id="4" name="Text 2"/>
          <p:cNvSpPr txBox="1"/>
          <p:nvPr/>
        </p:nvSpPr>
        <p:spPr>
          <a:xfrm>
            <a:off x="640080" y="914400"/>
            <a:ext cx="10881360" cy="1280160"/>
          </a:xfrm>
          <a:prstGeom prst="rect">
            <a:avLst/>
          </a:prstGeom>
          <a:noFill/>
          <a:ln/>
        </p:spPr>
        <p:txBody>
          <a:bodyPr wrap="square" lIns="0" tIns="0" rIns="0" bIns="0" rtlCol="0" anchor="t"/>
          <a:lstStyle/>
          <a:p>
            <a:pPr marL="0" indent="0">
              <a:buNone/>
            </a:pPr>
            <a:r>
              <a:rPr lang="en-US" sz="2800" b="1" dirty="0">
                <a:solidFill>
                  <a:srgbClr val="0E0E0E"/>
                </a:solidFill>
                <a:latin typeface="Calibri" pitchFamily="34" charset="0"/>
                <a:ea typeface="Calibri" pitchFamily="34" charset="-122"/>
                <a:cs typeface="Calibri" pitchFamily="34" charset="-120"/>
              </a:rPr>
              <a:t>Verification and validation are different questions</a:t>
            </a:r>
            <a:endParaRPr lang="en-US" sz="2800" dirty="0"/>
          </a:p>
        </p:txBody>
      </p:sp>
      <p:sp>
        <p:nvSpPr>
          <p:cNvPr id="5" name="Shape 3"/>
          <p:cNvSpPr/>
          <p:nvPr/>
        </p:nvSpPr>
        <p:spPr>
          <a:xfrm>
            <a:off x="640080" y="2377440"/>
            <a:ext cx="5303520" cy="3566160"/>
          </a:xfrm>
          <a:prstGeom prst="rect">
            <a:avLst/>
          </a:prstGeom>
          <a:solidFill>
            <a:srgbClr val="E1E1E1"/>
          </a:solidFill>
          <a:ln/>
        </p:spPr>
        <p:txBody>
          <a:bodyPr/>
          <a:lstStyle/>
          <a:p>
            <a:endParaRPr lang="en-US"/>
          </a:p>
        </p:txBody>
      </p:sp>
      <p:sp>
        <p:nvSpPr>
          <p:cNvPr id="6" name="Text 4"/>
          <p:cNvSpPr txBox="1"/>
          <p:nvPr/>
        </p:nvSpPr>
        <p:spPr>
          <a:xfrm>
            <a:off x="914400" y="2606040"/>
            <a:ext cx="4754880" cy="502920"/>
          </a:xfrm>
          <a:prstGeom prst="rect">
            <a:avLst/>
          </a:prstGeom>
          <a:noFill/>
          <a:ln/>
        </p:spPr>
        <p:txBody>
          <a:bodyPr wrap="square" lIns="0" tIns="0" rIns="0" bIns="0" rtlCol="0" anchor="ctr"/>
          <a:lstStyle/>
          <a:p>
            <a:pPr marL="0" indent="0">
              <a:buNone/>
            </a:pPr>
            <a:r>
              <a:rPr lang="en-US" sz="2200" b="1" dirty="0">
                <a:solidFill>
                  <a:srgbClr val="0E0E0E"/>
                </a:solidFill>
                <a:latin typeface="Calibri" pitchFamily="34" charset="0"/>
                <a:ea typeface="Calibri" pitchFamily="34" charset="-122"/>
                <a:cs typeface="Calibri" pitchFamily="34" charset="-120"/>
              </a:rPr>
              <a:t>Verification</a:t>
            </a:r>
            <a:endParaRPr lang="en-US" sz="2200" dirty="0"/>
          </a:p>
        </p:txBody>
      </p:sp>
      <p:sp>
        <p:nvSpPr>
          <p:cNvPr id="7" name="Text 5"/>
          <p:cNvSpPr txBox="1"/>
          <p:nvPr/>
        </p:nvSpPr>
        <p:spPr>
          <a:xfrm>
            <a:off x="914400" y="3200400"/>
            <a:ext cx="4754880" cy="822960"/>
          </a:xfrm>
          <a:prstGeom prst="rect">
            <a:avLst/>
          </a:prstGeom>
          <a:noFill/>
          <a:ln/>
        </p:spPr>
        <p:txBody>
          <a:bodyPr wrap="square" lIns="0" tIns="0" rIns="0" bIns="0" rtlCol="0" anchor="ctr"/>
          <a:lstStyle/>
          <a:p>
            <a:pPr marL="0" indent="0">
              <a:lnSpc>
                <a:spcPct val="125000"/>
              </a:lnSpc>
              <a:buNone/>
            </a:pPr>
            <a:r>
              <a:rPr lang="en-US" sz="1600" b="1" dirty="0">
                <a:solidFill>
                  <a:srgbClr val="B60000"/>
                </a:solidFill>
                <a:latin typeface="Calibri" pitchFamily="34" charset="0"/>
                <a:ea typeface="Calibri" pitchFamily="34" charset="-122"/>
                <a:cs typeface="Calibri" pitchFamily="34" charset="-120"/>
              </a:rPr>
              <a:t>Does the code correctly implement the model you specified?</a:t>
            </a:r>
            <a:endParaRPr lang="en-US" sz="1600" dirty="0"/>
          </a:p>
        </p:txBody>
      </p:sp>
      <p:sp>
        <p:nvSpPr>
          <p:cNvPr id="8" name="Text 6"/>
          <p:cNvSpPr txBox="1"/>
          <p:nvPr/>
        </p:nvSpPr>
        <p:spPr>
          <a:xfrm>
            <a:off x="914400" y="4069080"/>
            <a:ext cx="4754880" cy="1737360"/>
          </a:xfrm>
          <a:prstGeom prst="rect">
            <a:avLst/>
          </a:prstGeom>
          <a:noFill/>
          <a:ln/>
        </p:spPr>
        <p:txBody>
          <a:bodyPr wrap="square" lIns="0" tIns="0" rIns="0" bIns="0" rtlCol="0" anchor="ctr"/>
          <a:lstStyle/>
          <a:p>
            <a:pPr marL="0" indent="0">
              <a:lnSpc>
                <a:spcPct val="125000"/>
              </a:lnSpc>
              <a:buNone/>
            </a:pPr>
            <a:r>
              <a:rPr lang="en-US" sz="1800" dirty="0">
                <a:solidFill>
                  <a:srgbClr val="333333"/>
                </a:solidFill>
                <a:latin typeface="Calibri" pitchFamily="34" charset="0"/>
                <a:ea typeface="Calibri" pitchFamily="34" charset="-122"/>
                <a:cs typeface="Calibri" pitchFamily="34" charset="-120"/>
              </a:rPr>
              <a:t>Unit tests, code review, checking edge cases against hand calculation.</a:t>
            </a:r>
            <a:endParaRPr lang="en-US" sz="1800" dirty="0"/>
          </a:p>
        </p:txBody>
      </p:sp>
      <p:sp>
        <p:nvSpPr>
          <p:cNvPr id="9" name="Shape 7"/>
          <p:cNvSpPr/>
          <p:nvPr/>
        </p:nvSpPr>
        <p:spPr>
          <a:xfrm>
            <a:off x="6172200" y="2377440"/>
            <a:ext cx="5303520" cy="3566160"/>
          </a:xfrm>
          <a:prstGeom prst="rect">
            <a:avLst/>
          </a:prstGeom>
          <a:solidFill>
            <a:srgbClr val="E1E1E1"/>
          </a:solidFill>
          <a:ln/>
        </p:spPr>
        <p:txBody>
          <a:bodyPr/>
          <a:lstStyle/>
          <a:p>
            <a:endParaRPr lang="en-US"/>
          </a:p>
        </p:txBody>
      </p:sp>
      <p:sp>
        <p:nvSpPr>
          <p:cNvPr id="10" name="Text 8"/>
          <p:cNvSpPr txBox="1"/>
          <p:nvPr/>
        </p:nvSpPr>
        <p:spPr>
          <a:xfrm>
            <a:off x="6446520" y="2606040"/>
            <a:ext cx="4754880" cy="502920"/>
          </a:xfrm>
          <a:prstGeom prst="rect">
            <a:avLst/>
          </a:prstGeom>
          <a:noFill/>
          <a:ln/>
        </p:spPr>
        <p:txBody>
          <a:bodyPr wrap="square" lIns="0" tIns="0" rIns="0" bIns="0" rtlCol="0" anchor="ctr"/>
          <a:lstStyle/>
          <a:p>
            <a:pPr marL="0" indent="0">
              <a:buNone/>
            </a:pPr>
            <a:r>
              <a:rPr lang="en-US" sz="2200" b="1" dirty="0">
                <a:solidFill>
                  <a:srgbClr val="0E0E0E"/>
                </a:solidFill>
                <a:latin typeface="Calibri" pitchFamily="34" charset="0"/>
                <a:ea typeface="Calibri" pitchFamily="34" charset="-122"/>
                <a:cs typeface="Calibri" pitchFamily="34" charset="-120"/>
              </a:rPr>
              <a:t>Validation</a:t>
            </a:r>
            <a:endParaRPr lang="en-US" sz="2200" dirty="0"/>
          </a:p>
        </p:txBody>
      </p:sp>
      <p:sp>
        <p:nvSpPr>
          <p:cNvPr id="11" name="Text 9"/>
          <p:cNvSpPr txBox="1"/>
          <p:nvPr/>
        </p:nvSpPr>
        <p:spPr>
          <a:xfrm>
            <a:off x="6446520" y="3200400"/>
            <a:ext cx="4754880" cy="822960"/>
          </a:xfrm>
          <a:prstGeom prst="rect">
            <a:avLst/>
          </a:prstGeom>
          <a:noFill/>
          <a:ln/>
        </p:spPr>
        <p:txBody>
          <a:bodyPr wrap="square" lIns="0" tIns="0" rIns="0" bIns="0" rtlCol="0" anchor="ctr"/>
          <a:lstStyle/>
          <a:p>
            <a:pPr marL="0" indent="0">
              <a:lnSpc>
                <a:spcPct val="125000"/>
              </a:lnSpc>
              <a:buNone/>
            </a:pPr>
            <a:r>
              <a:rPr lang="en-US" sz="1600" b="1" dirty="0">
                <a:solidFill>
                  <a:srgbClr val="B60000"/>
                </a:solidFill>
                <a:latin typeface="Calibri" pitchFamily="34" charset="0"/>
                <a:ea typeface="Calibri" pitchFamily="34" charset="-122"/>
                <a:cs typeface="Calibri" pitchFamily="34" charset="-120"/>
              </a:rPr>
              <a:t>Does the model's behavior correspond to something real?</a:t>
            </a:r>
            <a:endParaRPr lang="en-US" sz="1600" dirty="0"/>
          </a:p>
        </p:txBody>
      </p:sp>
      <p:sp>
        <p:nvSpPr>
          <p:cNvPr id="12" name="Text 10"/>
          <p:cNvSpPr txBox="1"/>
          <p:nvPr/>
        </p:nvSpPr>
        <p:spPr>
          <a:xfrm>
            <a:off x="6446520" y="4069080"/>
            <a:ext cx="4754880" cy="1737360"/>
          </a:xfrm>
          <a:prstGeom prst="rect">
            <a:avLst/>
          </a:prstGeom>
          <a:noFill/>
          <a:ln/>
        </p:spPr>
        <p:txBody>
          <a:bodyPr wrap="square" lIns="0" tIns="0" rIns="0" bIns="0" rtlCol="0" anchor="ctr"/>
          <a:lstStyle/>
          <a:p>
            <a:pPr marL="0" indent="0">
              <a:lnSpc>
                <a:spcPct val="125000"/>
              </a:lnSpc>
              <a:buNone/>
            </a:pPr>
            <a:r>
              <a:rPr lang="en-US" sz="1800" dirty="0">
                <a:solidFill>
                  <a:srgbClr val="333333"/>
                </a:solidFill>
                <a:latin typeface="Calibri" pitchFamily="34" charset="0"/>
                <a:ea typeface="Calibri" pitchFamily="34" charset="-122"/>
                <a:cs typeface="Calibri" pitchFamily="34" charset="-120"/>
              </a:rPr>
              <a:t>Comparison to empirical data, expert judgment, or established theoretical benchmarks.</a:t>
            </a:r>
            <a:endParaRPr lang="en-US" sz="1800" dirty="0"/>
          </a:p>
        </p:txBody>
      </p:sp>
      <p:sp>
        <p:nvSpPr>
          <p:cNvPr id="13" name="Text 11"/>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34</a:t>
            </a:r>
            <a:endParaRPr lang="en-US" sz="1000" dirty="0"/>
          </a:p>
        </p:txBody>
      </p:sp>
      <p:pic>
        <p:nvPicPr>
          <p:cNvPr id="14"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STANDARDS &amp; LIMITS · 2 OF 5</a:t>
            </a:r>
            <a:endParaRPr lang="en-US" sz="1300" dirty="0"/>
          </a:p>
        </p:txBody>
      </p:sp>
      <p:sp>
        <p:nvSpPr>
          <p:cNvPr id="4" name="Text 2"/>
          <p:cNvSpPr txBox="1"/>
          <p:nvPr/>
        </p:nvSpPr>
        <p:spPr>
          <a:xfrm>
            <a:off x="640080" y="914400"/>
            <a:ext cx="10881360" cy="1188720"/>
          </a:xfrm>
          <a:prstGeom prst="rect">
            <a:avLst/>
          </a:prstGeom>
          <a:noFill/>
          <a:ln/>
        </p:spPr>
        <p:txBody>
          <a:bodyPr wrap="square" lIns="0" tIns="0" rIns="0" bIns="0" rtlCol="0" anchor="t"/>
          <a:lstStyle/>
          <a:p>
            <a:pPr marL="0" indent="0">
              <a:buNone/>
            </a:pPr>
            <a:r>
              <a:rPr lang="en-US" sz="2800" b="1" dirty="0">
                <a:solidFill>
                  <a:srgbClr val="0E0E0E"/>
                </a:solidFill>
                <a:latin typeface="Calibri" pitchFamily="34" charset="0"/>
                <a:ea typeface="Calibri" pitchFamily="34" charset="-122"/>
                <a:cs typeface="Calibri" pitchFamily="34" charset="-120"/>
              </a:rPr>
              <a:t>Validation means something different for each</a:t>
            </a:r>
            <a:endParaRPr lang="en-US" sz="2800" dirty="0"/>
          </a:p>
        </p:txBody>
      </p:sp>
      <p:sp>
        <p:nvSpPr>
          <p:cNvPr id="5" name="Shape 3"/>
          <p:cNvSpPr/>
          <p:nvPr/>
        </p:nvSpPr>
        <p:spPr>
          <a:xfrm>
            <a:off x="640080" y="2377440"/>
            <a:ext cx="10881360" cy="1371600"/>
          </a:xfrm>
          <a:prstGeom prst="rect">
            <a:avLst/>
          </a:prstGeom>
          <a:solidFill>
            <a:srgbClr val="E1E1E1"/>
          </a:solidFill>
          <a:ln/>
        </p:spPr>
        <p:txBody>
          <a:bodyPr/>
          <a:lstStyle/>
          <a:p>
            <a:endParaRPr lang="en-US"/>
          </a:p>
        </p:txBody>
      </p:sp>
      <p:sp>
        <p:nvSpPr>
          <p:cNvPr id="6" name="Text 4"/>
          <p:cNvSpPr txBox="1"/>
          <p:nvPr/>
        </p:nvSpPr>
        <p:spPr>
          <a:xfrm>
            <a:off x="914400" y="2560320"/>
            <a:ext cx="3931920" cy="1005840"/>
          </a:xfrm>
          <a:prstGeom prst="rect">
            <a:avLst/>
          </a:prstGeom>
          <a:noFill/>
          <a:ln/>
        </p:spPr>
        <p:txBody>
          <a:bodyPr wrap="square" lIns="0" tIns="0" rIns="0" bIns="0" rtlCol="0" anchor="ctr"/>
          <a:lstStyle/>
          <a:p>
            <a:pPr marL="0" indent="0">
              <a:lnSpc>
                <a:spcPct val="120000"/>
              </a:lnSpc>
              <a:buNone/>
            </a:pPr>
            <a:r>
              <a:rPr lang="en-US" sz="1700" b="1" dirty="0">
                <a:solidFill>
                  <a:srgbClr val="0E0E0E"/>
                </a:solidFill>
                <a:latin typeface="Calibri" pitchFamily="34" charset="0"/>
                <a:ea typeface="Calibri" pitchFamily="34" charset="-122"/>
                <a:cs typeface="Calibri" pitchFamily="34" charset="-120"/>
              </a:rPr>
              <a:t>Abstract theoretical model</a:t>
            </a:r>
            <a:endParaRPr lang="en-US" sz="1700" dirty="0"/>
          </a:p>
        </p:txBody>
      </p:sp>
      <p:sp>
        <p:nvSpPr>
          <p:cNvPr id="7" name="Text 5"/>
          <p:cNvSpPr txBox="1"/>
          <p:nvPr/>
        </p:nvSpPr>
        <p:spPr>
          <a:xfrm>
            <a:off x="5029200" y="2560320"/>
            <a:ext cx="6309360" cy="1005840"/>
          </a:xfrm>
          <a:prstGeom prst="rect">
            <a:avLst/>
          </a:prstGeom>
          <a:noFill/>
          <a:ln/>
        </p:spPr>
        <p:txBody>
          <a:bodyPr wrap="square" lIns="0" tIns="0" rIns="0" bIns="0" rtlCol="0" anchor="ctr"/>
          <a:lstStyle/>
          <a:p>
            <a:pPr marL="0" indent="0">
              <a:lnSpc>
                <a:spcPct val="120000"/>
              </a:lnSpc>
              <a:buNone/>
            </a:pPr>
            <a:r>
              <a:rPr lang="en-US" sz="1800" dirty="0">
                <a:solidFill>
                  <a:srgbClr val="333333"/>
                </a:solidFill>
                <a:latin typeface="Calibri" pitchFamily="34" charset="0"/>
                <a:ea typeface="Calibri" pitchFamily="34" charset="-122"/>
                <a:cs typeface="Calibri" pitchFamily="34" charset="-120"/>
              </a:rPr>
              <a:t>internal consistency, comparison to established qualitative patterns, plausibility of assumptions</a:t>
            </a:r>
            <a:endParaRPr lang="en-US" sz="1800" dirty="0"/>
          </a:p>
        </p:txBody>
      </p:sp>
      <p:sp>
        <p:nvSpPr>
          <p:cNvPr id="8" name="Shape 6"/>
          <p:cNvSpPr/>
          <p:nvPr/>
        </p:nvSpPr>
        <p:spPr>
          <a:xfrm>
            <a:off x="640080" y="4023360"/>
            <a:ext cx="10881360" cy="1371600"/>
          </a:xfrm>
          <a:prstGeom prst="rect">
            <a:avLst/>
          </a:prstGeom>
          <a:solidFill>
            <a:srgbClr val="E1E1E1"/>
          </a:solidFill>
          <a:ln/>
        </p:spPr>
        <p:txBody>
          <a:bodyPr/>
          <a:lstStyle/>
          <a:p>
            <a:endParaRPr lang="en-US"/>
          </a:p>
        </p:txBody>
      </p:sp>
      <p:sp>
        <p:nvSpPr>
          <p:cNvPr id="9" name="Text 7"/>
          <p:cNvSpPr txBox="1"/>
          <p:nvPr/>
        </p:nvSpPr>
        <p:spPr>
          <a:xfrm>
            <a:off x="914400" y="4206240"/>
            <a:ext cx="3931920" cy="1005840"/>
          </a:xfrm>
          <a:prstGeom prst="rect">
            <a:avLst/>
          </a:prstGeom>
          <a:noFill/>
          <a:ln/>
        </p:spPr>
        <p:txBody>
          <a:bodyPr wrap="square" lIns="0" tIns="0" rIns="0" bIns="0" rtlCol="0" anchor="ctr"/>
          <a:lstStyle/>
          <a:p>
            <a:pPr marL="0" indent="0">
              <a:lnSpc>
                <a:spcPct val="120000"/>
              </a:lnSpc>
              <a:buNone/>
            </a:pPr>
            <a:r>
              <a:rPr lang="en-US" sz="1700" b="1" dirty="0">
                <a:solidFill>
                  <a:srgbClr val="0E0E0E"/>
                </a:solidFill>
                <a:latin typeface="Calibri" pitchFamily="34" charset="0"/>
                <a:ea typeface="Calibri" pitchFamily="34" charset="-122"/>
                <a:cs typeface="Calibri" pitchFamily="34" charset="-120"/>
              </a:rPr>
              <a:t>Empirically calibrated model</a:t>
            </a:r>
            <a:endParaRPr lang="en-US" sz="1700" dirty="0"/>
          </a:p>
        </p:txBody>
      </p:sp>
      <p:sp>
        <p:nvSpPr>
          <p:cNvPr id="10" name="Text 8"/>
          <p:cNvSpPr txBox="1"/>
          <p:nvPr/>
        </p:nvSpPr>
        <p:spPr>
          <a:xfrm>
            <a:off x="5029200" y="4206240"/>
            <a:ext cx="6309360" cy="1005840"/>
          </a:xfrm>
          <a:prstGeom prst="rect">
            <a:avLst/>
          </a:prstGeom>
          <a:noFill/>
          <a:ln/>
        </p:spPr>
        <p:txBody>
          <a:bodyPr wrap="square" lIns="0" tIns="0" rIns="0" bIns="0" rtlCol="0" anchor="ctr"/>
          <a:lstStyle/>
          <a:p>
            <a:pPr marL="0" indent="0">
              <a:lnSpc>
                <a:spcPct val="120000"/>
              </a:lnSpc>
              <a:buNone/>
            </a:pPr>
            <a:r>
              <a:rPr lang="en-US" sz="1800" dirty="0">
                <a:solidFill>
                  <a:srgbClr val="333333"/>
                </a:solidFill>
                <a:latin typeface="Calibri" pitchFamily="34" charset="0"/>
                <a:ea typeface="Calibri" pitchFamily="34" charset="-122"/>
                <a:cs typeface="Calibri" pitchFamily="34" charset="-120"/>
              </a:rPr>
              <a:t>quantitative fit to real data, out-of-sample prediction, parameter recovery</a:t>
            </a:r>
            <a:endParaRPr lang="en-US" sz="1800" dirty="0"/>
          </a:p>
        </p:txBody>
      </p:sp>
      <p:sp>
        <p:nvSpPr>
          <p:cNvPr id="11" name="Text 9"/>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35</a:t>
            </a:r>
            <a:endParaRPr lang="en-US" sz="1000" dirty="0"/>
          </a:p>
        </p:txBody>
      </p:sp>
      <p:pic>
        <p:nvPicPr>
          <p:cNvPr id="12"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STANDARDS &amp; LIMITS · 3 OF 5</a:t>
            </a:r>
            <a:endParaRPr lang="en-US" sz="1300" dirty="0"/>
          </a:p>
        </p:txBody>
      </p:sp>
      <p:sp>
        <p:nvSpPr>
          <p:cNvPr id="4" name="Text 2"/>
          <p:cNvSpPr txBox="1"/>
          <p:nvPr/>
        </p:nvSpPr>
        <p:spPr>
          <a:xfrm>
            <a:off x="640080" y="914400"/>
            <a:ext cx="10881360" cy="1188720"/>
          </a:xfrm>
          <a:prstGeom prst="rect">
            <a:avLst/>
          </a:prstGeom>
          <a:noFill/>
          <a:ln/>
        </p:spPr>
        <p:txBody>
          <a:bodyPr wrap="square" lIns="0" tIns="0" rIns="0" bIns="0" rtlCol="0" anchor="t"/>
          <a:lstStyle/>
          <a:p>
            <a:pPr marL="0" indent="0">
              <a:buNone/>
            </a:pPr>
            <a:r>
              <a:rPr lang="en-US" sz="2600" b="1" dirty="0">
                <a:solidFill>
                  <a:srgbClr val="0E0E0E"/>
                </a:solidFill>
                <a:latin typeface="Calibri" pitchFamily="34" charset="0"/>
                <a:ea typeface="Calibri" pitchFamily="34" charset="-122"/>
                <a:cs typeface="Calibri" pitchFamily="34" charset="-120"/>
              </a:rPr>
              <a:t>Sensitivity analysis is due diligence, not decoration</a:t>
            </a:r>
            <a:endParaRPr lang="en-US" sz="2600" dirty="0"/>
          </a:p>
        </p:txBody>
      </p:sp>
      <p:sp>
        <p:nvSpPr>
          <p:cNvPr id="5" name="Text 3"/>
          <p:cNvSpPr txBox="1"/>
          <p:nvPr/>
        </p:nvSpPr>
        <p:spPr>
          <a:xfrm>
            <a:off x="640080" y="2286000"/>
            <a:ext cx="10424160" cy="914400"/>
          </a:xfrm>
          <a:prstGeom prst="rect">
            <a:avLst/>
          </a:prstGeom>
          <a:noFill/>
          <a:ln/>
        </p:spPr>
        <p:txBody>
          <a:bodyPr wrap="square" lIns="0" tIns="0" rIns="0" bIns="0" rtlCol="0" anchor="ctr"/>
          <a:lstStyle/>
          <a:p>
            <a:pPr marL="0" indent="0">
              <a:lnSpc>
                <a:spcPct val="135000"/>
              </a:lnSpc>
              <a:buNone/>
            </a:pPr>
            <a:r>
              <a:rPr lang="en-US" sz="1900" dirty="0">
                <a:solidFill>
                  <a:srgbClr val="333333"/>
                </a:solidFill>
                <a:latin typeface="Calibri" pitchFamily="34" charset="0"/>
                <a:ea typeface="Calibri" pitchFamily="34" charset="-122"/>
                <a:cs typeface="Calibri" pitchFamily="34" charset="-120"/>
              </a:rPr>
              <a:t>Before trusting a result, vary every parameter you did not sweep, one at a time, and confirm the qualitative conclusion survives.</a:t>
            </a:r>
            <a:endParaRPr lang="en-US" sz="1900" dirty="0"/>
          </a:p>
        </p:txBody>
      </p:sp>
      <p:sp>
        <p:nvSpPr>
          <p:cNvPr id="6" name="Shape 4"/>
          <p:cNvSpPr/>
          <p:nvPr/>
        </p:nvSpPr>
        <p:spPr>
          <a:xfrm>
            <a:off x="822960" y="3502152"/>
            <a:ext cx="256032" cy="256032"/>
          </a:xfrm>
          <a:prstGeom prst="rect">
            <a:avLst/>
          </a:prstGeom>
          <a:ln w="19050">
            <a:solidFill>
              <a:srgbClr val="B60000"/>
            </a:solidFill>
            <a:prstDash val="solid"/>
          </a:ln>
        </p:spPr>
        <p:txBody>
          <a:bodyPr/>
          <a:lstStyle/>
          <a:p>
            <a:endParaRPr lang="en-US"/>
          </a:p>
        </p:txBody>
      </p:sp>
      <p:sp>
        <p:nvSpPr>
          <p:cNvPr id="7" name="Text 5"/>
          <p:cNvSpPr txBox="1"/>
          <p:nvPr/>
        </p:nvSpPr>
        <p:spPr>
          <a:xfrm>
            <a:off x="1280160" y="3429000"/>
            <a:ext cx="9875520" cy="502920"/>
          </a:xfrm>
          <a:prstGeom prst="rect">
            <a:avLst/>
          </a:prstGeom>
          <a:noFill/>
          <a:ln/>
        </p:spPr>
        <p:txBody>
          <a:bodyPr wrap="square" lIns="0" tIns="0" rIns="0" bIns="0" rtlCol="0" anchor="ctr"/>
          <a:lstStyle/>
          <a:p>
            <a:pPr marL="0" indent="0">
              <a:buNone/>
            </a:pPr>
            <a:r>
              <a:rPr lang="en-US" sz="1800" dirty="0">
                <a:solidFill>
                  <a:srgbClr val="0E0E0E"/>
                </a:solidFill>
                <a:latin typeface="Calibri" pitchFamily="34" charset="0"/>
                <a:ea typeface="Calibri" pitchFamily="34" charset="-122"/>
                <a:cs typeface="Calibri" pitchFamily="34" charset="-120"/>
              </a:rPr>
              <a:t>Does the result hold at num-agents = 50 and 500, not only 200?</a:t>
            </a:r>
            <a:endParaRPr lang="en-US" sz="1800" dirty="0"/>
          </a:p>
        </p:txBody>
      </p:sp>
      <p:sp>
        <p:nvSpPr>
          <p:cNvPr id="8" name="Shape 6"/>
          <p:cNvSpPr/>
          <p:nvPr/>
        </p:nvSpPr>
        <p:spPr>
          <a:xfrm>
            <a:off x="822960" y="4160520"/>
            <a:ext cx="256032" cy="256032"/>
          </a:xfrm>
          <a:prstGeom prst="rect">
            <a:avLst/>
          </a:prstGeom>
          <a:ln w="19050">
            <a:solidFill>
              <a:srgbClr val="B60000"/>
            </a:solidFill>
            <a:prstDash val="solid"/>
          </a:ln>
        </p:spPr>
        <p:txBody>
          <a:bodyPr/>
          <a:lstStyle/>
          <a:p>
            <a:endParaRPr lang="en-US"/>
          </a:p>
        </p:txBody>
      </p:sp>
      <p:sp>
        <p:nvSpPr>
          <p:cNvPr id="9" name="Text 7"/>
          <p:cNvSpPr txBox="1"/>
          <p:nvPr/>
        </p:nvSpPr>
        <p:spPr>
          <a:xfrm>
            <a:off x="1280160" y="4087368"/>
            <a:ext cx="9875520" cy="502920"/>
          </a:xfrm>
          <a:prstGeom prst="rect">
            <a:avLst/>
          </a:prstGeom>
          <a:noFill/>
          <a:ln/>
        </p:spPr>
        <p:txBody>
          <a:bodyPr wrap="square" lIns="0" tIns="0" rIns="0" bIns="0" rtlCol="0" anchor="ctr"/>
          <a:lstStyle/>
          <a:p>
            <a:pPr marL="0" indent="0">
              <a:buNone/>
            </a:pPr>
            <a:r>
              <a:rPr lang="en-US" sz="1800" dirty="0">
                <a:solidFill>
                  <a:srgbClr val="0E0E0E"/>
                </a:solidFill>
                <a:latin typeface="Calibri" pitchFamily="34" charset="0"/>
                <a:ea typeface="Calibri" pitchFamily="34" charset="-122"/>
                <a:cs typeface="Calibri" pitchFamily="34" charset="-120"/>
              </a:rPr>
              <a:t>Does it hold at mu = 0.1 and mu = 0.4, not only 0.25?</a:t>
            </a:r>
            <a:endParaRPr lang="en-US" sz="1800" dirty="0"/>
          </a:p>
        </p:txBody>
      </p:sp>
      <p:sp>
        <p:nvSpPr>
          <p:cNvPr id="10" name="Shape 8"/>
          <p:cNvSpPr/>
          <p:nvPr/>
        </p:nvSpPr>
        <p:spPr>
          <a:xfrm>
            <a:off x="822960" y="4818888"/>
            <a:ext cx="256032" cy="256032"/>
          </a:xfrm>
          <a:prstGeom prst="rect">
            <a:avLst/>
          </a:prstGeom>
          <a:ln w="19050">
            <a:solidFill>
              <a:srgbClr val="B60000"/>
            </a:solidFill>
            <a:prstDash val="solid"/>
          </a:ln>
        </p:spPr>
        <p:txBody>
          <a:bodyPr/>
          <a:lstStyle/>
          <a:p>
            <a:endParaRPr lang="en-US"/>
          </a:p>
        </p:txBody>
      </p:sp>
      <p:sp>
        <p:nvSpPr>
          <p:cNvPr id="11" name="Text 9"/>
          <p:cNvSpPr txBox="1"/>
          <p:nvPr/>
        </p:nvSpPr>
        <p:spPr>
          <a:xfrm>
            <a:off x="1280160" y="4745736"/>
            <a:ext cx="9875520" cy="502920"/>
          </a:xfrm>
          <a:prstGeom prst="rect">
            <a:avLst/>
          </a:prstGeom>
          <a:noFill/>
          <a:ln/>
        </p:spPr>
        <p:txBody>
          <a:bodyPr wrap="square" lIns="0" tIns="0" rIns="0" bIns="0" rtlCol="0" anchor="ctr"/>
          <a:lstStyle/>
          <a:p>
            <a:pPr marL="0" indent="0">
              <a:buNone/>
            </a:pPr>
            <a:r>
              <a:rPr lang="en-US" sz="1800" dirty="0">
                <a:solidFill>
                  <a:srgbClr val="0E0E0E"/>
                </a:solidFill>
                <a:latin typeface="Calibri" pitchFamily="34" charset="0"/>
                <a:ea typeface="Calibri" pitchFamily="34" charset="-122"/>
                <a:cs typeface="Calibri" pitchFamily="34" charset="-120"/>
              </a:rPr>
              <a:t>Does it hold across different random seeds at the same parameter values?</a:t>
            </a:r>
            <a:endParaRPr lang="en-US" sz="1800" dirty="0"/>
          </a:p>
        </p:txBody>
      </p:sp>
      <p:sp>
        <p:nvSpPr>
          <p:cNvPr id="12" name="Text 10"/>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36</a:t>
            </a:r>
            <a:endParaRPr lang="en-US" sz="1000" dirty="0"/>
          </a:p>
        </p:txBody>
      </p:sp>
      <p:pic>
        <p:nvPicPr>
          <p:cNvPr id="13"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STANDARDS &amp; LIMITS · 4 OF 5 · REPORTING STANDARD</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Grimm et al. (2020)</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Grimm, V., Railsback, S. F., Vincenot, C. E., Berger, U., Gallagher, C., DeAngelis, D. L., ... Ayllon, D. (2020). The ODD protocol for describing agent-based and other simulation models: A second update to improve clarity, replication, and structural realism. </a:t>
            </a:r>
            <a:r>
              <a:rPr lang="en-US" sz="1450" i="1" dirty="0">
                <a:solidFill>
                  <a:srgbClr val="333333"/>
                </a:solidFill>
                <a:latin typeface="Times New Roman" pitchFamily="34" charset="0"/>
                <a:ea typeface="Times New Roman" pitchFamily="34" charset="-122"/>
                <a:cs typeface="Times New Roman" pitchFamily="34" charset="-120"/>
              </a:rPr>
              <a:t>Journal of Artificial Societies and Social Simulation, 23</a:t>
            </a:r>
            <a:r>
              <a:rPr lang="en-US" sz="1450" dirty="0">
                <a:solidFill>
                  <a:srgbClr val="333333"/>
                </a:solidFill>
                <a:latin typeface="Times New Roman" pitchFamily="34" charset="0"/>
                <a:ea typeface="Times New Roman" pitchFamily="34" charset="-122"/>
                <a:cs typeface="Times New Roman" pitchFamily="34" charset="-120"/>
              </a:rPr>
              <a:t>(2), 7.</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Established a standardized reporting structure, Overview, Design concepts, Details, that lets an independent team read a model description and actually rebuild it, addressing a replication gap that unstructured methods sections routinely left open.</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37</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50292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STANDARDS &amp; LIMITS · 5 OF 5 · THE HONEST CRITIQUE</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marL="0" indent="0">
              <a:buNone/>
            </a:pPr>
            <a:r>
              <a:rPr lang="en-US" sz="3400" b="1" dirty="0">
                <a:solidFill>
                  <a:srgbClr val="0E0E0E"/>
                </a:solidFill>
                <a:latin typeface="Calibri" pitchFamily="34" charset="0"/>
                <a:ea typeface="Calibri" pitchFamily="34" charset="-122"/>
                <a:cs typeface="Calibri" pitchFamily="34" charset="-120"/>
              </a:rPr>
              <a:t>Smith &amp; Conrey (2007)</a:t>
            </a:r>
            <a:endParaRPr lang="en-US" sz="3400" dirty="0"/>
          </a:p>
        </p:txBody>
      </p:sp>
      <p:pic>
        <p:nvPicPr>
          <p:cNvPr id="5" name="Image 0" descr="assets/glyph_network.png"/>
          <p:cNvPicPr>
            <a:picLocks noChangeAspect="1"/>
          </p:cNvPicPr>
          <p:nvPr/>
        </p:nvPicPr>
        <p:blipFill>
          <a:blip r:embed="rId3"/>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marL="0" indent="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Smith, E. R., &amp; Conrey, F. R. (2007). Agent-based modeling: A new approach for theory building in social psychology. </a:t>
            </a:r>
            <a:r>
              <a:rPr lang="en-US" sz="1450" i="1" dirty="0">
                <a:solidFill>
                  <a:srgbClr val="333333"/>
                </a:solidFill>
                <a:latin typeface="Times New Roman" pitchFamily="34" charset="0"/>
                <a:ea typeface="Times New Roman" pitchFamily="34" charset="-122"/>
                <a:cs typeface="Times New Roman" pitchFamily="34" charset="-120"/>
              </a:rPr>
              <a:t>Personality and Social Psychology Review, 11</a:t>
            </a:r>
            <a:r>
              <a:rPr lang="en-US" sz="1450" dirty="0">
                <a:solidFill>
                  <a:srgbClr val="333333"/>
                </a:solidFill>
                <a:latin typeface="Times New Roman" pitchFamily="34" charset="0"/>
                <a:ea typeface="Times New Roman" pitchFamily="34" charset="-122"/>
                <a:cs typeface="Times New Roman" pitchFamily="34" charset="-120"/>
              </a:rPr>
              <a:t>(1), 87-104.</a:t>
            </a:r>
            <a:endParaRPr lang="en-US" sz="1450" dirty="0"/>
          </a:p>
        </p:txBody>
      </p:sp>
      <p:sp>
        <p:nvSpPr>
          <p:cNvPr id="7" name="Shape 4"/>
          <p:cNvSpPr/>
          <p:nvPr/>
        </p:nvSpPr>
        <p:spPr>
          <a:xfrm>
            <a:off x="640080" y="2788920"/>
            <a:ext cx="10881360" cy="3154680"/>
          </a:xfrm>
          <a:prstGeom prst="rect">
            <a:avLst/>
          </a:prstGeom>
          <a:solidFill>
            <a:srgbClr val="E1E1E1"/>
          </a:solidFill>
          <a:ln/>
        </p:spPr>
        <p:txBody>
          <a:bodyPr/>
          <a:lstStyle/>
          <a:p>
            <a:endParaRPr lang="en-US"/>
          </a:p>
        </p:txBody>
      </p:sp>
      <p:sp>
        <p:nvSpPr>
          <p:cNvPr id="8" name="Shape 5"/>
          <p:cNvSpPr/>
          <p:nvPr/>
        </p:nvSpPr>
        <p:spPr>
          <a:xfrm>
            <a:off x="640080" y="2788920"/>
            <a:ext cx="82296" cy="3154680"/>
          </a:xfrm>
          <a:prstGeom prst="rect">
            <a:avLst/>
          </a:prstGeom>
          <a:solidFill>
            <a:srgbClr val="B60000"/>
          </a:solidFill>
          <a:ln/>
        </p:spPr>
        <p:txBody>
          <a:bodyPr/>
          <a:lstStyle/>
          <a:p>
            <a:endParaRPr lang="en-US"/>
          </a:p>
        </p:txBody>
      </p:sp>
      <p:sp>
        <p:nvSpPr>
          <p:cNvPr id="9" name="Text 6"/>
          <p:cNvSpPr txBox="1"/>
          <p:nvPr/>
        </p:nvSpPr>
        <p:spPr>
          <a:xfrm>
            <a:off x="1005840" y="3063240"/>
            <a:ext cx="9144000" cy="320040"/>
          </a:xfrm>
          <a:prstGeom prst="rect">
            <a:avLst/>
          </a:prstGeom>
          <a:noFill/>
          <a:ln/>
        </p:spPr>
        <p:txBody>
          <a:bodyPr wrap="square" lIns="0" tIns="0" rIns="0" bIns="0" rtlCol="0" anchor="ctr"/>
          <a:lstStyle/>
          <a:p>
            <a:pPr marL="0" indent="0">
              <a:buNone/>
            </a:pPr>
            <a:r>
              <a:rPr lang="en-US" sz="1200" b="1" kern="0" spc="20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marL="0" indent="0">
              <a:lnSpc>
                <a:spcPct val="130000"/>
              </a:lnSpc>
              <a:buNone/>
            </a:pPr>
            <a:r>
              <a:rPr lang="en-US" sz="2100" dirty="0">
                <a:solidFill>
                  <a:srgbClr val="0E0E0E"/>
                </a:solidFill>
                <a:latin typeface="Calibri" pitchFamily="34" charset="0"/>
                <a:ea typeface="Calibri" pitchFamily="34" charset="-122"/>
                <a:cs typeface="Calibri" pitchFamily="34" charset="-120"/>
              </a:rPr>
              <a:t>Argued that ABM's core advantage over variable-based causal modeling is representing dynamic, interactive processes structurally, while acknowledging directly that the same representational flexibility is what invites the standard overfitting objection.</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38</a:t>
            </a:r>
            <a:endParaRPr lang="en-US" sz="1000" dirty="0"/>
          </a:p>
        </p:txBody>
      </p:sp>
      <p:pic>
        <p:nvPicPr>
          <p:cNvPr id="12" name="Image 1" descr="assets/ncite_logo.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6">
    <p:bg>
      <p:bgPr>
        <a:solidFill>
          <a:srgbClr val="0E0E0E"/>
        </a:solidFill>
        <a:effectLst/>
      </p:bgPr>
    </p:bg>
    <p:spTree>
      <p:nvGrpSpPr>
        <p:cNvPr id="1" name=""/>
        <p:cNvGrpSpPr/>
        <p:nvPr/>
      </p:nvGrpSpPr>
      <p:grpSpPr>
        <a:xfrm>
          <a:off x="0" y="0"/>
          <a:ext cx="0" cy="0"/>
          <a:chOff x="0" y="0"/>
          <a:chExt cx="0" cy="0"/>
        </a:xfrm>
      </p:grpSpPr>
      <p:pic>
        <p:nvPicPr>
          <p:cNvPr id="2" name="Image 0" descr="assets/art_cover.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txBody>
          <a:bodyPr/>
          <a:lstStyle/>
          <a:p>
            <a:endParaRPr lang="en-US"/>
          </a:p>
        </p:txBody>
      </p:sp>
      <p:sp>
        <p:nvSpPr>
          <p:cNvPr id="4" name="Text 1"/>
          <p:cNvSpPr txBox="1"/>
          <p:nvPr/>
        </p:nvSpPr>
        <p:spPr>
          <a:xfrm>
            <a:off x="822960" y="1188720"/>
            <a:ext cx="10515600" cy="457200"/>
          </a:xfrm>
          <a:prstGeom prst="rect">
            <a:avLst/>
          </a:prstGeom>
          <a:noFill/>
          <a:ln/>
        </p:spPr>
        <p:txBody>
          <a:bodyPr wrap="square" lIns="0" tIns="0" rIns="0" bIns="0" rtlCol="0" anchor="ctr"/>
          <a:lstStyle/>
          <a:p>
            <a:pPr marL="0" indent="0">
              <a:buNone/>
            </a:pPr>
            <a:r>
              <a:rPr lang="en-US" sz="1500" b="1" kern="0" spc="200" dirty="0">
                <a:solidFill>
                  <a:srgbClr val="E1E1E1"/>
                </a:solidFill>
                <a:latin typeface="Calibri" pitchFamily="34" charset="0"/>
                <a:ea typeface="Calibri" pitchFamily="34" charset="-122"/>
                <a:cs typeface="Calibri" pitchFamily="34" charset="-120"/>
              </a:rPr>
              <a:t>THANK YOU</a:t>
            </a:r>
            <a:endParaRPr lang="en-US" sz="1500" dirty="0"/>
          </a:p>
        </p:txBody>
      </p:sp>
      <p:sp>
        <p:nvSpPr>
          <p:cNvPr id="5" name="Text 2"/>
          <p:cNvSpPr txBox="1"/>
          <p:nvPr/>
        </p:nvSpPr>
        <p:spPr>
          <a:xfrm>
            <a:off x="822960" y="1645920"/>
            <a:ext cx="10515600" cy="822960"/>
          </a:xfrm>
          <a:prstGeom prst="rect">
            <a:avLst/>
          </a:prstGeom>
          <a:noFill/>
          <a:ln/>
        </p:spPr>
        <p:txBody>
          <a:bodyPr wrap="square" lIns="0" tIns="0" rIns="0" bIns="0" rtlCol="0" anchor="ctr"/>
          <a:lstStyle/>
          <a:p>
            <a:pPr marL="0" indent="0">
              <a:buNone/>
            </a:pPr>
            <a:r>
              <a:rPr lang="en-US" sz="3400" b="1" dirty="0">
                <a:solidFill>
                  <a:srgbClr val="F2F2F2"/>
                </a:solidFill>
                <a:latin typeface="Calibri" pitchFamily="34" charset="0"/>
                <a:ea typeface="Calibri" pitchFamily="34" charset="-122"/>
                <a:cs typeface="Calibri" pitchFamily="34" charset="-120"/>
              </a:rPr>
              <a:t>Code, slides, and figures</a:t>
            </a:r>
            <a:endParaRPr lang="en-US" sz="3400" dirty="0"/>
          </a:p>
        </p:txBody>
      </p:sp>
      <p:sp>
        <p:nvSpPr>
          <p:cNvPr id="6" name="Text 3"/>
          <p:cNvSpPr txBox="1"/>
          <p:nvPr/>
        </p:nvSpPr>
        <p:spPr>
          <a:xfrm>
            <a:off x="822960" y="2651760"/>
            <a:ext cx="10515600" cy="457200"/>
          </a:xfrm>
          <a:prstGeom prst="rect">
            <a:avLst/>
          </a:prstGeom>
          <a:noFill/>
          <a:ln/>
        </p:spPr>
        <p:txBody>
          <a:bodyPr wrap="square" lIns="0" tIns="0" rIns="0" bIns="0" rtlCol="0" anchor="ctr"/>
          <a:lstStyle/>
          <a:p>
            <a:pPr marL="0" indent="0">
              <a:buNone/>
            </a:pPr>
            <a:r>
              <a:rPr lang="en-US" sz="1800" dirty="0">
                <a:solidFill>
                  <a:srgbClr val="E1E1E1"/>
                </a:solidFill>
                <a:latin typeface="Courier New" pitchFamily="34" charset="0"/>
                <a:ea typeface="Courier New" pitchFamily="34" charset="-122"/>
                <a:cs typeface="Courier New" pitchFamily="34" charset="-120"/>
              </a:rPr>
              <a:t>github.com/JustMJ/ingroup-abm-seminar</a:t>
            </a:r>
            <a:endParaRPr lang="en-US" sz="1800" dirty="0"/>
          </a:p>
        </p:txBody>
      </p:sp>
      <p:sp>
        <p:nvSpPr>
          <p:cNvPr id="7" name="Text 4"/>
          <p:cNvSpPr txBox="1"/>
          <p:nvPr/>
        </p:nvSpPr>
        <p:spPr>
          <a:xfrm>
            <a:off x="822960" y="3154680"/>
            <a:ext cx="10515600" cy="548640"/>
          </a:xfrm>
          <a:prstGeom prst="rect">
            <a:avLst/>
          </a:prstGeom>
          <a:noFill/>
          <a:ln/>
        </p:spPr>
        <p:txBody>
          <a:bodyPr wrap="square" lIns="0" tIns="0" rIns="0" bIns="0" rtlCol="0" anchor="ctr"/>
          <a:lstStyle/>
          <a:p>
            <a:pPr marL="0" indent="0">
              <a:buNone/>
            </a:pPr>
            <a:r>
              <a:rPr lang="en-US" sz="1400" dirty="0">
                <a:solidFill>
                  <a:srgbClr val="E1E1E1"/>
                </a:solidFill>
                <a:latin typeface="Calibri" pitchFamily="34" charset="0"/>
                <a:ea typeface="Calibri" pitchFamily="34" charset="-122"/>
                <a:cs typeface="Calibri" pitchFamily="34" charset="-120"/>
              </a:rPr>
              <a:t>Includes the four staged .nlogo files, an R port, a Python port, and a README for each.</a:t>
            </a:r>
            <a:endParaRPr lang="en-US" sz="1400" dirty="0"/>
          </a:p>
        </p:txBody>
      </p:sp>
      <p:sp>
        <p:nvSpPr>
          <p:cNvPr id="8" name="Shape 5"/>
          <p:cNvSpPr/>
          <p:nvPr/>
        </p:nvSpPr>
        <p:spPr>
          <a:xfrm>
            <a:off x="822960" y="3977640"/>
            <a:ext cx="5120640" cy="0"/>
          </a:xfrm>
          <a:prstGeom prst="line">
            <a:avLst/>
          </a:prstGeom>
          <a:noFill/>
          <a:ln w="12700">
            <a:solidFill>
              <a:srgbClr val="333333"/>
            </a:solidFill>
            <a:prstDash val="solid"/>
          </a:ln>
        </p:spPr>
        <p:txBody>
          <a:bodyPr/>
          <a:lstStyle/>
          <a:p>
            <a:endParaRPr lang="en-US"/>
          </a:p>
        </p:txBody>
      </p:sp>
      <p:sp>
        <p:nvSpPr>
          <p:cNvPr id="9" name="Text 6"/>
          <p:cNvSpPr txBox="1"/>
          <p:nvPr/>
        </p:nvSpPr>
        <p:spPr>
          <a:xfrm>
            <a:off x="822960" y="4206240"/>
            <a:ext cx="10515600" cy="411480"/>
          </a:xfrm>
          <a:prstGeom prst="rect">
            <a:avLst/>
          </a:prstGeom>
          <a:noFill/>
          <a:ln/>
        </p:spPr>
        <p:txBody>
          <a:bodyPr wrap="square" lIns="0" tIns="0" rIns="0" bIns="0" rtlCol="0" anchor="ctr"/>
          <a:lstStyle/>
          <a:p>
            <a:pPr marL="0" indent="0">
              <a:buNone/>
            </a:pPr>
            <a:r>
              <a:rPr lang="en-US" sz="1800" b="1" dirty="0">
                <a:solidFill>
                  <a:srgbClr val="F2F2F2"/>
                </a:solidFill>
                <a:latin typeface="Calibri" pitchFamily="34" charset="0"/>
                <a:ea typeface="Calibri" pitchFamily="34" charset="-122"/>
                <a:cs typeface="Calibri" pitchFamily="34" charset="-120"/>
              </a:rPr>
              <a:t>Justin M. Jones, Ph.D.</a:t>
            </a:r>
            <a:endParaRPr lang="en-US" sz="1800" dirty="0"/>
          </a:p>
        </p:txBody>
      </p:sp>
      <p:sp>
        <p:nvSpPr>
          <p:cNvPr id="10" name="Text 7"/>
          <p:cNvSpPr txBox="1"/>
          <p:nvPr/>
        </p:nvSpPr>
        <p:spPr>
          <a:xfrm>
            <a:off x="822960" y="4617720"/>
            <a:ext cx="10515600" cy="822960"/>
          </a:xfrm>
          <a:prstGeom prst="rect">
            <a:avLst/>
          </a:prstGeom>
          <a:noFill/>
          <a:ln/>
        </p:spPr>
        <p:txBody>
          <a:bodyPr wrap="square" lIns="0" tIns="0" rIns="0" bIns="0" rtlCol="0" anchor="ctr"/>
          <a:lstStyle/>
          <a:p>
            <a:pPr marL="0" indent="0">
              <a:lnSpc>
                <a:spcPct val="130000"/>
              </a:lnSpc>
              <a:buNone/>
            </a:pPr>
            <a:r>
              <a:rPr lang="en-US" sz="1450" dirty="0">
                <a:solidFill>
                  <a:srgbClr val="E1E1E1"/>
                </a:solidFill>
                <a:latin typeface="Calibri" pitchFamily="34" charset="0"/>
                <a:ea typeface="Calibri" pitchFamily="34" charset="-122"/>
                <a:cs typeface="Calibri" pitchFamily="34" charset="-120"/>
              </a:rPr>
              <a:t>Research Specialist, NCITE, University of Nebraska at Omaha</a:t>
            </a:r>
            <a:endParaRPr lang="en-US" sz="1450" dirty="0"/>
          </a:p>
          <a:p>
            <a:pPr marL="0" indent="0">
              <a:lnSpc>
                <a:spcPct val="130000"/>
              </a:lnSpc>
              <a:buNone/>
            </a:pPr>
            <a:r>
              <a:rPr lang="en-US" sz="1450" dirty="0">
                <a:solidFill>
                  <a:srgbClr val="E1E1E1"/>
                </a:solidFill>
                <a:latin typeface="Calibri" pitchFamily="34" charset="0"/>
                <a:ea typeface="Calibri" pitchFamily="34" charset="-122"/>
                <a:cs typeface="Calibri" pitchFamily="34" charset="-120"/>
              </a:rPr>
              <a:t>jjones188@unomaha.edu  ·  justmj.github.io</a:t>
            </a:r>
            <a:endParaRPr lang="en-US" sz="145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E1E1E1"/>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E1E1E1"/>
                </a:solidFill>
                <a:latin typeface="Courier New" pitchFamily="34" charset="0"/>
                <a:ea typeface="Courier New" pitchFamily="34" charset="-122"/>
                <a:cs typeface="Courier New" pitchFamily="34" charset="-120"/>
              </a:rPr>
              <a:t>tick 39</a:t>
            </a:r>
            <a:endParaRPr lang="en-US" sz="1000" dirty="0"/>
          </a:p>
        </p:txBody>
      </p:sp>
      <p:pic>
        <p:nvPicPr>
          <p:cNvPr id="12" name="Image 1" descr="assets/ncite_logo_white.png"/>
          <p:cNvPicPr>
            <a:picLocks noChangeAspect="1"/>
          </p:cNvPicPr>
          <p:nvPr/>
        </p:nvPicPr>
        <p:blipFill>
          <a:blip r:embed="rId4"/>
          <a:stretch>
            <a:fillRect/>
          </a:stretch>
        </p:blipFill>
        <p:spPr>
          <a:xfrm>
            <a:off x="9789991" y="6400800"/>
            <a:ext cx="1990224" cy="310896"/>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7">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41148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REFERENCES (APA 7) · 1 OF 2</a:t>
            </a:r>
            <a:endParaRPr lang="en-US" sz="1300" dirty="0"/>
          </a:p>
        </p:txBody>
      </p:sp>
      <p:sp>
        <p:nvSpPr>
          <p:cNvPr id="4" name="Text 2"/>
          <p:cNvSpPr txBox="1"/>
          <p:nvPr/>
        </p:nvSpPr>
        <p:spPr>
          <a:xfrm>
            <a:off x="640080" y="868680"/>
            <a:ext cx="10881360" cy="5440680"/>
          </a:xfrm>
          <a:prstGeom prst="rect">
            <a:avLst/>
          </a:prstGeom>
          <a:noFill/>
          <a:ln/>
        </p:spPr>
        <p:txBody>
          <a:bodyPr wrap="square" lIns="0" tIns="0" rIns="0" bIns="0" rtlCol="0" anchor="t"/>
          <a:lstStyle/>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Cao, S., MacLaren, N. G., Cao, Y., Dong, Y., Sayama, H., Yammarino, F. J., Dionne, S. D., Mumford, M. D., Connelly, S., Martin, R., Standish, C. J., &amp; Newbo, T. R. (2020). An agent-based model of leader emergence and leadership perception within a collective. </a:t>
            </a:r>
            <a:r>
              <a:rPr lang="en-US" sz="1200" i="1" dirty="0">
                <a:solidFill>
                  <a:srgbClr val="0E0E0E"/>
                </a:solidFill>
                <a:latin typeface="Times New Roman" pitchFamily="34" charset="0"/>
                <a:ea typeface="Times New Roman" pitchFamily="34" charset="-122"/>
                <a:cs typeface="Times New Roman" pitchFamily="34" charset="-120"/>
              </a:rPr>
              <a:t>Complexity, 2020</a:t>
            </a:r>
            <a:r>
              <a:rPr lang="en-US" sz="1200" dirty="0">
                <a:solidFill>
                  <a:srgbClr val="0E0E0E"/>
                </a:solidFill>
                <a:latin typeface="Times New Roman" pitchFamily="34" charset="0"/>
                <a:ea typeface="Times New Roman" pitchFamily="34" charset="-122"/>
                <a:cs typeface="Times New Roman" pitchFamily="34" charset="-120"/>
              </a:rPr>
              <a:t>, Article 6857891.</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Carley, K. M. (1992). Organizational learning and personnel turnover. </a:t>
            </a:r>
            <a:r>
              <a:rPr lang="en-US" sz="1200" i="1" dirty="0">
                <a:solidFill>
                  <a:srgbClr val="0E0E0E"/>
                </a:solidFill>
                <a:latin typeface="Times New Roman" pitchFamily="34" charset="0"/>
                <a:ea typeface="Times New Roman" pitchFamily="34" charset="-122"/>
                <a:cs typeface="Times New Roman" pitchFamily="34" charset="-120"/>
              </a:rPr>
              <a:t>Organization Science, 3</a:t>
            </a:r>
            <a:r>
              <a:rPr lang="en-US" sz="1200" dirty="0">
                <a:solidFill>
                  <a:srgbClr val="0E0E0E"/>
                </a:solidFill>
                <a:latin typeface="Times New Roman" pitchFamily="34" charset="0"/>
                <a:ea typeface="Times New Roman" pitchFamily="34" charset="-122"/>
                <a:cs typeface="Times New Roman" pitchFamily="34" charset="-120"/>
              </a:rPr>
              <a:t>(1), 20-46.</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Deffuant, G., Neau, D., Amblard, F., &amp; Weisbuch, G. (2000). Mixing beliefs among interacting agents. </a:t>
            </a:r>
            <a:r>
              <a:rPr lang="en-US" sz="1200" i="1" dirty="0">
                <a:solidFill>
                  <a:srgbClr val="0E0E0E"/>
                </a:solidFill>
                <a:latin typeface="Times New Roman" pitchFamily="34" charset="0"/>
                <a:ea typeface="Times New Roman" pitchFamily="34" charset="-122"/>
                <a:cs typeface="Times New Roman" pitchFamily="34" charset="-120"/>
              </a:rPr>
              <a:t>Advances in Complex Systems, 3</a:t>
            </a:r>
            <a:r>
              <a:rPr lang="en-US" sz="1200" dirty="0">
                <a:solidFill>
                  <a:srgbClr val="0E0E0E"/>
                </a:solidFill>
                <a:latin typeface="Times New Roman" pitchFamily="34" charset="0"/>
                <a:ea typeface="Times New Roman" pitchFamily="34" charset="-122"/>
                <a:cs typeface="Times New Roman" pitchFamily="34" charset="-120"/>
              </a:rPr>
              <a:t>, 87-98.</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Dionne, S. D., Sayama, H., Hao, C., &amp; Bush, B. J. (2010). The role of leadership in shared mental model convergence and team performance improvement: An agent-based computational model. </a:t>
            </a:r>
            <a:r>
              <a:rPr lang="en-US" sz="1200" i="1" dirty="0">
                <a:solidFill>
                  <a:srgbClr val="0E0E0E"/>
                </a:solidFill>
                <a:latin typeface="Times New Roman" pitchFamily="34" charset="0"/>
                <a:ea typeface="Times New Roman" pitchFamily="34" charset="-122"/>
                <a:cs typeface="Times New Roman" pitchFamily="34" charset="-120"/>
              </a:rPr>
              <a:t>The Leadership Quarterly, 21</a:t>
            </a:r>
            <a:r>
              <a:rPr lang="en-US" sz="1200" dirty="0">
                <a:solidFill>
                  <a:srgbClr val="0E0E0E"/>
                </a:solidFill>
                <a:latin typeface="Times New Roman" pitchFamily="34" charset="0"/>
                <a:ea typeface="Times New Roman" pitchFamily="34" charset="-122"/>
                <a:cs typeface="Times New Roman" pitchFamily="34" charset="-120"/>
              </a:rPr>
              <a:t>(6), 1035-1049.</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Epstein, J. M. (1999). Agent-based computational models and generative social science. </a:t>
            </a:r>
            <a:r>
              <a:rPr lang="en-US" sz="1200" i="1" dirty="0">
                <a:solidFill>
                  <a:srgbClr val="0E0E0E"/>
                </a:solidFill>
                <a:latin typeface="Times New Roman" pitchFamily="34" charset="0"/>
                <a:ea typeface="Times New Roman" pitchFamily="34" charset="-122"/>
                <a:cs typeface="Times New Roman" pitchFamily="34" charset="-120"/>
              </a:rPr>
              <a:t>Complexity, 4</a:t>
            </a:r>
            <a:r>
              <a:rPr lang="en-US" sz="1200" dirty="0">
                <a:solidFill>
                  <a:srgbClr val="0E0E0E"/>
                </a:solidFill>
                <a:latin typeface="Times New Roman" pitchFamily="34" charset="0"/>
                <a:ea typeface="Times New Roman" pitchFamily="34" charset="-122"/>
                <a:cs typeface="Times New Roman" pitchFamily="34" charset="-120"/>
              </a:rPr>
              <a:t>(5), 41-60.</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Flache, A., &amp; Mäs, M. (2008). How to get the timing right: A computational model of the effects of the timing of contacts on team cohesion in demographically diverse teams. </a:t>
            </a:r>
            <a:r>
              <a:rPr lang="en-US" sz="1200" i="1" dirty="0">
                <a:solidFill>
                  <a:srgbClr val="0E0E0E"/>
                </a:solidFill>
                <a:latin typeface="Times New Roman" pitchFamily="34" charset="0"/>
                <a:ea typeface="Times New Roman" pitchFamily="34" charset="-122"/>
                <a:cs typeface="Times New Roman" pitchFamily="34" charset="-120"/>
              </a:rPr>
              <a:t>Computational and Mathematical Organization Theory, 14</a:t>
            </a:r>
            <a:r>
              <a:rPr lang="en-US" sz="1200" dirty="0">
                <a:solidFill>
                  <a:srgbClr val="0E0E0E"/>
                </a:solidFill>
                <a:latin typeface="Times New Roman" pitchFamily="34" charset="0"/>
                <a:ea typeface="Times New Roman" pitchFamily="34" charset="-122"/>
                <a:cs typeface="Times New Roman" pitchFamily="34" charset="-120"/>
              </a:rPr>
              <a:t>(1), 23-51.</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Flache, A., Mäs, M., Feliciani, T., Chattoe-Brown, E., Deffuant, G., Huet, S., &amp; Lorenz, J. (2017). Models of social influence: Towards the next frontiers. </a:t>
            </a:r>
            <a:r>
              <a:rPr lang="en-US" sz="1200" i="1" dirty="0">
                <a:solidFill>
                  <a:srgbClr val="0E0E0E"/>
                </a:solidFill>
                <a:latin typeface="Times New Roman" pitchFamily="34" charset="0"/>
                <a:ea typeface="Times New Roman" pitchFamily="34" charset="-122"/>
                <a:cs typeface="Times New Roman" pitchFamily="34" charset="-120"/>
              </a:rPr>
              <a:t>Journal of Artificial Societies and Social Simulation, 20</a:t>
            </a:r>
            <a:r>
              <a:rPr lang="en-US" sz="1200" dirty="0">
                <a:solidFill>
                  <a:srgbClr val="0E0E0E"/>
                </a:solidFill>
                <a:latin typeface="Times New Roman" pitchFamily="34" charset="0"/>
                <a:ea typeface="Times New Roman" pitchFamily="34" charset="-122"/>
                <a:cs typeface="Times New Roman" pitchFamily="34" charset="-120"/>
              </a:rPr>
              <a:t>(4), 2.</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Grand, J. A., Braun, M. T., Kuljanin, G., Kozlowski, S. W. J., &amp; Chao, G. T. (2016). The dynamics of team cognition: A process-oriented theory of knowledge emergence in teams. </a:t>
            </a:r>
            <a:r>
              <a:rPr lang="en-US" sz="1200" i="1" dirty="0">
                <a:solidFill>
                  <a:srgbClr val="0E0E0E"/>
                </a:solidFill>
                <a:latin typeface="Times New Roman" pitchFamily="34" charset="0"/>
                <a:ea typeface="Times New Roman" pitchFamily="34" charset="-122"/>
                <a:cs typeface="Times New Roman" pitchFamily="34" charset="-120"/>
              </a:rPr>
              <a:t>Journal of Applied Psychology, 101</a:t>
            </a:r>
            <a:r>
              <a:rPr lang="en-US" sz="1200" dirty="0">
                <a:solidFill>
                  <a:srgbClr val="0E0E0E"/>
                </a:solidFill>
                <a:latin typeface="Times New Roman" pitchFamily="34" charset="0"/>
                <a:ea typeface="Times New Roman" pitchFamily="34" charset="-122"/>
                <a:cs typeface="Times New Roman" pitchFamily="34" charset="-120"/>
              </a:rPr>
              <a:t>(10), 1353-1385.</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Grimm, V., Railsback, S. F., Vincenot, C. E., Berger, U., Gallagher, C., DeAngelis, D. L., ... Ayllon, D. (2020). The ODD protocol for describing agent-based and other simulation models: A second update to improve clarity, replication, and structural realism. </a:t>
            </a:r>
            <a:r>
              <a:rPr lang="en-US" sz="1200" i="1" dirty="0">
                <a:solidFill>
                  <a:srgbClr val="0E0E0E"/>
                </a:solidFill>
                <a:latin typeface="Times New Roman" pitchFamily="34" charset="0"/>
                <a:ea typeface="Times New Roman" pitchFamily="34" charset="-122"/>
                <a:cs typeface="Times New Roman" pitchFamily="34" charset="-120"/>
              </a:rPr>
              <a:t>Journal of Artificial Societies and Social Simulation, 23</a:t>
            </a:r>
            <a:r>
              <a:rPr lang="en-US" sz="1200" dirty="0">
                <a:solidFill>
                  <a:srgbClr val="0E0E0E"/>
                </a:solidFill>
                <a:latin typeface="Times New Roman" pitchFamily="34" charset="0"/>
                <a:ea typeface="Times New Roman" pitchFamily="34" charset="-122"/>
                <a:cs typeface="Times New Roman" pitchFamily="34" charset="-120"/>
              </a:rPr>
              <a:t>(2), 7.</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Kozlowski, S. W. J., Chao, G. T., Grand, J. A., Braun, M. T., &amp; Kuljanin, G. (2013). Advancing multilevel research design: Capturing the dynamics of emergence. </a:t>
            </a:r>
            <a:r>
              <a:rPr lang="en-US" sz="1200" i="1" dirty="0">
                <a:solidFill>
                  <a:srgbClr val="0E0E0E"/>
                </a:solidFill>
                <a:latin typeface="Times New Roman" pitchFamily="34" charset="0"/>
                <a:ea typeface="Times New Roman" pitchFamily="34" charset="-122"/>
                <a:cs typeface="Times New Roman" pitchFamily="34" charset="-120"/>
              </a:rPr>
              <a:t>Organizational Research Methods, 16</a:t>
            </a:r>
            <a:r>
              <a:rPr lang="en-US" sz="1200" dirty="0">
                <a:solidFill>
                  <a:srgbClr val="0E0E0E"/>
                </a:solidFill>
                <a:latin typeface="Times New Roman" pitchFamily="34" charset="0"/>
                <a:ea typeface="Times New Roman" pitchFamily="34" charset="-122"/>
                <a:cs typeface="Times New Roman" pitchFamily="34" charset="-120"/>
              </a:rPr>
              <a:t>(4), 581-615.</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Kozlowski, S. W. J., Chao, G. T., Grand, J. A., Braun, M. T., &amp; Kuljanin, G. (2016). Capturing the multilevel dynamics of emergence: Computational modeling, simulation, and virtual experimentation. </a:t>
            </a:r>
            <a:r>
              <a:rPr lang="en-US" sz="1200" i="1" dirty="0">
                <a:solidFill>
                  <a:srgbClr val="0E0E0E"/>
                </a:solidFill>
                <a:latin typeface="Times New Roman" pitchFamily="34" charset="0"/>
                <a:ea typeface="Times New Roman" pitchFamily="34" charset="-122"/>
                <a:cs typeface="Times New Roman" pitchFamily="34" charset="-120"/>
              </a:rPr>
              <a:t>Organizational Psychology Review, 6</a:t>
            </a:r>
            <a:r>
              <a:rPr lang="en-US" sz="1200" dirty="0">
                <a:solidFill>
                  <a:srgbClr val="0E0E0E"/>
                </a:solidFill>
                <a:latin typeface="Times New Roman" pitchFamily="34" charset="0"/>
                <a:ea typeface="Times New Roman" pitchFamily="34" charset="-122"/>
                <a:cs typeface="Times New Roman" pitchFamily="34" charset="-120"/>
              </a:rPr>
              <a:t>(1), 3-33.</a:t>
            </a:r>
            <a:endParaRPr lang="en-US" sz="1200" dirty="0"/>
          </a:p>
        </p:txBody>
      </p:sp>
      <p:sp>
        <p:nvSpPr>
          <p:cNvPr id="5" name="Text 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40</a:t>
            </a:r>
            <a:endParaRPr lang="en-US" sz="1000" dirty="0"/>
          </a:p>
        </p:txBody>
      </p:sp>
      <p:pic>
        <p:nvPicPr>
          <p:cNvPr id="6"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8">
    <p:bg>
      <p:bgPr>
        <a:solidFill>
          <a:srgbClr val="F2F2F2"/>
        </a:solidFill>
        <a:effectLst/>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txBody>
          <a:bodyPr/>
          <a:lstStyle/>
          <a:p>
            <a:endParaRPr lang="en-US"/>
          </a:p>
        </p:txBody>
      </p:sp>
      <p:sp>
        <p:nvSpPr>
          <p:cNvPr id="3" name="Text 1"/>
          <p:cNvSpPr txBox="1"/>
          <p:nvPr/>
        </p:nvSpPr>
        <p:spPr>
          <a:xfrm>
            <a:off x="640080" y="411480"/>
            <a:ext cx="10881360" cy="365760"/>
          </a:xfrm>
          <a:prstGeom prst="rect">
            <a:avLst/>
          </a:prstGeom>
          <a:noFill/>
          <a:ln/>
        </p:spPr>
        <p:txBody>
          <a:bodyPr wrap="square" lIns="0" tIns="0" rIns="0" bIns="0" rtlCol="0" anchor="ctr"/>
          <a:lstStyle/>
          <a:p>
            <a:pPr marL="0" indent="0">
              <a:buNone/>
            </a:pPr>
            <a:r>
              <a:rPr lang="en-US" sz="1300" b="1" kern="0" spc="200" dirty="0">
                <a:solidFill>
                  <a:srgbClr val="B60000"/>
                </a:solidFill>
                <a:latin typeface="Calibri" pitchFamily="34" charset="0"/>
                <a:ea typeface="Calibri" pitchFamily="34" charset="-122"/>
                <a:cs typeface="Calibri" pitchFamily="34" charset="-120"/>
              </a:rPr>
              <a:t>REFERENCES (APA 7) · 2 OF 2</a:t>
            </a:r>
            <a:endParaRPr lang="en-US" sz="1300" dirty="0"/>
          </a:p>
        </p:txBody>
      </p:sp>
      <p:sp>
        <p:nvSpPr>
          <p:cNvPr id="4" name="Text 2"/>
          <p:cNvSpPr txBox="1"/>
          <p:nvPr/>
        </p:nvSpPr>
        <p:spPr>
          <a:xfrm>
            <a:off x="640080" y="868680"/>
            <a:ext cx="10881360" cy="5440680"/>
          </a:xfrm>
          <a:prstGeom prst="rect">
            <a:avLst/>
          </a:prstGeom>
          <a:noFill/>
          <a:ln/>
        </p:spPr>
        <p:txBody>
          <a:bodyPr wrap="square" lIns="0" tIns="0" rIns="0" bIns="0" rtlCol="0" anchor="t"/>
          <a:lstStyle/>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Lazer, D., &amp; Friedman, A. (2007). The network structure of exploration and exploitation. </a:t>
            </a:r>
            <a:r>
              <a:rPr lang="en-US" sz="1200" i="1" dirty="0">
                <a:solidFill>
                  <a:srgbClr val="0E0E0E"/>
                </a:solidFill>
                <a:latin typeface="Times New Roman" pitchFamily="34" charset="0"/>
                <a:ea typeface="Times New Roman" pitchFamily="34" charset="-122"/>
                <a:cs typeface="Times New Roman" pitchFamily="34" charset="-120"/>
              </a:rPr>
              <a:t>Administrative Science Quarterly, 52</a:t>
            </a:r>
            <a:r>
              <a:rPr lang="en-US" sz="1200" dirty="0">
                <a:solidFill>
                  <a:srgbClr val="0E0E0E"/>
                </a:solidFill>
                <a:latin typeface="Times New Roman" pitchFamily="34" charset="0"/>
                <a:ea typeface="Times New Roman" pitchFamily="34" charset="-122"/>
                <a:cs typeface="Times New Roman" pitchFamily="34" charset="-120"/>
              </a:rPr>
              <a:t>(4), 667-694.</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Levinthal, D. A. (1997). Adaptation on rugged landscapes. </a:t>
            </a:r>
            <a:r>
              <a:rPr lang="en-US" sz="1200" i="1" dirty="0">
                <a:solidFill>
                  <a:srgbClr val="0E0E0E"/>
                </a:solidFill>
                <a:latin typeface="Times New Roman" pitchFamily="34" charset="0"/>
                <a:ea typeface="Times New Roman" pitchFamily="34" charset="-122"/>
                <a:cs typeface="Times New Roman" pitchFamily="34" charset="-120"/>
              </a:rPr>
              <a:t>Management Science, 43</a:t>
            </a:r>
            <a:r>
              <a:rPr lang="en-US" sz="1200" dirty="0">
                <a:solidFill>
                  <a:srgbClr val="0E0E0E"/>
                </a:solidFill>
                <a:latin typeface="Times New Roman" pitchFamily="34" charset="0"/>
                <a:ea typeface="Times New Roman" pitchFamily="34" charset="-122"/>
                <a:cs typeface="Times New Roman" pitchFamily="34" charset="-120"/>
              </a:rPr>
              <a:t>(7), 934-950.</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March, J. G. (1991). Exploration and exploitation in organizational learning. </a:t>
            </a:r>
            <a:r>
              <a:rPr lang="en-US" sz="1200" i="1" dirty="0">
                <a:solidFill>
                  <a:srgbClr val="0E0E0E"/>
                </a:solidFill>
                <a:latin typeface="Times New Roman" pitchFamily="34" charset="0"/>
                <a:ea typeface="Times New Roman" pitchFamily="34" charset="-122"/>
                <a:cs typeface="Times New Roman" pitchFamily="34" charset="-120"/>
              </a:rPr>
              <a:t>Organization Science, 2</a:t>
            </a:r>
            <a:r>
              <a:rPr lang="en-US" sz="1200" dirty="0">
                <a:solidFill>
                  <a:srgbClr val="0E0E0E"/>
                </a:solidFill>
                <a:latin typeface="Times New Roman" pitchFamily="34" charset="0"/>
                <a:ea typeface="Times New Roman" pitchFamily="34" charset="-122"/>
                <a:cs typeface="Times New Roman" pitchFamily="34" charset="-120"/>
              </a:rPr>
              <a:t>(1), 71-87.</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Mäs, M., Flache, A., Takács, K., &amp; Jehn, K. A. (2013). In the short term we divide, in the long term we unite: Demographic crisscrossing and the effects of faultlines on subgroup polarization. </a:t>
            </a:r>
            <a:r>
              <a:rPr lang="en-US" sz="1200" i="1" dirty="0">
                <a:solidFill>
                  <a:srgbClr val="0E0E0E"/>
                </a:solidFill>
                <a:latin typeface="Times New Roman" pitchFamily="34" charset="0"/>
                <a:ea typeface="Times New Roman" pitchFamily="34" charset="-122"/>
                <a:cs typeface="Times New Roman" pitchFamily="34" charset="-120"/>
              </a:rPr>
              <a:t>Organization Science, 24</a:t>
            </a:r>
            <a:r>
              <a:rPr lang="en-US" sz="1200" dirty="0">
                <a:solidFill>
                  <a:srgbClr val="0E0E0E"/>
                </a:solidFill>
                <a:latin typeface="Times New Roman" pitchFamily="34" charset="0"/>
                <a:ea typeface="Times New Roman" pitchFamily="34" charset="-122"/>
                <a:cs typeface="Times New Roman" pitchFamily="34" charset="-120"/>
              </a:rPr>
              <a:t>(3), 716-736.</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Rivkin, J. W., &amp; Siggelkow, N. (2003). Balancing search and stability: Interdependencies among elements of organizational design. </a:t>
            </a:r>
            <a:r>
              <a:rPr lang="en-US" sz="1200" i="1" dirty="0">
                <a:solidFill>
                  <a:srgbClr val="0E0E0E"/>
                </a:solidFill>
                <a:latin typeface="Times New Roman" pitchFamily="34" charset="0"/>
                <a:ea typeface="Times New Roman" pitchFamily="34" charset="-122"/>
                <a:cs typeface="Times New Roman" pitchFamily="34" charset="-120"/>
              </a:rPr>
              <a:t>Management Science, 49</a:t>
            </a:r>
            <a:r>
              <a:rPr lang="en-US" sz="1200" dirty="0">
                <a:solidFill>
                  <a:srgbClr val="0E0E0E"/>
                </a:solidFill>
                <a:latin typeface="Times New Roman" pitchFamily="34" charset="0"/>
                <a:ea typeface="Times New Roman" pitchFamily="34" charset="-122"/>
                <a:cs typeface="Times New Roman" pitchFamily="34" charset="-120"/>
              </a:rPr>
              <a:t>(3), 290-311.</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Smaldino, P. E. (2017). Models are stupid, and we need more of them. In R. R. Vallacher, S. J. Read, &amp; A. Nowak (Eds.), </a:t>
            </a:r>
            <a:r>
              <a:rPr lang="en-US" sz="1200" i="1" dirty="0">
                <a:solidFill>
                  <a:srgbClr val="0E0E0E"/>
                </a:solidFill>
                <a:latin typeface="Times New Roman" pitchFamily="34" charset="0"/>
                <a:ea typeface="Times New Roman" pitchFamily="34" charset="-122"/>
                <a:cs typeface="Times New Roman" pitchFamily="34" charset="-120"/>
              </a:rPr>
              <a:t>Computational social psychology</a:t>
            </a:r>
            <a:r>
              <a:rPr lang="en-US" sz="1200" dirty="0">
                <a:solidFill>
                  <a:srgbClr val="0E0E0E"/>
                </a:solidFill>
                <a:latin typeface="Times New Roman" pitchFamily="34" charset="0"/>
                <a:ea typeface="Times New Roman" pitchFamily="34" charset="-122"/>
                <a:cs typeface="Times New Roman" pitchFamily="34" charset="-120"/>
              </a:rPr>
              <a:t> (pp. 311-331). Psychology Press.</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Smaldino, P. E. (n.d.). </a:t>
            </a:r>
            <a:r>
              <a:rPr lang="en-US" sz="1200" i="1" dirty="0">
                <a:solidFill>
                  <a:srgbClr val="0E0E0E"/>
                </a:solidFill>
                <a:latin typeface="Times New Roman" pitchFamily="34" charset="0"/>
                <a:ea typeface="Times New Roman" pitchFamily="34" charset="-122"/>
                <a:cs typeface="Times New Roman" pitchFamily="34" charset="-120"/>
              </a:rPr>
              <a:t>Models of social dynamics: An introductory module</a:t>
            </a:r>
            <a:r>
              <a:rPr lang="en-US" sz="1200" dirty="0">
                <a:solidFill>
                  <a:srgbClr val="0E0E0E"/>
                </a:solidFill>
                <a:latin typeface="Times New Roman" pitchFamily="34" charset="0"/>
                <a:ea typeface="Times New Roman" pitchFamily="34" charset="-122"/>
                <a:cs typeface="Times New Roman" pitchFamily="34" charset="-120"/>
              </a:rPr>
              <a:t> [Online tutorial]. Cultural Evolution Society. https://learn.culturalevolutionsociety.org/social_dynamics_module/</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Smith, E. R., &amp; Conrey, F. R. (2007). Agent-based modeling: A new approach for theory building in social psychology. </a:t>
            </a:r>
            <a:r>
              <a:rPr lang="en-US" sz="1200" i="1" dirty="0">
                <a:solidFill>
                  <a:srgbClr val="0E0E0E"/>
                </a:solidFill>
                <a:latin typeface="Times New Roman" pitchFamily="34" charset="0"/>
                <a:ea typeface="Times New Roman" pitchFamily="34" charset="-122"/>
                <a:cs typeface="Times New Roman" pitchFamily="34" charset="-120"/>
              </a:rPr>
              <a:t>Personality and Social Psychology Review, 11</a:t>
            </a:r>
            <a:r>
              <a:rPr lang="en-US" sz="1200" dirty="0">
                <a:solidFill>
                  <a:srgbClr val="0E0E0E"/>
                </a:solidFill>
                <a:latin typeface="Times New Roman" pitchFamily="34" charset="0"/>
                <a:ea typeface="Times New Roman" pitchFamily="34" charset="-122"/>
                <a:cs typeface="Times New Roman" pitchFamily="34" charset="-120"/>
              </a:rPr>
              <a:t>(1), 87-104.</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Tarakci, M., Greer, L. L., &amp; Groenen, P. J. F. (2016). When does power disparity help or hurt group performance? </a:t>
            </a:r>
            <a:r>
              <a:rPr lang="en-US" sz="1200" i="1" dirty="0">
                <a:solidFill>
                  <a:srgbClr val="0E0E0E"/>
                </a:solidFill>
                <a:latin typeface="Times New Roman" pitchFamily="34" charset="0"/>
                <a:ea typeface="Times New Roman" pitchFamily="34" charset="-122"/>
                <a:cs typeface="Times New Roman" pitchFamily="34" charset="-120"/>
              </a:rPr>
              <a:t>Journal of Applied Psychology, 101</a:t>
            </a:r>
            <a:r>
              <a:rPr lang="en-US" sz="1200" dirty="0">
                <a:solidFill>
                  <a:srgbClr val="0E0E0E"/>
                </a:solidFill>
                <a:latin typeface="Times New Roman" pitchFamily="34" charset="0"/>
                <a:ea typeface="Times New Roman" pitchFamily="34" charset="-122"/>
                <a:cs typeface="Times New Roman" pitchFamily="34" charset="-120"/>
              </a:rPr>
              <a:t>(3), 415-429.</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Vancouver, J. B., &amp; Weinhardt, J. M. (2012). Modeling the mind and the milieu: Computational modeling for micro-level organizational researchers. </a:t>
            </a:r>
            <a:r>
              <a:rPr lang="en-US" sz="1200" i="1" dirty="0">
                <a:solidFill>
                  <a:srgbClr val="0E0E0E"/>
                </a:solidFill>
                <a:latin typeface="Times New Roman" pitchFamily="34" charset="0"/>
                <a:ea typeface="Times New Roman" pitchFamily="34" charset="-122"/>
                <a:cs typeface="Times New Roman" pitchFamily="34" charset="-120"/>
              </a:rPr>
              <a:t>Organizational Research Methods, 15</a:t>
            </a:r>
            <a:r>
              <a:rPr lang="en-US" sz="1200" dirty="0">
                <a:solidFill>
                  <a:srgbClr val="0E0E0E"/>
                </a:solidFill>
                <a:latin typeface="Times New Roman" pitchFamily="34" charset="0"/>
                <a:ea typeface="Times New Roman" pitchFamily="34" charset="-122"/>
                <a:cs typeface="Times New Roman" pitchFamily="34" charset="-120"/>
              </a:rPr>
              <a:t>(4), 602-623.</a:t>
            </a:r>
            <a:endParaRPr lang="en-US" sz="1200" dirty="0"/>
          </a:p>
          <a:p>
            <a:pPr marL="0" indent="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Vancouver, J. B., Weinhardt, J. M., &amp; Schmidt, A. M. (2010). A formal, computational theory of multiple-goal pursuit: Integrating goal-choice and goal-striving processes. </a:t>
            </a:r>
            <a:r>
              <a:rPr lang="en-US" sz="1200" i="1" dirty="0">
                <a:solidFill>
                  <a:srgbClr val="0E0E0E"/>
                </a:solidFill>
                <a:latin typeface="Times New Roman" pitchFamily="34" charset="0"/>
                <a:ea typeface="Times New Roman" pitchFamily="34" charset="-122"/>
                <a:cs typeface="Times New Roman" pitchFamily="34" charset="-120"/>
              </a:rPr>
              <a:t>Journal of Applied Psychology, 95</a:t>
            </a:r>
            <a:r>
              <a:rPr lang="en-US" sz="1200" dirty="0">
                <a:solidFill>
                  <a:srgbClr val="0E0E0E"/>
                </a:solidFill>
                <a:latin typeface="Times New Roman" pitchFamily="34" charset="0"/>
                <a:ea typeface="Times New Roman" pitchFamily="34" charset="-122"/>
                <a:cs typeface="Times New Roman" pitchFamily="34" charset="-120"/>
              </a:rPr>
              <a:t>(6), 985-1008.</a:t>
            </a:r>
            <a:endParaRPr lang="en-US" sz="1200" dirty="0"/>
          </a:p>
        </p:txBody>
      </p:sp>
      <p:sp>
        <p:nvSpPr>
          <p:cNvPr id="5" name="Text 3"/>
          <p:cNvSpPr txBox="1"/>
          <p:nvPr/>
        </p:nvSpPr>
        <p:spPr>
          <a:xfrm>
            <a:off x="457200" y="6473952"/>
            <a:ext cx="5486400" cy="274320"/>
          </a:xfrm>
          <a:prstGeom prst="rect">
            <a:avLst/>
          </a:prstGeom>
          <a:noFill/>
          <a:ln/>
        </p:spPr>
        <p:txBody>
          <a:bodyPr wrap="square" lIns="0" tIns="0" rIns="0" bIns="0" rtlCol="0" anchor="ctr"/>
          <a:lstStyle/>
          <a:p>
            <a:pPr marL="0" indent="0">
              <a:buNone/>
            </a:pPr>
            <a:r>
              <a:rPr lang="en-US" sz="1000" dirty="0">
                <a:solidFill>
                  <a:srgbClr val="333333"/>
                </a:solidFill>
                <a:latin typeface="Calibri" pitchFamily="34" charset="0"/>
                <a:ea typeface="Calibri" pitchFamily="34" charset="-122"/>
                <a:cs typeface="Calibri" pitchFamily="34" charset="-120"/>
              </a:rPr>
              <a:t>INGroup Method Seminar    </a:t>
            </a:r>
            <a:r>
              <a:rPr lang="en-US" sz="1000" dirty="0">
                <a:solidFill>
                  <a:srgbClr val="B60000"/>
                </a:solidFill>
                <a:latin typeface="Calibri" pitchFamily="34" charset="0"/>
                <a:ea typeface="Calibri" pitchFamily="34" charset="-122"/>
                <a:cs typeface="Calibri" pitchFamily="34" charset="-120"/>
              </a:rPr>
              <a:t>● </a:t>
            </a:r>
            <a:r>
              <a:rPr lang="en-US" sz="1000" dirty="0">
                <a:solidFill>
                  <a:srgbClr val="333333"/>
                </a:solidFill>
                <a:latin typeface="Courier New" pitchFamily="34" charset="0"/>
                <a:ea typeface="Courier New" pitchFamily="34" charset="-122"/>
                <a:cs typeface="Courier New" pitchFamily="34" charset="-120"/>
              </a:rPr>
              <a:t>tick 41</a:t>
            </a:r>
            <a:endParaRPr lang="en-US" sz="1000" dirty="0"/>
          </a:p>
        </p:txBody>
      </p:sp>
      <p:pic>
        <p:nvPicPr>
          <p:cNvPr id="6" name="Image 0" descr="assets/ncite_logo.png"/>
          <p:cNvPicPr>
            <a:picLocks noChangeAspect="1"/>
          </p:cNvPicPr>
          <p:nvPr/>
        </p:nvPicPr>
        <p:blipFill>
          <a:blip r:embed="rId3"/>
          <a:stretch>
            <a:fillRect/>
          </a:stretch>
        </p:blipFill>
        <p:spPr>
          <a:xfrm>
            <a:off x="9789991" y="6400800"/>
            <a:ext cx="1990224" cy="31089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5766</Words>
  <Application>Microsoft Macintosh PowerPoint</Application>
  <PresentationFormat>Widescreen</PresentationFormat>
  <Paragraphs>430</Paragraphs>
  <Slides>41</Slides>
  <Notes>41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Justin Jones</cp:lastModifiedBy>
  <cp:revision>1</cp:revision>
  <dcterms:created xsi:type="dcterms:W3CDTF">2026-10-13T02:25:10Z</dcterms:created>
  <dcterms:modified xsi:type="dcterms:W3CDTF">2026-10-29T21:14:01Z</dcterms:modified>
</cp:coreProperties>
</file>